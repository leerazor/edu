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P01 / S01 / 최종 00:20–00:57</a:t>
            </a:r>
          </a:p>
          <a:p>
            <a:r>
              <a:t>원본 버전: editorial-v0.4 / 2026-10-11</a:t>
            </a:r>
          </a:p>
          <a:p>
            <a:r>
              <a:t>자료 큐는 발화 기준. 타임코드는 최종 편집 목표이며 실측 발화 시점이 아니다.</a:t>
            </a:r>
          </a:p>
          <a:p>
            <a:r>
              <a:t>자료 등장: AI를 잘 지원하고 활용하려면</a:t>
            </a:r>
          </a:p>
          <a:p>
            <a:r>
              <a:t>팀 역할은 팀장 화면에서 설명한다. 교육담당의 연결 문장에서 P01 전체 표시. 교류·시도·성장은 AI 지원과 활용을 위한 배움의 방식이라는 관계를 강조한다.</a:t>
            </a:r>
          </a:p>
          <a:p>
            <a:r>
              <a:t>촬영: 2인 미디엄샷으로 시작한 뒤 팀장 단독 미디엄샷. 이름·직함 자막. 교육담당의 핵심 설명에서 P01로 전환.</a:t>
            </a:r>
          </a:p>
          <a:p>
            <a:r>
              <a:t>원본: 편집 가능한 키워드·도식</a:t>
            </a:r>
          </a:p>
          <a:p>
            <a:r>
              <a:t>스크립트:</a:t>
            </a:r>
          </a:p>
          <a:p>
            <a:r>
              <a:t>류경동 팀장: Data Center팀은 DS부문의 모든 인프라를 책임지고 있습니다. AI를 위한 인프라를 제공하고, AI로 운영도 효율화합니다.</a:t>
            </a:r>
          </a:p>
          <a:p>
            <a:r>
              <a:t>이관우 교육담당: [P01 등장] AI를 잘 지원하고 활용하려면, 새로운 기술과 함께 동료의 일도 배워야 합니다. 외부의 지식과 부서별 경험을 교류하며 함께 성장하는 것. 저희가 AI 4 AI에 담은 교육문화입니다.</a:t>
            </a:r>
          </a:p>
          <a:p>
            <a:r>
              <a:t>팀의 역할을 소개한 뒤 그 일을 위해 왜 기술과 동료에게 함께 배워야 하는지 연결한다. AI 4 AI를 설명한 다음 별개 교육문화 소개로 전환하지 않는다. 도식의 마지막은 함께 키워갈 역량의 방향이며 측정된 성과를 뜻하지 않는다.</a:t>
            </a:r>
          </a:p>
          <a:p>
            <a:r>
              <a:t>2026-10-11까지 사용자 제공 사실. 이관우의 k8s GPU 과제 참여 경험은 본인 진술을 촬영용으로 다듬은 문장이다. 팀장의 교류 관점은 사용자 확인을 바탕으로 구성했다. 과거 발언의 녹취 인용·전체 구성원의 경험·GPU 효율 개선 실적을 뜻하지 않는다. 추가 사용자 지시: 도입에 DS부문 모든 인프라를 책임지고 AI로 운영도 효율화하는 팀 역할과 교류·성장의 교육문화 핵심을 먼저 제시한다. 인원 규모는 도입에서 강조하지 않는다. v04는 AI 4 AI의 기술·업무 방향과 교류·성장의 학습 방식을 연결한다. 공식 확장명과 실제 세미나 명칭을 유지하며 다른 프로그램을 AI 4 AI 소속 행사나 AI 전문 교육으로 재분류하지 않는다. 팀 전체의 정량적 역량 향상이나 특정 세미나와 프로젝트의 직접 인과를 주장하지 않는다.</a:t>
            </a:r>
          </a:p>
          <a:p>
            <a:r>
              <a:t>PPTX에는 실제 애니메이션이 없다. 효과와 자료 전환은 영상팀 편집 지시다.</a:t>
            </a:r>
          </a:p>
          <a:p>
            <a:r>
              <a:t>실제 자료는 사용자가 별도로 삽입한다. 범용 외부 사진으로 실제 행사를 대체하지 않는다.</a:t>
            </a:r>
          </a:p>
          <a:p>
            <a:r>
              <a:t>출처: 사용자 브리프·추가 확인. 사실과 원본 ID 기준: docs/03-facts-and-assets.md.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P02 / S02 / 최종 00:57–01:31</a:t>
            </a:r>
          </a:p>
          <a:p>
            <a:r>
              <a:t>원본 버전: editorial-v0.4 / 2026-10-11</a:t>
            </a:r>
          </a:p>
          <a:p>
            <a:r>
              <a:t>자료 큐는 발화 기준. 타임코드는 최종 편집 목표이며 실측 발화 시점이 아니다.</a:t>
            </a:r>
          </a:p>
          <a:p>
            <a:r>
              <a:t>자료 등장: AI 4 AI 세미나입니다</a:t>
            </a:r>
          </a:p>
          <a:p>
            <a:r>
              <a:t>P02의 실제 자료와 핵심 문장을 함께 표시한다. 점선 자리·자료명 안내는 원본 삽입 뒤 제거한다. 등장 후 정지 화면으로 유지.</a:t>
            </a:r>
          </a:p>
          <a:p>
            <a:r>
              <a:t>촬영: 발화자 미디엄샷. 자료 큐에서 장표 전체 또는 인물·자료 분할 화면. 상대는 같은 자료를 보고 다음 말을 받는다.</a:t>
            </a:r>
          </a:p>
          <a:p>
            <a:r>
              <a:t>원본: IMG02, IMG03</a:t>
            </a:r>
          </a:p>
          <a:p>
            <a:r>
              <a:t>스크립트:</a:t>
            </a:r>
          </a:p>
          <a:p>
            <a:r>
              <a:t>이관우 교육담당: 그 방향을 함께 배우는 자리가 [P02 등장] AI 4 AI 세미나입니다. AI를 위한 첨단 인프라라는 뜻으로, 매달 외부 전문가를 초청합니다.</a:t>
            </a:r>
          </a:p>
          <a:p>
            <a:r>
              <a:t>류경동 팀장: 국가슈퍼컴퓨터의 기술 흐름과 운영에 AI를 쓰는 AIOps처럼, AI를 위한 인프라와 AI를 활용하는 운영을 함께 다룹니다. 센터원에게도 열려 있습니다.</a:t>
            </a:r>
          </a:p>
          <a:p>
            <a:r>
              <a:t>화면 전환은 배정 시간에 포함한다. 설명 중 문장 전체를 자막으로 다시 쓰지 않는다. 장표를 충분히 읽은 뒤 다음 장면의 큐에서 전환.</a:t>
            </a:r>
          </a:p>
          <a:p>
            <a:r>
              <a:t>2026-10-11까지 사용자 제공 사실. 이관우의 k8s GPU 과제 참여 경험은 본인 진술을 촬영용으로 다듬은 문장이다. 팀장의 교류 관점은 사용자 확인을 바탕으로 구성했다. 과거 발언의 녹취 인용·전체 구성원의 경험·GPU 효율 개선 실적을 뜻하지 않는다. 추가 사용자 지시: 도입에 DS부문 모든 인프라를 책임지고 AI로 운영도 효율화하는 팀 역할과 교류·성장의 교육문화 핵심을 먼저 제시한다. 인원 규모는 도입에서 강조하지 않는다. v04는 AI 4 AI의 기술·업무 방향과 교류·성장의 학습 방식을 연결한다. 공식 확장명과 실제 세미나 명칭을 유지하며 다른 프로그램을 AI 4 AI 소속 행사나 AI 전문 교육으로 재분류하지 않는다. 팀 전체의 정량적 역량 향상이나 특정 세미나와 프로젝트의 직접 인과를 주장하지 않는다.</a:t>
            </a:r>
          </a:p>
          <a:p>
            <a:r>
              <a:t>PPTX에는 실제 애니메이션이 없다. 효과와 자료 전환은 영상팀 편집 지시다.</a:t>
            </a:r>
          </a:p>
          <a:p>
            <a:r>
              <a:t>실제 자료는 사용자가 별도로 삽입한다. 범용 외부 사진으로 실제 행사를 대체하지 않는다.</a:t>
            </a:r>
          </a:p>
          <a:p>
            <a:r>
              <a:t>출처: 사용자 브리프·추가 확인. 사실과 원본 ID 기준: docs/03-facts-and-assets.md.</a:t>
            </a:r>
          </a:p>
          <a:p>
            <a:r>
              <a:t>자료 삽입 슬롯:</a:t>
            </a:r>
          </a:p>
          <a:p>
            <a:r>
              <a:t>- **IMG03 — AI 4 AI</a:t>
            </a:r>
          </a:p>
          <a:p>
            <a:r>
              <a:t>대표 세미나 포스터**: Cisco AIOps 또는 KISTI 슈퍼컴퓨터 세미나의 실제 포스터. 행사 사진 IMG02로 교체 가능. 10월 자료는 개최 확인 뒤 사용.</a:t>
            </a:r>
          </a:p>
          <a:p>
            <a:r>
              <a:t>이 PPTX는 사용자가 실제 사진·화면 원본을 나중에 붙이는 제작본이다. 점선 영역의 ‘자료 삽입’ 안내와 IMG ID는 교체할 편집 가능한 도형이다. 빈 삽입 영역을 최종 영상으로 그대로 사용하라는 뜻이 아니다. 최종 편집 전 해당 실제 자료를 삽입하고 안내 글자와 점선을 제거한다. 원본을 쓰지 않으면 영상팀이 같은 메시지의 키워드 화면으로 다시 구성한다.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P03 / S03 / 최종 01:31–01:58</a:t>
            </a:r>
          </a:p>
          <a:p>
            <a:r>
              <a:t>원본 버전: editorial-v0.4 / 2026-10-11</a:t>
            </a:r>
          </a:p>
          <a:p>
            <a:r>
              <a:t>자료 큐는 발화 기준. 타임코드는 최종 편집 목표이며 실측 발화 시점이 아니다.</a:t>
            </a:r>
          </a:p>
          <a:p>
            <a:r>
              <a:t>자료 등장: 11개 부서가</a:t>
            </a:r>
          </a:p>
          <a:p>
            <a:r>
              <a:t>P03의 실제 자료와 핵심 문장을 함께 표시한다. 점선 자리·자료명 안내는 원본 삽입 뒤 제거한다. 등장 후 정지 화면으로 유지.</a:t>
            </a:r>
          </a:p>
          <a:p>
            <a:r>
              <a:t>촬영: 발화자 미디엄샷. 자료 큐에서 장표 전체 또는 인물·자료 분할 화면. 상대는 같은 자료를 보고 다음 말을 받는다.</a:t>
            </a:r>
          </a:p>
          <a:p>
            <a:r>
              <a:t>원본: IMG04, IMG05</a:t>
            </a:r>
          </a:p>
          <a:p>
            <a:r>
              <a:t>스크립트:</a:t>
            </a:r>
          </a:p>
          <a:p>
            <a:r>
              <a:t>이관우 교육담당: 인프라를 함께 책임지는 동료의 일도 알아야 합니다. 8월 Job Fair에는 [P03 등장] 11개 부서가 부스를 열고 A0 판넬로 업무를 소개했습니다.</a:t>
            </a:r>
          </a:p>
          <a:p>
            <a:r>
              <a:t>류경동 팀장: 저는 이런 교류가 서로를 이해하고, 원팀으로 일하는 데 도움이 된다고 봅니다.</a:t>
            </a:r>
          </a:p>
          <a:p>
            <a:r>
              <a:t>AI 인프라와 운영을 맡은 팀이 함께 일하는 동료의 업무를 이해하는 접점으로 설명한다. Job Fair의 실제 목적은 부서 간 업무 이해와 교류다. AI 전용 교육이나 외부 세미나의 후속 행사로 재분류하지 않는다.</a:t>
            </a:r>
          </a:p>
          <a:p>
            <a:r>
              <a:t>2026-10-11까지 사용자 제공 사실. 이관우의 k8s GPU 과제 참여 경험은 본인 진술을 촬영용으로 다듬은 문장이다. 팀장의 교류 관점은 사용자 확인을 바탕으로 구성했다. 과거 발언의 녹취 인용·전체 구성원의 경험·GPU 효율 개선 실적을 뜻하지 않는다. 추가 사용자 지시: 도입에 DS부문 모든 인프라를 책임지고 AI로 운영도 효율화하는 팀 역할과 교류·성장의 교육문화 핵심을 먼저 제시한다. 인원 규모는 도입에서 강조하지 않는다. v04는 AI 4 AI의 기술·업무 방향과 교류·성장의 학습 방식을 연결한다. 공식 확장명과 실제 세미나 명칭을 유지하며 다른 프로그램을 AI 4 AI 소속 행사나 AI 전문 교육으로 재분류하지 않는다. 팀 전체의 정량적 역량 향상이나 특정 세미나와 프로젝트의 직접 인과를 주장하지 않는다.</a:t>
            </a:r>
          </a:p>
          <a:p>
            <a:r>
              <a:t>PPTX에는 실제 애니메이션이 없다. 효과와 자료 전환은 영상팀 편집 지시다.</a:t>
            </a:r>
          </a:p>
          <a:p>
            <a:r>
              <a:t>실제 자료는 사용자가 별도로 삽입한다. 범용 외부 사진으로 실제 행사를 대체하지 않는다.</a:t>
            </a:r>
          </a:p>
          <a:p>
            <a:r>
              <a:t>출처: 사용자 브리프·추가 확인. 사실과 원본 ID 기준: docs/03-facts-and-assets.md.</a:t>
            </a:r>
          </a:p>
          <a:p>
            <a:r>
              <a:t>자료 삽입 슬롯:</a:t>
            </a:r>
          </a:p>
          <a:p>
            <a:r>
              <a:t>- **IMG04 — Job Fair</a:t>
            </a:r>
          </a:p>
          <a:p>
            <a:r>
              <a:t>부스 전경**: 11개 부서가 서로 설명을 듣는 실제 행사 사진 1장. 일반 전시 사진은 사용하지 않음.</a:t>
            </a:r>
          </a:p>
          <a:p>
            <a:r>
              <a:t>- **IMG05 — 업무 소개</a:t>
            </a:r>
          </a:p>
          <a:p>
            <a:r>
              <a:t>A0 판넬**: 실제 판넬 1종. 부서명·업무 제목이 읽히도록 필요한 부분을 확대.</a:t>
            </a:r>
          </a:p>
          <a:p>
            <a:r>
              <a:t>이 PPTX는 사용자가 실제 사진·화면 원본을 나중에 붙이는 제작본이다. 점선 영역의 ‘자료 삽입’ 안내와 IMG ID는 교체할 편집 가능한 도형이다. 빈 삽입 영역을 최종 영상으로 그대로 사용하라는 뜻이 아니다. 최종 편집 전 해당 실제 자료를 삽입하고 안내 글자와 점선을 제거한다. 원본을 쓰지 않으면 영상팀이 같은 메시지의 키워드 화면으로 다시 구성한다.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P04 / S04 / 최종 01:58–02:11</a:t>
            </a:r>
          </a:p>
          <a:p>
            <a:r>
              <a:t>원본 버전: editorial-v0.4 / 2026-10-11</a:t>
            </a:r>
          </a:p>
          <a:p>
            <a:r>
              <a:t>자료 큐는 발화 기준. 타임코드는 최종 편집 목표이며 실측 발화 시점이 아니다.</a:t>
            </a:r>
          </a:p>
          <a:p>
            <a:r>
              <a:t>자료 등장: 매달 DCIS에서는</a:t>
            </a:r>
          </a:p>
          <a:p>
            <a:r>
              <a:t>P04의 실제 자료와 핵심 문장을 함께 표시한다. 점선 자리·자료명 안내는 원본 삽입 뒤 제거한다. 등장 후 정지 화면으로 유지.</a:t>
            </a:r>
          </a:p>
          <a:p>
            <a:r>
              <a:t>촬영: 발화자 미디엄샷. 자료 큐에서 장표 전체 또는 인물·자료 분할 화면. 상대는 같은 자료를 보고 다음 말을 받는다.</a:t>
            </a:r>
          </a:p>
          <a:p>
            <a:r>
              <a:t>원본: IMG06</a:t>
            </a:r>
          </a:p>
          <a:p>
            <a:r>
              <a:t>스크립트:</a:t>
            </a:r>
          </a:p>
          <a:p>
            <a:r>
              <a:t>류경동 팀장: [P04 등장] 매달 DCIS에서는 주요 과제와 서비스, 연구 중인 기술을 나누며 이런 교류를 이어갑니다.</a:t>
            </a:r>
          </a:p>
          <a:p>
            <a:r>
              <a:t>Job Fair와 DCIS는 서로의 업무를 배우는 접점이다. AI 전용 교육으로 바꾸지 않고 실제 공유 내용을 짧게 보여 준다.</a:t>
            </a:r>
          </a:p>
          <a:p>
            <a:r>
              <a:t>2026-10-11까지 사용자 제공 사실. 이관우의 k8s GPU 과제 참여 경험은 본인 진술을 촬영용으로 다듬은 문장이다. 팀장의 교류 관점은 사용자 확인을 바탕으로 구성했다. 과거 발언의 녹취 인용·전체 구성원의 경험·GPU 효율 개선 실적을 뜻하지 않는다. 추가 사용자 지시: 도입에 DS부문 모든 인프라를 책임지고 AI로 운영도 효율화하는 팀 역할과 교류·성장의 교육문화 핵심을 먼저 제시한다. 인원 규모는 도입에서 강조하지 않는다. v04는 AI 4 AI의 기술·업무 방향과 교류·성장의 학습 방식을 연결한다. 공식 확장명과 실제 세미나 명칭을 유지하며 다른 프로그램을 AI 4 AI 소속 행사나 AI 전문 교육으로 재분류하지 않는다. 팀 전체의 정량적 역량 향상이나 특정 세미나와 프로젝트의 직접 인과를 주장하지 않는다.</a:t>
            </a:r>
          </a:p>
          <a:p>
            <a:r>
              <a:t>PPTX에는 실제 애니메이션이 없다. 효과와 자료 전환은 영상팀 편집 지시다.</a:t>
            </a:r>
          </a:p>
          <a:p>
            <a:r>
              <a:t>실제 자료는 사용자가 별도로 삽입한다. 범용 외부 사진으로 실제 행사를 대체하지 않는다.</a:t>
            </a:r>
          </a:p>
          <a:p>
            <a:r>
              <a:t>출처: 사용자 브리프·추가 확인. 사실과 원본 ID 기준: docs/03-facts-and-assets.md.</a:t>
            </a:r>
          </a:p>
          <a:p>
            <a:r>
              <a:t>자료 삽입 슬롯:</a:t>
            </a:r>
          </a:p>
          <a:p>
            <a:r>
              <a:t>- **IMG06 — DCIS 대표 세션</a:t>
            </a:r>
          </a:p>
          <a:p>
            <a:r>
              <a:t>표지 또는 공지**: 주요 과제·서비스·연구 중 하나가 드러나는 실제 발표 표지나 공지 1장.</a:t>
            </a:r>
          </a:p>
          <a:p>
            <a:r>
              <a:t>이 PPTX는 사용자가 실제 사진·화면 원본을 나중에 붙이는 제작본이다. 점선 영역의 ‘자료 삽입’ 안내와 IMG ID는 교체할 편집 가능한 도형이다. 빈 삽입 영역을 최종 영상으로 그대로 사용하라는 뜻이 아니다. 최종 편집 전 해당 실제 자료를 삽입하고 안내 글자와 점선을 제거한다. 원본을 쓰지 않으면 영상팀이 같은 메시지의 키워드 화면으로 다시 구성한다.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P05 / S05 / 최종 02:11–02:42</a:t>
            </a:r>
          </a:p>
          <a:p>
            <a:r>
              <a:t>원본 버전: editorial-v0.4 / 2026-10-11</a:t>
            </a:r>
          </a:p>
          <a:p>
            <a:r>
              <a:t>자료 큐는 발화 기준. 타임코드는 최종 편집 목표이며 실측 발화 시점이 아니다.</a:t>
            </a:r>
          </a:p>
          <a:p>
            <a:r>
              <a:t>자료 등장: Tech X는 3월에</a:t>
            </a:r>
          </a:p>
          <a:p>
            <a:r>
              <a:t>P05의 실제 자료와 핵심 문장을 함께 표시한다. 점선 자리·자료명 안내는 원본 삽입 뒤 제거한다. 등장 후 정지 화면으로 유지.</a:t>
            </a:r>
          </a:p>
          <a:p>
            <a:r>
              <a:t>촬영: 발화자 미디엄샷. 자료 큐에서 장표 전체 또는 인물·자료 분할 화면. 상대는 같은 자료를 보고 다음 말을 받는다.</a:t>
            </a:r>
          </a:p>
          <a:p>
            <a:r>
              <a:t>원본: IMG07</a:t>
            </a:r>
          </a:p>
          <a:p>
            <a:r>
              <a:t>스크립트:</a:t>
            </a:r>
          </a:p>
          <a:p>
            <a:r>
              <a:t>이관우 교육담당: 동료의 관점을 배우는 또 다른 방법은 함께 해보는 것입니다. [P05 등장] Tech X는 3월에 참가자를 모집했습니다. 파트별 과제에 지원자를 선발해 4월에 시작했고, 참여 규모는 6개 과제, 44명입니다.</a:t>
            </a:r>
          </a:p>
          <a:p>
            <a:r>
              <a:t>류경동 팀장: 동료의 관점에서 보면, 평소 생각하지 못한 방법으로 문제를 풀 수도 있겠죠.</a:t>
            </a:r>
          </a:p>
          <a:p>
            <a:r>
              <a:t>Tech X의 참여 구조를 설명한다. 모든 과제가 AI 과제라는 표현이나 Job Fair 때문에 Tech X가 생겼다는 연혁을 넣지 않는다.</a:t>
            </a:r>
          </a:p>
          <a:p>
            <a:r>
              <a:t>2026-10-11까지 사용자 제공 사실. 이관우의 k8s GPU 과제 참여 경험은 본인 진술을 촬영용으로 다듬은 문장이다. 팀장의 교류 관점은 사용자 확인을 바탕으로 구성했다. 과거 발언의 녹취 인용·전체 구성원의 경험·GPU 효율 개선 실적을 뜻하지 않는다. 추가 사용자 지시: 도입에 DS부문 모든 인프라를 책임지고 AI로 운영도 효율화하는 팀 역할과 교류·성장의 교육문화 핵심을 먼저 제시한다. 인원 규모는 도입에서 강조하지 않는다. v04는 AI 4 AI의 기술·업무 방향과 교류·성장의 학습 방식을 연결한다. 공식 확장명과 실제 세미나 명칭을 유지하며 다른 프로그램을 AI 4 AI 소속 행사나 AI 전문 교육으로 재분류하지 않는다. 팀 전체의 정량적 역량 향상이나 특정 세미나와 프로젝트의 직접 인과를 주장하지 않는다.</a:t>
            </a:r>
          </a:p>
          <a:p>
            <a:r>
              <a:t>PPTX에는 실제 애니메이션이 없다. 효과와 자료 전환은 영상팀 편집 지시다.</a:t>
            </a:r>
          </a:p>
          <a:p>
            <a:r>
              <a:t>실제 자료는 사용자가 별도로 삽입한다. 범용 외부 사진으로 실제 행사를 대체하지 않는다.</a:t>
            </a:r>
          </a:p>
          <a:p>
            <a:r>
              <a:t>출처: 사용자 브리프·추가 확인. 사실과 원본 ID 기준: docs/03-facts-and-assets.md.</a:t>
            </a:r>
          </a:p>
          <a:p>
            <a:r>
              <a:t>자료 삽입 슬롯:</a:t>
            </a:r>
          </a:p>
          <a:p>
            <a:r>
              <a:t>- **IMG07 — Tech X</a:t>
            </a:r>
          </a:p>
          <a:p>
            <a:r>
              <a:t>3월 모집 공고**: 파트별 과제 주제와 지원 안내를 확인할 수 있는 실제 모집 공고. 참여 집계는 촬영 시점에 확인.</a:t>
            </a:r>
          </a:p>
          <a:p>
            <a:r>
              <a:t>이 PPTX는 사용자가 실제 사진·화면 원본을 나중에 붙이는 제작본이다. 점선 영역의 ‘자료 삽입’ 안내와 IMG ID는 교체할 편집 가능한 도형이다. 빈 삽입 영역을 최종 영상으로 그대로 사용하라는 뜻이 아니다. 최종 편집 전 해당 실제 자료를 삽입하고 안내 글자와 점선을 제거한다. 원본을 쓰지 않으면 영상팀이 같은 메시지의 키워드 화면으로 다시 구성한다.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P06 / S06 / 최종 02:42–03:17</a:t>
            </a:r>
          </a:p>
          <a:p>
            <a:r>
              <a:t>원본 버전: editorial-v0.4 / 2026-10-11</a:t>
            </a:r>
          </a:p>
          <a:p>
            <a:r>
              <a:t>자료 큐는 발화 기준. 타임코드는 최종 편집 목표이며 실측 발화 시점이 아니다.</a:t>
            </a:r>
          </a:p>
          <a:p>
            <a:r>
              <a:t>자료 등장: 저는 k8s에서 GPU 자원을</a:t>
            </a:r>
          </a:p>
          <a:p>
            <a:r>
              <a:t>P06의 실제 자료와 핵심 문장을 함께 표시한다. 점선 자리·자료명 안내는 원본 삽입 뒤 제거한다. 등장 후 정지 화면으로 유지.</a:t>
            </a:r>
          </a:p>
          <a:p>
            <a:r>
              <a:t>촬영: 발화자 미디엄샷. 자료 큐에서 장표 전체 또는 인물·자료 분할 화면. 상대는 같은 자료를 보고 다음 말을 받는다.</a:t>
            </a:r>
          </a:p>
          <a:p>
            <a:r>
              <a:t>원본: IMG15</a:t>
            </a:r>
          </a:p>
          <a:p>
            <a:r>
              <a:t>스크립트:</a:t>
            </a:r>
          </a:p>
          <a:p>
            <a:r>
              <a:t>류경동 팀장: 이관우 님도 직접 참여하셨죠.</a:t>
            </a:r>
          </a:p>
          <a:p>
            <a:r>
              <a:t>이관우 교육담당: 네. [P06 등장] 저는 k8s에서 GPU 자원을 효율적으로 쓰는 프로젝트에 참여했습니다. 관심이 있어서 지원했는데, 함께 이야기하면서 다른 부서가 문제에 접근하는 관점을 알게 됐습니다. 동료와 교류하는 과정 자체가 제게는 배움이었습니다.</a:t>
            </a:r>
          </a:p>
          <a:p>
            <a:r>
              <a:t>류경동 팀장: 다른 과제 중에는 실제 운영에 적용된 사례도 있습니다.</a:t>
            </a:r>
          </a:p>
          <a:p>
            <a:r>
              <a:t>기술 주제에 관심을 갖고 참여해 다른 부서의 관점을 배운 실제 경험이 AI 4 AI와 교류를 연결하는 핵심 장면이다. GPU 효율 개선이나 AI 성능 향상을 주장하지 않는다. 마지막에 다른 과제라고 명시한 뒤 S07의 IAP로 전환한다.</a:t>
            </a:r>
          </a:p>
          <a:p>
            <a:r>
              <a:t>2026-10-11까지 사용자 제공 사실. 이관우의 k8s GPU 과제 참여 경험은 본인 진술을 촬영용으로 다듬은 문장이다. 팀장의 교류 관점은 사용자 확인을 바탕으로 구성했다. 과거 발언의 녹취 인용·전체 구성원의 경험·GPU 효율 개선 실적을 뜻하지 않는다. 추가 사용자 지시: 도입에 DS부문 모든 인프라를 책임지고 AI로 운영도 효율화하는 팀 역할과 교류·성장의 교육문화 핵심을 먼저 제시한다. 인원 규모는 도입에서 강조하지 않는다. v04는 AI 4 AI의 기술·업무 방향과 교류·성장의 학습 방식을 연결한다. 공식 확장명과 실제 세미나 명칭을 유지하며 다른 프로그램을 AI 4 AI 소속 행사나 AI 전문 교육으로 재분류하지 않는다. 팀 전체의 정량적 역량 향상이나 특정 세미나와 프로젝트의 직접 인과를 주장하지 않는다.</a:t>
            </a:r>
          </a:p>
          <a:p>
            <a:r>
              <a:t>PPTX에는 실제 애니메이션이 없다. 효과와 자료 전환은 영상팀 편집 지시다.</a:t>
            </a:r>
          </a:p>
          <a:p>
            <a:r>
              <a:t>실제 자료는 사용자가 별도로 삽입한다. 범용 외부 사진으로 실제 행사를 대체하지 않는다.</a:t>
            </a:r>
          </a:p>
          <a:p>
            <a:r>
              <a:t>출처: 사용자 브리프·추가 확인. 사실과 원본 ID 기준: docs/03-facts-and-assets.md.</a:t>
            </a:r>
          </a:p>
          <a:p>
            <a:r>
              <a:t>자료 삽입 슬롯:</a:t>
            </a:r>
          </a:p>
          <a:p>
            <a:r>
              <a:t>- **IMG15 — k8s GPU 과제</a:t>
            </a:r>
          </a:p>
          <a:p>
            <a:r>
              <a:t>표지 또는 논의 자료**: 이관우가 참여한 실제 과제의 제목·논의 내용이 드러나는 자료 1장. 성과 그래프나 가상 회의 사진을 만들지 않음.</a:t>
            </a:r>
          </a:p>
          <a:p>
            <a:r>
              <a:t>이 PPTX는 사용자가 실제 사진·화면 원본을 나중에 붙이는 제작본이다. 점선 영역의 ‘자료 삽입’ 안내와 IMG ID는 교체할 편집 가능한 도형이다. 빈 삽입 영역을 최종 영상으로 그대로 사용하라는 뜻이 아니다. 최종 편집 전 해당 실제 자료를 삽입하고 안내 글자와 점선을 제거한다. 원본을 쓰지 않으면 영상팀이 같은 메시지의 키워드 화면으로 다시 구성한다.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P07 / S07 / 최종 03:17–03:52</a:t>
            </a:r>
          </a:p>
          <a:p>
            <a:r>
              <a:t>원본 버전: editorial-v0.4 / 2026-10-11</a:t>
            </a:r>
          </a:p>
          <a:p>
            <a:r>
              <a:t>자료 큐는 발화 기준. 타임코드는 최종 편집 목표이며 실측 발화 시점이 아니다.</a:t>
            </a:r>
          </a:p>
          <a:p>
            <a:r>
              <a:t>자료 등장: AI를 운영에 활용한 사례가 IAP입니다</a:t>
            </a:r>
          </a:p>
          <a:p>
            <a:r>
              <a:t>P07의 실제 자료와 핵심 문장을 함께 표시한다. 점선 자리·자료명 안내는 원본 삽입 뒤 제거한다. 등장 후 정지 화면으로 유지.</a:t>
            </a:r>
          </a:p>
          <a:p>
            <a:r>
              <a:t>촬영: 발화자 미디엄샷. 자료 큐에서 장표 전체 또는 인물·자료 분할 화면. 상대는 같은 자료를 보고 다음 말을 받는다.</a:t>
            </a:r>
          </a:p>
          <a:p>
            <a:r>
              <a:t>원본: IMG08, IMG09, IMG10</a:t>
            </a:r>
          </a:p>
          <a:p>
            <a:r>
              <a:t>스크립트:</a:t>
            </a:r>
          </a:p>
          <a:p>
            <a:r>
              <a:t>류경동 팀장: [P07 등장] AI를 운영에 활용한 사례가 IAP입니다. 서버 로그의 특정 패턴을 감지해, 정해진 형식으로 메신저에 동보합니다. 이 알림 수작업을 대신합니다. 사용할 담당자가 직접 익히는 시간도 필요하겠죠.</a:t>
            </a:r>
          </a:p>
          <a:p>
            <a:r>
              <a:t>이관우 교육담당: [P07 소개·실습 자료 강조] 6월에는 팀 소개 세미나를, 7월에는 에이전트를 등록할 실무 담당자 25명을 대상으로 실습을 진행했습니다.</a:t>
            </a:r>
          </a:p>
          <a:p>
            <a:r>
              <a:t>추가 큐: 6월에는 팀 소개 세미나를 / P07 소개·실습 자료 강조 / 로그 알림 기능 설명 뒤 6월 소개·7월 실습 내용과 IMG10 영역으로 시선을 옮긴다. 소개 사진 IMG09는 필요할 때 같은 장면 안에서 교체한다.</a:t>
            </a:r>
          </a:p>
          <a:p>
            <a:r>
              <a:t>AI를 활용하는 운영을 보여주는 대표 사례다. GPU 과제와 구분하고 기능·소개·실습을 35초 안에서 마친다. 특정 외부 세미나가 IAP 개발의 원인이라는 설명은 하지 않는다.</a:t>
            </a:r>
          </a:p>
          <a:p>
            <a:r>
              <a:t>2026-10-11까지 사용자 제공 사실. 이관우의 k8s GPU 과제 참여 경험은 본인 진술을 촬영용으로 다듬은 문장이다. 팀장의 교류 관점은 사용자 확인을 바탕으로 구성했다. 과거 발언의 녹취 인용·전체 구성원의 경험·GPU 효율 개선 실적을 뜻하지 않는다. 추가 사용자 지시: 도입에 DS부문 모든 인프라를 책임지고 AI로 운영도 효율화하는 팀 역할과 교류·성장의 교육문화 핵심을 먼저 제시한다. 인원 규모는 도입에서 강조하지 않는다. v04는 AI 4 AI의 기술·업무 방향과 교류·성장의 학습 방식을 연결한다. 공식 확장명과 실제 세미나 명칭을 유지하며 다른 프로그램을 AI 4 AI 소속 행사나 AI 전문 교육으로 재분류하지 않는다. 팀 전체의 정량적 역량 향상이나 특정 세미나와 프로젝트의 직접 인과를 주장하지 않는다.</a:t>
            </a:r>
          </a:p>
          <a:p>
            <a:r>
              <a:t>PPTX에는 실제 애니메이션이 없다. 효과와 자료 전환은 영상팀 편집 지시다.</a:t>
            </a:r>
          </a:p>
          <a:p>
            <a:r>
              <a:t>실제 자료는 사용자가 별도로 삽입한다. 범용 외부 사진으로 실제 행사를 대체하지 않는다.</a:t>
            </a:r>
          </a:p>
          <a:p>
            <a:r>
              <a:t>출처: 사용자 브리프·추가 확인. 사실과 원본 ID 기준: docs/03-facts-and-assets.md.</a:t>
            </a:r>
          </a:p>
          <a:p>
            <a:r>
              <a:t>자료 삽입 슬롯:</a:t>
            </a:r>
          </a:p>
          <a:p>
            <a:r>
              <a:t>- **IMG08 — 로그 알림</a:t>
            </a:r>
          </a:p>
          <a:p>
            <a:r>
              <a:t>실제 기능 화면**: 민감정보를 가린 실제 로그 패턴 감지·메신저 동보 화면. 가상 로그를 실적으로 제시하지 않음.</a:t>
            </a:r>
          </a:p>
          <a:p>
            <a:r>
              <a:t>- **IMG10 — 실무 담당자</a:t>
            </a:r>
          </a:p>
          <a:p>
            <a:r>
              <a:t>실습 사진·교안**: 7월 실무 담당자 대상 실습의 실제 사진이나 교안. 6월 소개 자료 IMG09는 같은 장면 내 교체 가능.</a:t>
            </a:r>
          </a:p>
          <a:p>
            <a:r>
              <a:t>이 PPTX는 사용자가 실제 사진·화면 원본을 나중에 붙이는 제작본이다. 점선 영역의 ‘자료 삽입’ 안내와 IMG ID는 교체할 편집 가능한 도형이다. 빈 삽입 영역을 최종 영상으로 그대로 사용하라는 뜻이 아니다. 최종 편집 전 해당 실제 자료를 삽입하고 안내 글자와 점선을 제거한다. 원본을 쓰지 않으면 영상팀이 같은 메시지의 키워드 화면으로 다시 구성한다.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P08 / S08 / 최종 03:52–04:12</a:t>
            </a:r>
          </a:p>
          <a:p>
            <a:r>
              <a:t>원본 버전: editorial-v0.4 / 2026-10-11</a:t>
            </a:r>
          </a:p>
          <a:p>
            <a:r>
              <a:t>자료 큐는 발화 기준. 타임코드는 최종 편집 목표이며 실측 발화 시점이 아니다.</a:t>
            </a:r>
          </a:p>
          <a:p>
            <a:r>
              <a:t>자료 등장: 녹화해 교육 플랫폼에</a:t>
            </a:r>
          </a:p>
          <a:p>
            <a:r>
              <a:t>P08의 실제 자료와 핵심 문장을 함께 표시한다. 점선 자리·자료명 안내는 원본 삽입 뒤 제거한다. 등장 후 정지 화면으로 유지.</a:t>
            </a:r>
          </a:p>
          <a:p>
            <a:r>
              <a:t>촬영: 발화자 미디엄샷. 자료 큐에서 장표 전체 또는 인물·자료 분할 화면. 상대는 같은 자료를 보고 다음 말을 받는다.</a:t>
            </a:r>
          </a:p>
          <a:p>
            <a:r>
              <a:t>원본: IMG13</a:t>
            </a:r>
          </a:p>
          <a:p>
            <a:r>
              <a:t>스크립트:</a:t>
            </a:r>
          </a:p>
          <a:p>
            <a:r>
              <a:t>류경동 팀장: 새로운 기술과 활용법을 배울 기회는 더 많은 동료에게 열어둡니다. AI 4 AI 세미나는 [P08 등장] 녹화해 교육 플랫폼에 올립니다. [P08 교육 플랫폼 공유 강조] 참석하지 못한 센터원도 다시 볼 수 있게 합니다.</a:t>
            </a:r>
          </a:p>
          <a:p>
            <a:r>
              <a:t>추가 큐: 참석하지 못한 센터원도 / P08 교육 플랫폼 공유 강조 / 교육 플랫폼의 센터원 공유 문구에 얇은 밑줄을 표시한다. 실제 플랫폼을 확보하면 동일 큐에서 IMG13을 보여준다.</a:t>
            </a:r>
          </a:p>
          <a:p>
            <a:r>
              <a:t>앞 장면의 활용 실습과 이 장면의 세미나 녹화는 배움을 나누는 서로 다른 방법이다. 모든 프로젝트 경험을 녹화했다거나 센터원이 실제 업무 개선을 달성했다는 뜻으로 확대하지 않는다.</a:t>
            </a:r>
          </a:p>
          <a:p>
            <a:r>
              <a:t>2026-10-11까지 사용자 제공 사실. 이관우의 k8s GPU 과제 참여 경험은 본인 진술을 촬영용으로 다듬은 문장이다. 팀장의 교류 관점은 사용자 확인을 바탕으로 구성했다. 과거 발언의 녹취 인용·전체 구성원의 경험·GPU 효율 개선 실적을 뜻하지 않는다. 추가 사용자 지시: 도입에 DS부문 모든 인프라를 책임지고 AI로 운영도 효율화하는 팀 역할과 교류·성장의 교육문화 핵심을 먼저 제시한다. 인원 규모는 도입에서 강조하지 않는다. v04는 AI 4 AI의 기술·업무 방향과 교류·성장의 학습 방식을 연결한다. 공식 확장명과 실제 세미나 명칭을 유지하며 다른 프로그램을 AI 4 AI 소속 행사나 AI 전문 교육으로 재분류하지 않는다. 팀 전체의 정량적 역량 향상이나 특정 세미나와 프로젝트의 직접 인과를 주장하지 않는다.</a:t>
            </a:r>
          </a:p>
          <a:p>
            <a:r>
              <a:t>PPTX에는 실제 애니메이션이 없다. 효과와 자료 전환은 영상팀 편집 지시다.</a:t>
            </a:r>
          </a:p>
          <a:p>
            <a:r>
              <a:t>실제 자료는 사용자가 별도로 삽입한다. 범용 외부 사진으로 실제 행사를 대체하지 않는다.</a:t>
            </a:r>
          </a:p>
          <a:p>
            <a:r>
              <a:t>출처: 사용자 브리프·추가 확인. 사실과 원본 ID 기준: docs/03-facts-and-assets.md.</a:t>
            </a:r>
          </a:p>
          <a:p>
            <a:r>
              <a:t>자료 삽입 슬롯:</a:t>
            </a:r>
          </a:p>
          <a:p>
            <a:r>
              <a:t>- **IMG13 — 교육 플랫폼</a:t>
            </a:r>
          </a:p>
          <a:p>
            <a:r>
              <a:t>녹화 목록·재생 화면**: 실제 AI 4 AI 녹화 항목이 보이는 화면. 계정 등 가림 처리. 시청 수·만족도는 추가하지 않음.</a:t>
            </a:r>
          </a:p>
          <a:p>
            <a:r>
              <a:t>이 PPTX는 사용자가 실제 사진·화면 원본을 나중에 붙이는 제작본이다. 점선 영역의 ‘자료 삽입’ 안내와 IMG ID는 교체할 편집 가능한 도형이다. 빈 삽입 영역을 최종 영상으로 그대로 사용하라는 뜻이 아니다. 최종 편집 전 해당 실제 자료를 삽입하고 안내 글자와 점선을 제거한다. 원본을 쓰지 않으면 영상팀이 같은 메시지의 키워드 화면으로 다시 구성한다.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P09 / S09 / 최종 04:12–04:38</a:t>
            </a:r>
          </a:p>
          <a:p>
            <a:r>
              <a:t>원본 버전: editorial-v0.4 / 2026-10-11</a:t>
            </a:r>
          </a:p>
          <a:p>
            <a:r>
              <a:t>자료 큐는 발화 기준. 타임코드는 최종 편집 목표이며 실측 발화 시점이 아니다.</a:t>
            </a:r>
          </a:p>
          <a:p>
            <a:r>
              <a:t>자료 등장: 이런 교류를 이어가려면</a:t>
            </a:r>
          </a:p>
          <a:p>
            <a:r>
              <a:t>P09을 0.25초 디졸브로 표시. 핵심 문장이 보이면 정지 화면으로 유지.</a:t>
            </a:r>
          </a:p>
          <a:p>
            <a:r>
              <a:t>촬영: 발화자 미디엄샷. 자료 큐에서 장표 전체 또는 인물·자료 분할 화면. 상대는 같은 자료를 보고 다음 말을 받는다.</a:t>
            </a:r>
          </a:p>
          <a:p>
            <a:r>
              <a:t>원본: 편집 가능한 키워드·도식</a:t>
            </a:r>
          </a:p>
          <a:p>
            <a:r>
              <a:t>스크립트:</a:t>
            </a:r>
          </a:p>
          <a:p>
            <a:r>
              <a:t>이관우 교육담당: [P09 등장] 이런 교류를 이어가려면 참여할 기회가 필요합니다. Tech X 참가자는 시간 일부를 내어 참여하고, 우수 프로젝트는 시상해 성과에 반영합니다.</a:t>
            </a:r>
          </a:p>
          <a:p>
            <a:r>
              <a:t>류경동 팀장: 각자 가진 전문성을 배우고, 함께 시도할 기회를 여는 방식은 다른 조직에서도 시작해 볼 수 있겠습니다.</a:t>
            </a:r>
          </a:p>
          <a:p>
            <a:r>
              <a:t>화면 전환은 배정 시간에 포함한다. 설명 중 문장 전체를 자막으로 다시 쓰지 않는다. 장표를 충분히 읽은 뒤 다음 장면의 큐에서 전환.</a:t>
            </a:r>
          </a:p>
          <a:p>
            <a:r>
              <a:t>2026-10-11까지 사용자 제공 사실. 이관우의 k8s GPU 과제 참여 경험은 본인 진술을 촬영용으로 다듬은 문장이다. 팀장의 교류 관점은 사용자 확인을 바탕으로 구성했다. 과거 발언의 녹취 인용·전체 구성원의 경험·GPU 효율 개선 실적을 뜻하지 않는다. 추가 사용자 지시: 도입에 DS부문 모든 인프라를 책임지고 AI로 운영도 효율화하는 팀 역할과 교류·성장의 교육문화 핵심을 먼저 제시한다. 인원 규모는 도입에서 강조하지 않는다. v04는 AI 4 AI의 기술·업무 방향과 교류·성장의 학습 방식을 연결한다. 공식 확장명과 실제 세미나 명칭을 유지하며 다른 프로그램을 AI 4 AI 소속 행사나 AI 전문 교육으로 재분류하지 않는다. 팀 전체의 정량적 역량 향상이나 특정 세미나와 프로젝트의 직접 인과를 주장하지 않는다.</a:t>
            </a:r>
          </a:p>
          <a:p>
            <a:r>
              <a:t>PPTX에는 실제 애니메이션이 없다. 효과와 자료 전환은 영상팀 편집 지시다.</a:t>
            </a:r>
          </a:p>
          <a:p>
            <a:r>
              <a:t>실제 자료는 사용자가 별도로 삽입한다. 범용 외부 사진으로 실제 행사를 대체하지 않는다.</a:t>
            </a:r>
          </a:p>
          <a:p>
            <a:r>
              <a:t>출처: 사용자 브리프·추가 확인. 사실과 원본 ID 기준: docs/03-facts-and-assets.md.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P10 / S10 / 최종 04:38–04:55</a:t>
            </a:r>
          </a:p>
          <a:p>
            <a:r>
              <a:t>원본 버전: editorial-v0.4 / 2026-10-11</a:t>
            </a:r>
          </a:p>
          <a:p>
            <a:r>
              <a:t>자료 큐는 발화 기준. 타임코드는 최종 편집 목표이며 실측 발화 시점이 아니다.</a:t>
            </a:r>
          </a:p>
          <a:p>
            <a:r>
              <a:t>자료 등장: 서로의 지식과 경험을 나누며</a:t>
            </a:r>
          </a:p>
          <a:p>
            <a:r>
              <a:t>P10을 0.25초 디졸브로 표시. 핵심 문장이 보이면 정지 화면으로 유지.</a:t>
            </a:r>
          </a:p>
          <a:p>
            <a:r>
              <a:t>촬영: 발화자 미디엄샷. 자료 큐에서 장표 전체 또는 인물·자료 분할 화면. 상대는 같은 자료를 보고 다음 말을 받는다.</a:t>
            </a:r>
          </a:p>
          <a:p>
            <a:r>
              <a:t>원본: 편집 가능한 키워드·도식</a:t>
            </a:r>
          </a:p>
          <a:p>
            <a:r>
              <a:t>스크립트:</a:t>
            </a:r>
          </a:p>
          <a:p>
            <a:r>
              <a:t>이관우 교육담당: [P10 등장] 서로의 지식과 경험을 나누며, AI를 지원하고 활용할 역량도 함께 키워가겠습니다.</a:t>
            </a:r>
          </a:p>
          <a:p>
            <a:r>
              <a:t>류경동 팀장: 서로에게 배우는 인프라 팀. AI 4 AI입니다.</a:t>
            </a:r>
          </a:p>
          <a:p>
            <a:r>
              <a:t>개인 경험·운영 적용·재공유를 돌아보고 AI를 지원하고 활용할 역량을 함께 키워가겠다는 방향으로 끝낸다. 미확인 팀 전체 성과를 완료형으로 주장하지 않는다.</a:t>
            </a:r>
          </a:p>
          <a:p>
            <a:r>
              <a:t>2026-10-11까지 사용자 제공 사실. 이관우의 k8s GPU 과제 참여 경험은 본인 진술을 촬영용으로 다듬은 문장이다. 팀장의 교류 관점은 사용자 확인을 바탕으로 구성했다. 과거 발언의 녹취 인용·전체 구성원의 경험·GPU 효율 개선 실적을 뜻하지 않는다. 추가 사용자 지시: 도입에 DS부문 모든 인프라를 책임지고 AI로 운영도 효율화하는 팀 역할과 교류·성장의 교육문화 핵심을 먼저 제시한다. 인원 규모는 도입에서 강조하지 않는다. v04는 AI 4 AI의 기술·업무 방향과 교류·성장의 학습 방식을 연결한다. 공식 확장명과 실제 세미나 명칭을 유지하며 다른 프로그램을 AI 4 AI 소속 행사나 AI 전문 교육으로 재분류하지 않는다. 팀 전체의 정량적 역량 향상이나 특정 세미나와 프로젝트의 직접 인과를 주장하지 않는다.</a:t>
            </a:r>
          </a:p>
          <a:p>
            <a:r>
              <a:t>PPTX에는 실제 애니메이션이 없다. 효과와 자료 전환은 영상팀 편집 지시다.</a:t>
            </a:r>
          </a:p>
          <a:p>
            <a:r>
              <a:t>실제 자료는 사용자가 별도로 삽입한다. 범용 외부 사진으로 실제 행사를 대체하지 않는다.</a:t>
            </a:r>
          </a:p>
          <a:p>
            <a:r>
              <a:t>출처: 사용자 브리프·추가 확인. 사실과 원본 ID 기준: docs/03-facts-and-assets.md.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A01 / 숨김 제작 부록 / 2026-10-11</a:t>
            </a:r>
          </a:p>
          <a:p>
            <a:r>
              <a:t>사용자가 나중에 붙일 실제 자료</a:t>
            </a:r>
          </a:p>
          <a:p>
            <a:r>
              <a:t>본편 점선 영역에 자료명과 IMG ID를 적었습니다. 삽입 후 점선·안내 글자를 제거합니다.</a:t>
            </a:r>
          </a:p>
          <a:p/>
          <a:p>
            <a:r>
              <a:t>P02–P04 / 외부·동료의 지식 / IMG03: AI 4 AI / IMG04·05: Job Fair / IMG06: DCIS</a:t>
            </a:r>
          </a:p>
          <a:p>
            <a:r>
              <a:t>P05–P07 / 모집·참여·실제 적용 / IMG07: 모집 / IMG15: GPU 과제 / IMG08·10: IAP</a:t>
            </a:r>
          </a:p>
          <a:p>
            <a:r>
              <a:t>P08 / 다시 나누는 배움 / IMG13: 교육 플랫폼 녹화 목록·재생 화면</a:t>
            </a:r>
          </a:p>
          <a:p>
            <a:r>
              <a:t>본편 사용 제외. 검토 PDF·PNG에는 이 숨김 부록도 포함된다.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A02 / 숨김 제작 부록 / 2026-10-11</a:t>
            </a:r>
          </a:p>
          <a:p>
            <a:r>
              <a:t>교류·성장과 AI 4 AI를 연결하는 근거</a:t>
            </a:r>
          </a:p>
          <a:p>
            <a:r>
              <a:t>AI 지원과 활용은 함께 키워갈 역량의 방향입니다. 모든 활동을 AI 교육으로 재분류하지 않습니다.</a:t>
            </a:r>
          </a:p>
          <a:p>
            <a:r>
              <a:t>AI 4 AI의 공식 확장명은 Advanced Infrastructure for Artificial Intelligence이다. 영상의 주제와 실제 월례 세미나를 구분한다. 서사는 사용자 사실을 묶은 교육 관점이지 모든 활동의 공식 목표나 프로그램 소속을 새로 정한 것이 아니다.</a:t>
            </a:r>
          </a:p>
          <a:p>
            <a:r>
              <a:t>개인 경험 / GPU 과제에서 관점 학습 / 기술 관심과 부서 간 교류가 만난 사례. GPU 성능 개선 수치 없음.</a:t>
            </a:r>
          </a:p>
          <a:p>
            <a:r>
              <a:t>운영 적용 / AI로 로그 알림 자동화 / IAP는 다른 Tech X 과제의 대표 사례. 해당 알림 수작업 대체.</a:t>
            </a:r>
          </a:p>
          <a:p>
            <a:r>
              <a:t>배움의 공유 / 소개·실습과 녹화 공유 / 서로 다른 방법으로 배울 기회 제공. 전체 과제를 녹화한 것은 아님.</a:t>
            </a:r>
          </a:p>
          <a:p>
            <a:r>
              <a:t>본편 사용 제외. 검토 PDF·PNG에는 이 숨김 부록도 포함된다.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A03 / 숨김 제작 부록 / 2026-10-11</a:t>
            </a:r>
          </a:p>
          <a:p>
            <a:r>
              <a:t>10월 14일 제출 · 19일 촬영</a:t>
            </a:r>
          </a:p>
          <a:p>
            <a:r>
              <a:t>현재 기준일 10월 11일. 일정이 지났다는 이유만으로 개최·발표·시상 완료로 바꾸지 않습니다.</a:t>
            </a:r>
          </a:p>
          <a:p/>
          <a:p>
            <a:r>
              <a:t>10월 12일 / OutSystems 예정 / 실제 개최 확인 후 포스터·사진과 필요한 문구 갱신.</a:t>
            </a:r>
          </a:p>
          <a:p>
            <a:r>
              <a:t>10월 14일 / 자료 제출 → 영상팀 편집 / 16일 최종 발표 결과를 미리 완료형으로 넣지 않음.</a:t>
            </a:r>
          </a:p>
          <a:p>
            <a:r>
              <a:t>10월 16일 / 19일 / 최종 발표 예정 / 촬영 / 발표·결과를 확인한 부분만 교체. 시상일은 아직 미확인.</a:t>
            </a:r>
          </a:p>
          <a:p>
            <a:r>
              <a:t>본편 사용 제외. 검토 PDF·PNG에는 이 숨김 부록도 포함된다.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AI 4 AI · 서로에게 배우는 인프라 팀</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AI를 잘 지원하고 활용하려면,</a:t>
            </a:r>
          </a:p>
          <a:p>
            <a:pPr algn="l">
              <a:spcAft>
                <a:spcPts val="400"/>
              </a:spcAft>
            </a:pPr>
            <a:r>
              <a:rPr sz="4000" b="1">
                <a:solidFill>
                  <a:srgbClr val="202522"/>
                </a:solidFill>
                <a:latin typeface="맑은 고딕"/>
                <a:ea typeface="맑은 고딕"/>
              </a:rPr>
              <a:t>서로에게 배워야 합니다</a:t>
            </a:r>
          </a:p>
        </p:txBody>
      </p:sp>
      <p:sp>
        <p:nvSpPr>
          <p:cNvPr id="4" name="TextBox 3"/>
          <p:cNvSpPr txBox="1"/>
          <p:nvPr/>
        </p:nvSpPr>
        <p:spPr>
          <a:xfrm>
            <a:off x="685800" y="6062472"/>
            <a:ext cx="10789920" cy="301752"/>
          </a:xfrm>
          <a:prstGeom prst="rect">
            <a:avLst/>
          </a:prstGeom>
          <a:noFill/>
        </p:spPr>
        <p:txBody>
          <a:bodyPr wrap="square" lIns="0" rIns="0" tIns="0" bIns="0">
            <a:spAutoFit/>
          </a:bodyPr>
          <a:lstStyle/>
          <a:p>
            <a:pPr algn="l">
              <a:spcAft>
                <a:spcPts val="400"/>
              </a:spcAft>
            </a:pPr>
            <a:r>
              <a:rPr sz="1200" b="0">
                <a:solidFill>
                  <a:srgbClr val="626962"/>
                </a:solidFill>
                <a:latin typeface="맑은 고딕"/>
                <a:ea typeface="맑은 고딕"/>
              </a:rPr>
              <a:t>Advanced Infrastructure for Artificial Intelligence</a:t>
            </a:r>
          </a:p>
        </p:txBody>
      </p:sp>
      <p:cxnSp>
        <p:nvCxnSpPr>
          <p:cNvPr id="5" name="Connector 4"/>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P01</a:t>
            </a:r>
          </a:p>
        </p:txBody>
      </p:sp>
      <p:sp>
        <p:nvSpPr>
          <p:cNvPr id="7" name="TextBox 6"/>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8" name="TextBox 7"/>
          <p:cNvSpPr txBox="1"/>
          <p:nvPr/>
        </p:nvSpPr>
        <p:spPr>
          <a:xfrm>
            <a:off x="685800" y="3063240"/>
            <a:ext cx="10789920" cy="640080"/>
          </a:xfrm>
          <a:prstGeom prst="rect">
            <a:avLst/>
          </a:prstGeom>
          <a:noFill/>
        </p:spPr>
        <p:txBody>
          <a:bodyPr wrap="square" lIns="0" rIns="0" tIns="0" bIns="0">
            <a:spAutoFit/>
          </a:bodyPr>
          <a:lstStyle/>
          <a:p>
            <a:pPr algn="l">
              <a:spcAft>
                <a:spcPts val="400"/>
              </a:spcAft>
            </a:pPr>
            <a:r>
              <a:rPr sz="2500" b="0">
                <a:solidFill>
                  <a:srgbClr val="202522"/>
                </a:solidFill>
                <a:latin typeface="맑은 고딕"/>
                <a:ea typeface="맑은 고딕"/>
              </a:rPr>
              <a:t>DS부문 인프라 책임 · AI로 운영 효율화</a:t>
            </a:r>
          </a:p>
        </p:txBody>
      </p:sp>
      <p:sp>
        <p:nvSpPr>
          <p:cNvPr id="9" name="TextBox 8"/>
          <p:cNvSpPr txBox="1"/>
          <p:nvPr/>
        </p:nvSpPr>
        <p:spPr>
          <a:xfrm>
            <a:off x="685800" y="3675887"/>
            <a:ext cx="3246120" cy="457200"/>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외부 지식 · 동료 경험</a:t>
            </a:r>
          </a:p>
        </p:txBody>
      </p:sp>
      <p:sp>
        <p:nvSpPr>
          <p:cNvPr id="10" name="TextBox 9"/>
          <p:cNvSpPr txBox="1"/>
          <p:nvPr/>
        </p:nvSpPr>
        <p:spPr>
          <a:xfrm>
            <a:off x="685800" y="4279392"/>
            <a:ext cx="3246120" cy="731520"/>
          </a:xfrm>
          <a:prstGeom prst="rect">
            <a:avLst/>
          </a:prstGeom>
          <a:noFill/>
        </p:spPr>
        <p:txBody>
          <a:bodyPr wrap="square" lIns="0" rIns="0" tIns="0" bIns="0">
            <a:spAutoFit/>
          </a:bodyPr>
          <a:lstStyle/>
          <a:p>
            <a:pPr algn="l">
              <a:spcAft>
                <a:spcPts val="400"/>
              </a:spcAft>
            </a:pPr>
            <a:r>
              <a:rPr sz="3400" b="1">
                <a:solidFill>
                  <a:srgbClr val="202522"/>
                </a:solidFill>
                <a:latin typeface="맑은 고딕"/>
                <a:ea typeface="맑은 고딕"/>
              </a:rPr>
              <a:t>서로 배우다</a:t>
            </a:r>
          </a:p>
        </p:txBody>
      </p:sp>
      <p:sp>
        <p:nvSpPr>
          <p:cNvPr id="11" name="TextBox 10"/>
          <p:cNvSpPr txBox="1"/>
          <p:nvPr/>
        </p:nvSpPr>
        <p:spPr>
          <a:xfrm>
            <a:off x="685800" y="5193792"/>
            <a:ext cx="3246120" cy="594360"/>
          </a:xfrm>
          <a:prstGeom prst="rect">
            <a:avLst/>
          </a:prstGeom>
          <a:noFill/>
        </p:spPr>
        <p:txBody>
          <a:bodyPr wrap="square" lIns="0" rIns="0" tIns="0" bIns="0">
            <a:spAutoFit/>
          </a:bodyPr>
          <a:lstStyle/>
          <a:p>
            <a:pPr algn="l">
              <a:spcAft>
                <a:spcPts val="400"/>
              </a:spcAft>
            </a:pPr>
            <a:r>
              <a:rPr sz="2000" b="0">
                <a:solidFill>
                  <a:srgbClr val="626962"/>
                </a:solidFill>
                <a:latin typeface="맑은 고딕"/>
                <a:ea typeface="맑은 고딕"/>
              </a:rPr>
              <a:t>다양한 전문성을 만나고</a:t>
            </a:r>
          </a:p>
        </p:txBody>
      </p:sp>
      <p:cxnSp>
        <p:nvCxnSpPr>
          <p:cNvPr id="12" name="Connector 11"/>
          <p:cNvCxnSpPr/>
          <p:nvPr/>
        </p:nvCxnSpPr>
        <p:spPr>
          <a:xfrm>
            <a:off x="3721608" y="4599432"/>
            <a:ext cx="512064" cy="0"/>
          </a:xfrm>
          <a:prstGeom prst="line">
            <a:avLst/>
          </a:prstGeom>
          <a:ln w="19050">
            <a:solidFill>
              <a:srgbClr val="176B5B"/>
            </a:solidFill>
            <a:tailEnd type="triangle"/>
          </a:ln>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4434840" y="3675887"/>
            <a:ext cx="3246120" cy="457200"/>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부서를 넘는 참여</a:t>
            </a:r>
          </a:p>
        </p:txBody>
      </p:sp>
      <p:sp>
        <p:nvSpPr>
          <p:cNvPr id="14" name="TextBox 13"/>
          <p:cNvSpPr txBox="1"/>
          <p:nvPr/>
        </p:nvSpPr>
        <p:spPr>
          <a:xfrm>
            <a:off x="4434840" y="4279392"/>
            <a:ext cx="3246120" cy="731520"/>
          </a:xfrm>
          <a:prstGeom prst="rect">
            <a:avLst/>
          </a:prstGeom>
          <a:noFill/>
        </p:spPr>
        <p:txBody>
          <a:bodyPr wrap="square" lIns="0" rIns="0" tIns="0" bIns="0">
            <a:spAutoFit/>
          </a:bodyPr>
          <a:lstStyle/>
          <a:p>
            <a:pPr algn="l">
              <a:spcAft>
                <a:spcPts val="400"/>
              </a:spcAft>
            </a:pPr>
            <a:r>
              <a:rPr sz="3400" b="1">
                <a:solidFill>
                  <a:srgbClr val="202522"/>
                </a:solidFill>
                <a:latin typeface="맑은 고딕"/>
                <a:ea typeface="맑은 고딕"/>
              </a:rPr>
              <a:t>함께 해보다</a:t>
            </a:r>
          </a:p>
        </p:txBody>
      </p:sp>
      <p:sp>
        <p:nvSpPr>
          <p:cNvPr id="15" name="TextBox 14"/>
          <p:cNvSpPr txBox="1"/>
          <p:nvPr/>
        </p:nvSpPr>
        <p:spPr>
          <a:xfrm>
            <a:off x="4434840" y="5193792"/>
            <a:ext cx="3246120" cy="594360"/>
          </a:xfrm>
          <a:prstGeom prst="rect">
            <a:avLst/>
          </a:prstGeom>
          <a:noFill/>
        </p:spPr>
        <p:txBody>
          <a:bodyPr wrap="square" lIns="0" rIns="0" tIns="0" bIns="0">
            <a:spAutoFit/>
          </a:bodyPr>
          <a:lstStyle/>
          <a:p>
            <a:pPr algn="l">
              <a:spcAft>
                <a:spcPts val="400"/>
              </a:spcAft>
            </a:pPr>
            <a:r>
              <a:rPr sz="2000" b="0">
                <a:solidFill>
                  <a:srgbClr val="626962"/>
                </a:solidFill>
                <a:latin typeface="맑은 고딕"/>
                <a:ea typeface="맑은 고딕"/>
              </a:rPr>
              <a:t>관점을 나누며 시도하고</a:t>
            </a:r>
          </a:p>
        </p:txBody>
      </p:sp>
      <p:cxnSp>
        <p:nvCxnSpPr>
          <p:cNvPr id="16" name="Connector 15"/>
          <p:cNvCxnSpPr/>
          <p:nvPr/>
        </p:nvCxnSpPr>
        <p:spPr>
          <a:xfrm>
            <a:off x="7470648" y="4599432"/>
            <a:ext cx="512064" cy="0"/>
          </a:xfrm>
          <a:prstGeom prst="line">
            <a:avLst/>
          </a:prstGeom>
          <a:ln w="19050">
            <a:solidFill>
              <a:srgbClr val="176B5B"/>
            </a:solidFill>
            <a:tailEnd type="triangle"/>
          </a:ln>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8183879" y="3675887"/>
            <a:ext cx="3246120" cy="457200"/>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AI 지원과 활용을 위해</a:t>
            </a:r>
          </a:p>
        </p:txBody>
      </p:sp>
      <p:sp>
        <p:nvSpPr>
          <p:cNvPr id="18" name="TextBox 17"/>
          <p:cNvSpPr txBox="1"/>
          <p:nvPr/>
        </p:nvSpPr>
        <p:spPr>
          <a:xfrm>
            <a:off x="8183879" y="4279392"/>
            <a:ext cx="3246120" cy="731520"/>
          </a:xfrm>
          <a:prstGeom prst="rect">
            <a:avLst/>
          </a:prstGeom>
          <a:noFill/>
        </p:spPr>
        <p:txBody>
          <a:bodyPr wrap="square" lIns="0" rIns="0" tIns="0" bIns="0">
            <a:spAutoFit/>
          </a:bodyPr>
          <a:lstStyle/>
          <a:p>
            <a:pPr algn="l">
              <a:spcAft>
                <a:spcPts val="400"/>
              </a:spcAft>
            </a:pPr>
            <a:r>
              <a:rPr sz="3400" b="1">
                <a:solidFill>
                  <a:srgbClr val="202522"/>
                </a:solidFill>
                <a:latin typeface="맑은 고딕"/>
                <a:ea typeface="맑은 고딕"/>
              </a:rPr>
              <a:t>함께 성장하다</a:t>
            </a:r>
          </a:p>
        </p:txBody>
      </p:sp>
      <p:sp>
        <p:nvSpPr>
          <p:cNvPr id="19" name="TextBox 18"/>
          <p:cNvSpPr txBox="1"/>
          <p:nvPr/>
        </p:nvSpPr>
        <p:spPr>
          <a:xfrm>
            <a:off x="8183879" y="5193792"/>
            <a:ext cx="3246120" cy="594360"/>
          </a:xfrm>
          <a:prstGeom prst="rect">
            <a:avLst/>
          </a:prstGeom>
          <a:noFill/>
        </p:spPr>
        <p:txBody>
          <a:bodyPr wrap="square" lIns="0" rIns="0" tIns="0" bIns="0">
            <a:spAutoFit/>
          </a:bodyPr>
          <a:lstStyle/>
          <a:p>
            <a:pPr algn="l">
              <a:spcAft>
                <a:spcPts val="400"/>
              </a:spcAft>
            </a:pPr>
            <a:r>
              <a:rPr sz="2000" b="0">
                <a:solidFill>
                  <a:srgbClr val="626962"/>
                </a:solidFill>
                <a:latin typeface="맑은 고딕"/>
                <a:ea typeface="맑은 고딕"/>
              </a:rPr>
              <a:t>인프라·운영 역량을 키우기</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AI 4 AI 세미나 · 기술의 방향을 함께 배우다</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AI를 위한 인프라를 만들고,</a:t>
            </a:r>
          </a:p>
          <a:p>
            <a:pPr algn="l">
              <a:spcAft>
                <a:spcPts val="400"/>
              </a:spcAft>
            </a:pPr>
            <a:r>
              <a:rPr sz="4000" b="1">
                <a:solidFill>
                  <a:srgbClr val="202522"/>
                </a:solidFill>
                <a:latin typeface="맑은 고딕"/>
                <a:ea typeface="맑은 고딕"/>
              </a:rPr>
              <a:t>운영에도 AI를 활용하도록</a:t>
            </a:r>
          </a:p>
        </p:txBody>
      </p:sp>
      <p:sp>
        <p:nvSpPr>
          <p:cNvPr id="4" name="TextBox 3"/>
          <p:cNvSpPr txBox="1"/>
          <p:nvPr/>
        </p:nvSpPr>
        <p:spPr>
          <a:xfrm>
            <a:off x="685800" y="6062472"/>
            <a:ext cx="10789920" cy="301752"/>
          </a:xfrm>
          <a:prstGeom prst="rect">
            <a:avLst/>
          </a:prstGeom>
          <a:noFill/>
        </p:spPr>
        <p:txBody>
          <a:bodyPr wrap="square" lIns="0" rIns="0" tIns="0" bIns="0">
            <a:spAutoFit/>
          </a:bodyPr>
          <a:lstStyle/>
          <a:p>
            <a:pPr algn="l">
              <a:spcAft>
                <a:spcPts val="400"/>
              </a:spcAft>
            </a:pPr>
            <a:r>
              <a:rPr sz="1200" b="0">
                <a:solidFill>
                  <a:srgbClr val="626962"/>
                </a:solidFill>
                <a:latin typeface="맑은 고딕"/>
                <a:ea typeface="맑은 고딕"/>
              </a:rPr>
              <a:t>Advanced Infrastructure for Artificial Intelligence</a:t>
            </a:r>
          </a:p>
        </p:txBody>
      </p:sp>
      <p:cxnSp>
        <p:nvCxnSpPr>
          <p:cNvPr id="5" name="Connector 4"/>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P02</a:t>
            </a:r>
          </a:p>
        </p:txBody>
      </p:sp>
      <p:sp>
        <p:nvSpPr>
          <p:cNvPr id="7" name="TextBox 6"/>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8" name="TextBox 7"/>
          <p:cNvSpPr txBox="1"/>
          <p:nvPr/>
        </p:nvSpPr>
        <p:spPr>
          <a:xfrm>
            <a:off x="685800" y="3154680"/>
            <a:ext cx="5486400" cy="804672"/>
          </a:xfrm>
          <a:prstGeom prst="rect">
            <a:avLst/>
          </a:prstGeom>
          <a:noFill/>
        </p:spPr>
        <p:txBody>
          <a:bodyPr wrap="square" lIns="0" rIns="0" tIns="0" bIns="0">
            <a:spAutoFit/>
          </a:bodyPr>
          <a:lstStyle/>
          <a:p>
            <a:pPr algn="l">
              <a:spcAft>
                <a:spcPts val="400"/>
              </a:spcAft>
            </a:pPr>
            <a:r>
              <a:rPr sz="2500" b="0">
                <a:solidFill>
                  <a:srgbClr val="202522"/>
                </a:solidFill>
                <a:latin typeface="맑은 고딕"/>
                <a:ea typeface="맑은 고딕"/>
              </a:rPr>
              <a:t>월 1회  ·  센터원 대상</a:t>
            </a:r>
          </a:p>
        </p:txBody>
      </p:sp>
      <p:sp>
        <p:nvSpPr>
          <p:cNvPr id="9" name="TextBox 8"/>
          <p:cNvSpPr txBox="1"/>
          <p:nvPr/>
        </p:nvSpPr>
        <p:spPr>
          <a:xfrm>
            <a:off x="685800" y="4078224"/>
            <a:ext cx="1609344" cy="347472"/>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AI 활용 운영</a:t>
            </a:r>
          </a:p>
        </p:txBody>
      </p:sp>
      <p:sp>
        <p:nvSpPr>
          <p:cNvPr id="10" name="TextBox 9"/>
          <p:cNvSpPr txBox="1"/>
          <p:nvPr/>
        </p:nvSpPr>
        <p:spPr>
          <a:xfrm>
            <a:off x="2432304" y="4078224"/>
            <a:ext cx="3739896" cy="393192"/>
          </a:xfrm>
          <a:prstGeom prst="rect">
            <a:avLst/>
          </a:prstGeom>
          <a:noFill/>
        </p:spPr>
        <p:txBody>
          <a:bodyPr wrap="square" lIns="0" rIns="0" tIns="0" bIns="0">
            <a:spAutoFit/>
          </a:bodyPr>
          <a:lstStyle/>
          <a:p>
            <a:pPr algn="l">
              <a:spcAft>
                <a:spcPts val="400"/>
              </a:spcAft>
            </a:pPr>
            <a:r>
              <a:rPr sz="2300" b="1">
                <a:solidFill>
                  <a:srgbClr val="202522"/>
                </a:solidFill>
                <a:latin typeface="맑은 고딕"/>
                <a:ea typeface="맑은 고딕"/>
              </a:rPr>
              <a:t>AIOps</a:t>
            </a:r>
          </a:p>
        </p:txBody>
      </p:sp>
      <p:sp>
        <p:nvSpPr>
          <p:cNvPr id="11" name="TextBox 10"/>
          <p:cNvSpPr txBox="1"/>
          <p:nvPr/>
        </p:nvSpPr>
        <p:spPr>
          <a:xfrm>
            <a:off x="2432304" y="4471416"/>
            <a:ext cx="3739896" cy="457200"/>
          </a:xfrm>
          <a:prstGeom prst="rect">
            <a:avLst/>
          </a:prstGeom>
          <a:noFill/>
        </p:spPr>
        <p:txBody>
          <a:bodyPr wrap="square" lIns="0" rIns="0" tIns="0" bIns="0">
            <a:spAutoFit/>
          </a:bodyPr>
          <a:lstStyle/>
          <a:p>
            <a:pPr algn="l">
              <a:spcAft>
                <a:spcPts val="400"/>
              </a:spcAft>
            </a:pPr>
            <a:r>
              <a:rPr sz="1500" b="0">
                <a:solidFill>
                  <a:srgbClr val="626962"/>
                </a:solidFill>
                <a:latin typeface="맑은 고딕"/>
                <a:ea typeface="맑은 고딕"/>
              </a:rPr>
              <a:t>Cisco 초청 · 3월</a:t>
            </a:r>
          </a:p>
        </p:txBody>
      </p:sp>
      <p:cxnSp>
        <p:nvCxnSpPr>
          <p:cNvPr id="12" name="Connector 11"/>
          <p:cNvCxnSpPr/>
          <p:nvPr/>
        </p:nvCxnSpPr>
        <p:spPr>
          <a:xfrm>
            <a:off x="685800" y="4869179"/>
            <a:ext cx="5486400"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685800" y="4928616"/>
            <a:ext cx="1609344" cy="347472"/>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AI 인프라</a:t>
            </a:r>
          </a:p>
        </p:txBody>
      </p:sp>
      <p:sp>
        <p:nvSpPr>
          <p:cNvPr id="14" name="TextBox 13"/>
          <p:cNvSpPr txBox="1"/>
          <p:nvPr/>
        </p:nvSpPr>
        <p:spPr>
          <a:xfrm>
            <a:off x="2432304" y="4928616"/>
            <a:ext cx="3739896" cy="393192"/>
          </a:xfrm>
          <a:prstGeom prst="rect">
            <a:avLst/>
          </a:prstGeom>
          <a:noFill/>
        </p:spPr>
        <p:txBody>
          <a:bodyPr wrap="square" lIns="0" rIns="0" tIns="0" bIns="0">
            <a:spAutoFit/>
          </a:bodyPr>
          <a:lstStyle/>
          <a:p>
            <a:pPr algn="l">
              <a:spcAft>
                <a:spcPts val="400"/>
              </a:spcAft>
            </a:pPr>
            <a:r>
              <a:rPr sz="2300" b="1">
                <a:solidFill>
                  <a:srgbClr val="202522"/>
                </a:solidFill>
                <a:latin typeface="맑은 고딕"/>
                <a:ea typeface="맑은 고딕"/>
              </a:rPr>
              <a:t>국가슈퍼컴퓨터 6호기</a:t>
            </a:r>
          </a:p>
        </p:txBody>
      </p:sp>
      <p:sp>
        <p:nvSpPr>
          <p:cNvPr id="15" name="TextBox 14"/>
          <p:cNvSpPr txBox="1"/>
          <p:nvPr/>
        </p:nvSpPr>
        <p:spPr>
          <a:xfrm>
            <a:off x="2432304" y="5321807"/>
            <a:ext cx="3739896" cy="457200"/>
          </a:xfrm>
          <a:prstGeom prst="rect">
            <a:avLst/>
          </a:prstGeom>
          <a:noFill/>
        </p:spPr>
        <p:txBody>
          <a:bodyPr wrap="square" lIns="0" rIns="0" tIns="0" bIns="0">
            <a:spAutoFit/>
          </a:bodyPr>
          <a:lstStyle/>
          <a:p>
            <a:pPr algn="l">
              <a:spcAft>
                <a:spcPts val="400"/>
              </a:spcAft>
            </a:pPr>
            <a:r>
              <a:rPr sz="1500" b="0">
                <a:solidFill>
                  <a:srgbClr val="626962"/>
                </a:solidFill>
                <a:latin typeface="맑은 고딕"/>
                <a:ea typeface="맑은 고딕"/>
              </a:rPr>
              <a:t>KISTI 초청 · 5월</a:t>
            </a:r>
          </a:p>
        </p:txBody>
      </p:sp>
      <p:sp>
        <p:nvSpPr>
          <p:cNvPr id="16" name="P02-asset-frame-IMG03"/>
          <p:cNvSpPr/>
          <p:nvPr/>
        </p:nvSpPr>
        <p:spPr>
          <a:xfrm>
            <a:off x="6629400" y="3154680"/>
            <a:ext cx="4846320" cy="2651760"/>
          </a:xfrm>
          <a:prstGeom prst="rect">
            <a:avLst/>
          </a:prstGeom>
          <a:solidFill>
            <a:srgbClr val="FFFFFF"/>
          </a:solidFill>
          <a:ln w="15240">
            <a:solidFill>
              <a:srgbClr val="AAB8B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P02-asset-instruction-IMG03"/>
          <p:cNvSpPr txBox="1"/>
          <p:nvPr/>
        </p:nvSpPr>
        <p:spPr>
          <a:xfrm>
            <a:off x="6775704" y="3520440"/>
            <a:ext cx="4553712" cy="329184"/>
          </a:xfrm>
          <a:prstGeom prst="rect">
            <a:avLst/>
          </a:prstGeom>
          <a:noFill/>
        </p:spPr>
        <p:txBody>
          <a:bodyPr wrap="square" lIns="0" rIns="0" tIns="0" bIns="0">
            <a:spAutoFit/>
          </a:bodyPr>
          <a:lstStyle/>
          <a:p>
            <a:pPr algn="ctr">
              <a:spcAft>
                <a:spcPts val="400"/>
              </a:spcAft>
            </a:pPr>
            <a:r>
              <a:rPr sz="1600" b="1">
                <a:solidFill>
                  <a:srgbClr val="176B5B"/>
                </a:solidFill>
                <a:latin typeface="맑은 고딕"/>
                <a:ea typeface="맑은 고딕"/>
              </a:rPr>
              <a:t>자료 삽입</a:t>
            </a:r>
          </a:p>
        </p:txBody>
      </p:sp>
      <p:sp>
        <p:nvSpPr>
          <p:cNvPr id="18" name="P02-asset-label-IMG03"/>
          <p:cNvSpPr txBox="1"/>
          <p:nvPr/>
        </p:nvSpPr>
        <p:spPr>
          <a:xfrm>
            <a:off x="6775704" y="4087368"/>
            <a:ext cx="4553712" cy="950976"/>
          </a:xfrm>
          <a:prstGeom prst="rect">
            <a:avLst/>
          </a:prstGeom>
          <a:noFill/>
        </p:spPr>
        <p:txBody>
          <a:bodyPr wrap="square" lIns="0" rIns="0" tIns="0" bIns="0">
            <a:spAutoFit/>
          </a:bodyPr>
          <a:lstStyle/>
          <a:p>
            <a:pPr algn="ctr">
              <a:spcAft>
                <a:spcPts val="400"/>
              </a:spcAft>
            </a:pPr>
            <a:r>
              <a:rPr sz="2200" b="1">
                <a:solidFill>
                  <a:srgbClr val="202522"/>
                </a:solidFill>
                <a:latin typeface="맑은 고딕"/>
                <a:ea typeface="맑은 고딕"/>
              </a:rPr>
              <a:t>AI 4 AI</a:t>
            </a:r>
          </a:p>
          <a:p>
            <a:pPr algn="ctr">
              <a:spcAft>
                <a:spcPts val="400"/>
              </a:spcAft>
            </a:pPr>
            <a:r>
              <a:rPr sz="2200" b="1">
                <a:solidFill>
                  <a:srgbClr val="202522"/>
                </a:solidFill>
                <a:latin typeface="맑은 고딕"/>
                <a:ea typeface="맑은 고딕"/>
              </a:rPr>
              <a:t>대표 세미나 포스터</a:t>
            </a:r>
          </a:p>
        </p:txBody>
      </p:sp>
      <p:sp>
        <p:nvSpPr>
          <p:cNvPr id="19" name="P02-asset-id-IMG03"/>
          <p:cNvSpPr txBox="1"/>
          <p:nvPr/>
        </p:nvSpPr>
        <p:spPr>
          <a:xfrm>
            <a:off x="6775704" y="5340096"/>
            <a:ext cx="4553712" cy="274320"/>
          </a:xfrm>
          <a:prstGeom prst="rect">
            <a:avLst/>
          </a:prstGeom>
          <a:noFill/>
        </p:spPr>
        <p:txBody>
          <a:bodyPr wrap="square" lIns="0" rIns="0" tIns="0" bIns="0">
            <a:spAutoFit/>
          </a:bodyPr>
          <a:lstStyle/>
          <a:p>
            <a:pPr algn="ctr">
              <a:spcAft>
                <a:spcPts val="400"/>
              </a:spcAft>
            </a:pPr>
            <a:r>
              <a:rPr sz="1400" b="0">
                <a:solidFill>
                  <a:srgbClr val="626962"/>
                </a:solidFill>
                <a:latin typeface="맑은 고딕"/>
                <a:ea typeface="맑은 고딕"/>
              </a:rPr>
              <a:t>IMG03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Job Fair · 함께 일하는 동료의 업무를 이해하다</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함께 일하는 동료,</a:t>
            </a:r>
          </a:p>
          <a:p>
            <a:pPr algn="l">
              <a:spcAft>
                <a:spcPts val="400"/>
              </a:spcAft>
            </a:pPr>
            <a:r>
              <a:rPr sz="4000" b="1">
                <a:solidFill>
                  <a:srgbClr val="202522"/>
                </a:solidFill>
                <a:latin typeface="맑은 고딕"/>
                <a:ea typeface="맑은 고딕"/>
              </a:rPr>
              <a:t>서로의 일을 알아갑니다</a:t>
            </a:r>
          </a:p>
        </p:txBody>
      </p:sp>
      <p:cxnSp>
        <p:nvCxnSpPr>
          <p:cNvPr id="4" name="Connector 3"/>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P03</a:t>
            </a:r>
          </a:p>
        </p:txBody>
      </p:sp>
      <p:sp>
        <p:nvSpPr>
          <p:cNvPr id="6" name="TextBox 5"/>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7" name="TextBox 6"/>
          <p:cNvSpPr txBox="1"/>
          <p:nvPr/>
        </p:nvSpPr>
        <p:spPr>
          <a:xfrm>
            <a:off x="685800" y="3154680"/>
            <a:ext cx="5486400" cy="804672"/>
          </a:xfrm>
          <a:prstGeom prst="rect">
            <a:avLst/>
          </a:prstGeom>
          <a:noFill/>
        </p:spPr>
        <p:txBody>
          <a:bodyPr wrap="square" lIns="0" rIns="0" tIns="0" bIns="0">
            <a:spAutoFit/>
          </a:bodyPr>
          <a:lstStyle/>
          <a:p>
            <a:pPr algn="l">
              <a:spcAft>
                <a:spcPts val="400"/>
              </a:spcAft>
            </a:pPr>
            <a:r>
              <a:rPr sz="2500" b="0">
                <a:solidFill>
                  <a:srgbClr val="202522"/>
                </a:solidFill>
                <a:latin typeface="맑은 고딕"/>
                <a:ea typeface="맑은 고딕"/>
              </a:rPr>
              <a:t>각 부서의 업무를</a:t>
            </a:r>
          </a:p>
          <a:p>
            <a:pPr algn="l">
              <a:spcAft>
                <a:spcPts val="400"/>
              </a:spcAft>
            </a:pPr>
            <a:r>
              <a:rPr sz="2500" b="0">
                <a:solidFill>
                  <a:srgbClr val="202522"/>
                </a:solidFill>
                <a:latin typeface="맑은 고딕"/>
                <a:ea typeface="맑은 고딕"/>
              </a:rPr>
              <a:t>A0 판넬로 직접 소개</a:t>
            </a:r>
          </a:p>
        </p:txBody>
      </p:sp>
      <p:sp>
        <p:nvSpPr>
          <p:cNvPr id="8" name="TextBox 7"/>
          <p:cNvSpPr txBox="1"/>
          <p:nvPr/>
        </p:nvSpPr>
        <p:spPr>
          <a:xfrm>
            <a:off x="685800" y="4078224"/>
            <a:ext cx="1609344" cy="347472"/>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소개 부서</a:t>
            </a:r>
          </a:p>
        </p:txBody>
      </p:sp>
      <p:sp>
        <p:nvSpPr>
          <p:cNvPr id="9" name="TextBox 8"/>
          <p:cNvSpPr txBox="1"/>
          <p:nvPr/>
        </p:nvSpPr>
        <p:spPr>
          <a:xfrm>
            <a:off x="2432304" y="4078224"/>
            <a:ext cx="3739896" cy="393192"/>
          </a:xfrm>
          <a:prstGeom prst="rect">
            <a:avLst/>
          </a:prstGeom>
          <a:noFill/>
        </p:spPr>
        <p:txBody>
          <a:bodyPr wrap="square" lIns="0" rIns="0" tIns="0" bIns="0">
            <a:spAutoFit/>
          </a:bodyPr>
          <a:lstStyle/>
          <a:p>
            <a:pPr algn="l">
              <a:spcAft>
                <a:spcPts val="400"/>
              </a:spcAft>
            </a:pPr>
            <a:r>
              <a:rPr sz="2300" b="1">
                <a:solidFill>
                  <a:srgbClr val="202522"/>
                </a:solidFill>
                <a:latin typeface="맑은 고딕"/>
                <a:ea typeface="맑은 고딕"/>
              </a:rPr>
              <a:t>11개</a:t>
            </a:r>
          </a:p>
        </p:txBody>
      </p:sp>
      <p:sp>
        <p:nvSpPr>
          <p:cNvPr id="10" name="TextBox 9"/>
          <p:cNvSpPr txBox="1"/>
          <p:nvPr/>
        </p:nvSpPr>
        <p:spPr>
          <a:xfrm>
            <a:off x="2432304" y="4471416"/>
            <a:ext cx="3739896" cy="594360"/>
          </a:xfrm>
          <a:prstGeom prst="rect">
            <a:avLst/>
          </a:prstGeom>
          <a:noFill/>
        </p:spPr>
        <p:txBody>
          <a:bodyPr wrap="square" lIns="0" rIns="0" tIns="0" bIns="0">
            <a:spAutoFit/>
          </a:bodyPr>
          <a:lstStyle/>
          <a:p>
            <a:pPr algn="l">
              <a:spcAft>
                <a:spcPts val="400"/>
              </a:spcAft>
            </a:pPr>
            <a:r>
              <a:rPr sz="1500" b="0">
                <a:solidFill>
                  <a:srgbClr val="626962"/>
                </a:solidFill>
                <a:latin typeface="맑은 고딕"/>
                <a:ea typeface="맑은 고딕"/>
              </a:rPr>
              <a:t>부스에서 듣고, 궁금한 일을 묻는 자리</a:t>
            </a:r>
          </a:p>
        </p:txBody>
      </p:sp>
      <p:sp>
        <p:nvSpPr>
          <p:cNvPr id="11" name="P03-asset-frame-IMG04"/>
          <p:cNvSpPr/>
          <p:nvPr/>
        </p:nvSpPr>
        <p:spPr>
          <a:xfrm>
            <a:off x="6629400" y="3154680"/>
            <a:ext cx="2350008" cy="2651760"/>
          </a:xfrm>
          <a:prstGeom prst="rect">
            <a:avLst/>
          </a:prstGeom>
          <a:solidFill>
            <a:srgbClr val="FFFFFF"/>
          </a:solidFill>
          <a:ln w="15240">
            <a:solidFill>
              <a:srgbClr val="AAB8B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03-asset-instruction-IMG04"/>
          <p:cNvSpPr txBox="1"/>
          <p:nvPr/>
        </p:nvSpPr>
        <p:spPr>
          <a:xfrm>
            <a:off x="6775704" y="3520440"/>
            <a:ext cx="2057400" cy="329184"/>
          </a:xfrm>
          <a:prstGeom prst="rect">
            <a:avLst/>
          </a:prstGeom>
          <a:noFill/>
        </p:spPr>
        <p:txBody>
          <a:bodyPr wrap="square" lIns="0" rIns="0" tIns="0" bIns="0">
            <a:spAutoFit/>
          </a:bodyPr>
          <a:lstStyle/>
          <a:p>
            <a:pPr algn="ctr">
              <a:spcAft>
                <a:spcPts val="400"/>
              </a:spcAft>
            </a:pPr>
            <a:r>
              <a:rPr sz="1600" b="1">
                <a:solidFill>
                  <a:srgbClr val="176B5B"/>
                </a:solidFill>
                <a:latin typeface="맑은 고딕"/>
                <a:ea typeface="맑은 고딕"/>
              </a:rPr>
              <a:t>자료 삽입</a:t>
            </a:r>
          </a:p>
        </p:txBody>
      </p:sp>
      <p:sp>
        <p:nvSpPr>
          <p:cNvPr id="13" name="P03-asset-label-IMG04"/>
          <p:cNvSpPr txBox="1"/>
          <p:nvPr/>
        </p:nvSpPr>
        <p:spPr>
          <a:xfrm>
            <a:off x="6775704" y="4087368"/>
            <a:ext cx="2057400" cy="950976"/>
          </a:xfrm>
          <a:prstGeom prst="rect">
            <a:avLst/>
          </a:prstGeom>
          <a:noFill/>
        </p:spPr>
        <p:txBody>
          <a:bodyPr wrap="square" lIns="0" rIns="0" tIns="0" bIns="0">
            <a:spAutoFit/>
          </a:bodyPr>
          <a:lstStyle/>
          <a:p>
            <a:pPr algn="ctr">
              <a:spcAft>
                <a:spcPts val="400"/>
              </a:spcAft>
            </a:pPr>
            <a:r>
              <a:rPr sz="2000" b="1">
                <a:solidFill>
                  <a:srgbClr val="202522"/>
                </a:solidFill>
                <a:latin typeface="맑은 고딕"/>
                <a:ea typeface="맑은 고딕"/>
              </a:rPr>
              <a:t>Job Fair</a:t>
            </a:r>
          </a:p>
          <a:p>
            <a:pPr algn="ctr">
              <a:spcAft>
                <a:spcPts val="400"/>
              </a:spcAft>
            </a:pPr>
            <a:r>
              <a:rPr sz="2000" b="1">
                <a:solidFill>
                  <a:srgbClr val="202522"/>
                </a:solidFill>
                <a:latin typeface="맑은 고딕"/>
                <a:ea typeface="맑은 고딕"/>
              </a:rPr>
              <a:t>부스 전경</a:t>
            </a:r>
          </a:p>
        </p:txBody>
      </p:sp>
      <p:sp>
        <p:nvSpPr>
          <p:cNvPr id="14" name="P03-asset-id-IMG04"/>
          <p:cNvSpPr txBox="1"/>
          <p:nvPr/>
        </p:nvSpPr>
        <p:spPr>
          <a:xfrm>
            <a:off x="6775704" y="5340096"/>
            <a:ext cx="2057400" cy="274320"/>
          </a:xfrm>
          <a:prstGeom prst="rect">
            <a:avLst/>
          </a:prstGeom>
          <a:noFill/>
        </p:spPr>
        <p:txBody>
          <a:bodyPr wrap="square" lIns="0" rIns="0" tIns="0" bIns="0">
            <a:spAutoFit/>
          </a:bodyPr>
          <a:lstStyle/>
          <a:p>
            <a:pPr algn="ctr">
              <a:spcAft>
                <a:spcPts val="400"/>
              </a:spcAft>
            </a:pPr>
            <a:r>
              <a:rPr sz="1400" b="0">
                <a:solidFill>
                  <a:srgbClr val="626962"/>
                </a:solidFill>
                <a:latin typeface="맑은 고딕"/>
                <a:ea typeface="맑은 고딕"/>
              </a:rPr>
              <a:t>IMG04</a:t>
            </a:r>
          </a:p>
        </p:txBody>
      </p:sp>
      <p:sp>
        <p:nvSpPr>
          <p:cNvPr id="15" name="P03-asset-frame-IMG05"/>
          <p:cNvSpPr/>
          <p:nvPr/>
        </p:nvSpPr>
        <p:spPr>
          <a:xfrm>
            <a:off x="9125712" y="3154680"/>
            <a:ext cx="2350008" cy="2651760"/>
          </a:xfrm>
          <a:prstGeom prst="rect">
            <a:avLst/>
          </a:prstGeom>
          <a:solidFill>
            <a:srgbClr val="FFFFFF"/>
          </a:solidFill>
          <a:ln w="15240">
            <a:solidFill>
              <a:srgbClr val="AAB8B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P03-asset-instruction-IMG05"/>
          <p:cNvSpPr txBox="1"/>
          <p:nvPr/>
        </p:nvSpPr>
        <p:spPr>
          <a:xfrm>
            <a:off x="9272016" y="3520440"/>
            <a:ext cx="2057400" cy="329184"/>
          </a:xfrm>
          <a:prstGeom prst="rect">
            <a:avLst/>
          </a:prstGeom>
          <a:noFill/>
        </p:spPr>
        <p:txBody>
          <a:bodyPr wrap="square" lIns="0" rIns="0" tIns="0" bIns="0">
            <a:spAutoFit/>
          </a:bodyPr>
          <a:lstStyle/>
          <a:p>
            <a:pPr algn="ctr">
              <a:spcAft>
                <a:spcPts val="400"/>
              </a:spcAft>
            </a:pPr>
            <a:r>
              <a:rPr sz="1600" b="1">
                <a:solidFill>
                  <a:srgbClr val="176B5B"/>
                </a:solidFill>
                <a:latin typeface="맑은 고딕"/>
                <a:ea typeface="맑은 고딕"/>
              </a:rPr>
              <a:t>자료 삽입</a:t>
            </a:r>
          </a:p>
        </p:txBody>
      </p:sp>
      <p:sp>
        <p:nvSpPr>
          <p:cNvPr id="17" name="P03-asset-label-IMG05"/>
          <p:cNvSpPr txBox="1"/>
          <p:nvPr/>
        </p:nvSpPr>
        <p:spPr>
          <a:xfrm>
            <a:off x="9272016" y="4087368"/>
            <a:ext cx="2057400" cy="950976"/>
          </a:xfrm>
          <a:prstGeom prst="rect">
            <a:avLst/>
          </a:prstGeom>
          <a:noFill/>
        </p:spPr>
        <p:txBody>
          <a:bodyPr wrap="square" lIns="0" rIns="0" tIns="0" bIns="0">
            <a:spAutoFit/>
          </a:bodyPr>
          <a:lstStyle/>
          <a:p>
            <a:pPr algn="ctr">
              <a:spcAft>
                <a:spcPts val="400"/>
              </a:spcAft>
            </a:pPr>
            <a:r>
              <a:rPr sz="2000" b="1">
                <a:solidFill>
                  <a:srgbClr val="202522"/>
                </a:solidFill>
                <a:latin typeface="맑은 고딕"/>
                <a:ea typeface="맑은 고딕"/>
              </a:rPr>
              <a:t>업무 소개</a:t>
            </a:r>
          </a:p>
          <a:p>
            <a:pPr algn="ctr">
              <a:spcAft>
                <a:spcPts val="400"/>
              </a:spcAft>
            </a:pPr>
            <a:r>
              <a:rPr sz="2000" b="1">
                <a:solidFill>
                  <a:srgbClr val="202522"/>
                </a:solidFill>
                <a:latin typeface="맑은 고딕"/>
                <a:ea typeface="맑은 고딕"/>
              </a:rPr>
              <a:t>A0 판넬</a:t>
            </a:r>
          </a:p>
        </p:txBody>
      </p:sp>
      <p:sp>
        <p:nvSpPr>
          <p:cNvPr id="18" name="P03-asset-id-IMG05"/>
          <p:cNvSpPr txBox="1"/>
          <p:nvPr/>
        </p:nvSpPr>
        <p:spPr>
          <a:xfrm>
            <a:off x="9272016" y="5340096"/>
            <a:ext cx="2057400" cy="274320"/>
          </a:xfrm>
          <a:prstGeom prst="rect">
            <a:avLst/>
          </a:prstGeom>
          <a:noFill/>
        </p:spPr>
        <p:txBody>
          <a:bodyPr wrap="square" lIns="0" rIns="0" tIns="0" bIns="0">
            <a:spAutoFit/>
          </a:bodyPr>
          <a:lstStyle/>
          <a:p>
            <a:pPr algn="ctr">
              <a:spcAft>
                <a:spcPts val="400"/>
              </a:spcAft>
            </a:pPr>
            <a:r>
              <a:rPr sz="1400" b="0">
                <a:solidFill>
                  <a:srgbClr val="626962"/>
                </a:solidFill>
                <a:latin typeface="맑은 고딕"/>
                <a:ea typeface="맑은 고딕"/>
              </a:rPr>
              <a:t>IMG05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DCIS · 동료의 업무와 전문성을 꾸준히 나누다</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요즘 우리 부서가</a:t>
            </a:r>
          </a:p>
          <a:p>
            <a:pPr algn="l">
              <a:spcAft>
                <a:spcPts val="400"/>
              </a:spcAft>
            </a:pPr>
            <a:r>
              <a:rPr sz="4000" b="1">
                <a:solidFill>
                  <a:srgbClr val="202522"/>
                </a:solidFill>
                <a:latin typeface="맑은 고딕"/>
                <a:ea typeface="맑은 고딕"/>
              </a:rPr>
              <a:t>하고 있는 일</a:t>
            </a:r>
          </a:p>
        </p:txBody>
      </p:sp>
      <p:sp>
        <p:nvSpPr>
          <p:cNvPr id="4" name="TextBox 3"/>
          <p:cNvSpPr txBox="1"/>
          <p:nvPr/>
        </p:nvSpPr>
        <p:spPr>
          <a:xfrm>
            <a:off x="685800" y="6062472"/>
            <a:ext cx="10789920" cy="301752"/>
          </a:xfrm>
          <a:prstGeom prst="rect">
            <a:avLst/>
          </a:prstGeom>
          <a:noFill/>
        </p:spPr>
        <p:txBody>
          <a:bodyPr wrap="square" lIns="0" rIns="0" tIns="0" bIns="0">
            <a:spAutoFit/>
          </a:bodyPr>
          <a:lstStyle/>
          <a:p>
            <a:pPr algn="l">
              <a:spcAft>
                <a:spcPts val="400"/>
              </a:spcAft>
            </a:pPr>
            <a:r>
              <a:rPr sz="1200" b="0">
                <a:solidFill>
                  <a:srgbClr val="626962"/>
                </a:solidFill>
                <a:latin typeface="맑은 고딕"/>
                <a:ea typeface="맑은 고딕"/>
              </a:rPr>
              <a:t>Data Center Idea Sync</a:t>
            </a:r>
          </a:p>
        </p:txBody>
      </p:sp>
      <p:cxnSp>
        <p:nvCxnSpPr>
          <p:cNvPr id="5" name="Connector 4"/>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P04</a:t>
            </a:r>
          </a:p>
        </p:txBody>
      </p:sp>
      <p:sp>
        <p:nvSpPr>
          <p:cNvPr id="7" name="TextBox 6"/>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8" name="TextBox 7"/>
          <p:cNvSpPr txBox="1"/>
          <p:nvPr/>
        </p:nvSpPr>
        <p:spPr>
          <a:xfrm>
            <a:off x="685800" y="3154680"/>
            <a:ext cx="5486400" cy="804672"/>
          </a:xfrm>
          <a:prstGeom prst="rect">
            <a:avLst/>
          </a:prstGeom>
          <a:noFill/>
        </p:spPr>
        <p:txBody>
          <a:bodyPr wrap="square" lIns="0" rIns="0" tIns="0" bIns="0">
            <a:spAutoFit/>
          </a:bodyPr>
          <a:lstStyle/>
          <a:p>
            <a:pPr algn="l">
              <a:spcAft>
                <a:spcPts val="400"/>
              </a:spcAft>
            </a:pPr>
            <a:r>
              <a:rPr sz="2500" b="0">
                <a:solidFill>
                  <a:srgbClr val="202522"/>
                </a:solidFill>
                <a:latin typeface="맑은 고딕"/>
                <a:ea typeface="맑은 고딕"/>
              </a:rPr>
              <a:t>주요 과제 · 서비스</a:t>
            </a:r>
          </a:p>
          <a:p>
            <a:pPr algn="l">
              <a:spcAft>
                <a:spcPts val="400"/>
              </a:spcAft>
            </a:pPr>
            <a:r>
              <a:rPr sz="2500" b="0">
                <a:solidFill>
                  <a:srgbClr val="202522"/>
                </a:solidFill>
                <a:latin typeface="맑은 고딕"/>
                <a:ea typeface="맑은 고딕"/>
              </a:rPr>
              <a:t>연구 중인 기술</a:t>
            </a:r>
          </a:p>
        </p:txBody>
      </p:sp>
      <p:sp>
        <p:nvSpPr>
          <p:cNvPr id="9" name="P04-asset-frame-IMG06"/>
          <p:cNvSpPr/>
          <p:nvPr/>
        </p:nvSpPr>
        <p:spPr>
          <a:xfrm>
            <a:off x="6629400" y="3154680"/>
            <a:ext cx="4846320" cy="2651760"/>
          </a:xfrm>
          <a:prstGeom prst="rect">
            <a:avLst/>
          </a:prstGeom>
          <a:solidFill>
            <a:srgbClr val="FFFFFF"/>
          </a:solidFill>
          <a:ln w="15240">
            <a:solidFill>
              <a:srgbClr val="AAB8B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P04-asset-instruction-IMG06"/>
          <p:cNvSpPr txBox="1"/>
          <p:nvPr/>
        </p:nvSpPr>
        <p:spPr>
          <a:xfrm>
            <a:off x="6775704" y="3520440"/>
            <a:ext cx="4553712" cy="329184"/>
          </a:xfrm>
          <a:prstGeom prst="rect">
            <a:avLst/>
          </a:prstGeom>
          <a:noFill/>
        </p:spPr>
        <p:txBody>
          <a:bodyPr wrap="square" lIns="0" rIns="0" tIns="0" bIns="0">
            <a:spAutoFit/>
          </a:bodyPr>
          <a:lstStyle/>
          <a:p>
            <a:pPr algn="ctr">
              <a:spcAft>
                <a:spcPts val="400"/>
              </a:spcAft>
            </a:pPr>
            <a:r>
              <a:rPr sz="1600" b="1">
                <a:solidFill>
                  <a:srgbClr val="176B5B"/>
                </a:solidFill>
                <a:latin typeface="맑은 고딕"/>
                <a:ea typeface="맑은 고딕"/>
              </a:rPr>
              <a:t>자료 삽입</a:t>
            </a:r>
          </a:p>
        </p:txBody>
      </p:sp>
      <p:sp>
        <p:nvSpPr>
          <p:cNvPr id="11" name="P04-asset-label-IMG06"/>
          <p:cNvSpPr txBox="1"/>
          <p:nvPr/>
        </p:nvSpPr>
        <p:spPr>
          <a:xfrm>
            <a:off x="6775704" y="4087368"/>
            <a:ext cx="4553712" cy="950976"/>
          </a:xfrm>
          <a:prstGeom prst="rect">
            <a:avLst/>
          </a:prstGeom>
          <a:noFill/>
        </p:spPr>
        <p:txBody>
          <a:bodyPr wrap="square" lIns="0" rIns="0" tIns="0" bIns="0">
            <a:spAutoFit/>
          </a:bodyPr>
          <a:lstStyle/>
          <a:p>
            <a:pPr algn="ctr">
              <a:spcAft>
                <a:spcPts val="400"/>
              </a:spcAft>
            </a:pPr>
            <a:r>
              <a:rPr sz="2200" b="1">
                <a:solidFill>
                  <a:srgbClr val="202522"/>
                </a:solidFill>
                <a:latin typeface="맑은 고딕"/>
                <a:ea typeface="맑은 고딕"/>
              </a:rPr>
              <a:t>DCIS 대표 세션</a:t>
            </a:r>
          </a:p>
          <a:p>
            <a:pPr algn="ctr">
              <a:spcAft>
                <a:spcPts val="400"/>
              </a:spcAft>
            </a:pPr>
            <a:r>
              <a:rPr sz="2200" b="1">
                <a:solidFill>
                  <a:srgbClr val="202522"/>
                </a:solidFill>
                <a:latin typeface="맑은 고딕"/>
                <a:ea typeface="맑은 고딕"/>
              </a:rPr>
              <a:t>표지 또는 공지</a:t>
            </a:r>
          </a:p>
        </p:txBody>
      </p:sp>
      <p:sp>
        <p:nvSpPr>
          <p:cNvPr id="12" name="P04-asset-id-IMG06"/>
          <p:cNvSpPr txBox="1"/>
          <p:nvPr/>
        </p:nvSpPr>
        <p:spPr>
          <a:xfrm>
            <a:off x="6775704" y="5340096"/>
            <a:ext cx="4553712" cy="274320"/>
          </a:xfrm>
          <a:prstGeom prst="rect">
            <a:avLst/>
          </a:prstGeom>
          <a:noFill/>
        </p:spPr>
        <p:txBody>
          <a:bodyPr wrap="square" lIns="0" rIns="0" tIns="0" bIns="0">
            <a:spAutoFit/>
          </a:bodyPr>
          <a:lstStyle/>
          <a:p>
            <a:pPr algn="ctr">
              <a:spcAft>
                <a:spcPts val="400"/>
              </a:spcAft>
            </a:pPr>
            <a:r>
              <a:rPr sz="1400" b="0">
                <a:solidFill>
                  <a:srgbClr val="626962"/>
                </a:solidFill>
                <a:latin typeface="맑은 고딕"/>
                <a:ea typeface="맑은 고딕"/>
              </a:rPr>
              <a:t>IMG06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Tech X · 다른 전문성을 가진 동료와 함께 해보다</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서로의 관점을 배우는 방법,</a:t>
            </a:r>
          </a:p>
          <a:p>
            <a:pPr algn="l">
              <a:spcAft>
                <a:spcPts val="400"/>
              </a:spcAft>
            </a:pPr>
            <a:r>
              <a:rPr sz="4000" b="1">
                <a:solidFill>
                  <a:srgbClr val="202522"/>
                </a:solidFill>
                <a:latin typeface="맑은 고딕"/>
                <a:ea typeface="맑은 고딕"/>
              </a:rPr>
              <a:t>직접 함께 해보는 것</a:t>
            </a:r>
          </a:p>
        </p:txBody>
      </p:sp>
      <p:cxnSp>
        <p:nvCxnSpPr>
          <p:cNvPr id="4" name="Connector 3"/>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P05</a:t>
            </a:r>
          </a:p>
        </p:txBody>
      </p:sp>
      <p:sp>
        <p:nvSpPr>
          <p:cNvPr id="6" name="TextBox 5"/>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7" name="TextBox 6"/>
          <p:cNvSpPr txBox="1"/>
          <p:nvPr/>
        </p:nvSpPr>
        <p:spPr>
          <a:xfrm>
            <a:off x="685800" y="3154680"/>
            <a:ext cx="5486400" cy="804672"/>
          </a:xfrm>
          <a:prstGeom prst="rect">
            <a:avLst/>
          </a:prstGeom>
          <a:noFill/>
        </p:spPr>
        <p:txBody>
          <a:bodyPr wrap="square" lIns="0" rIns="0" tIns="0" bIns="0">
            <a:spAutoFit/>
          </a:bodyPr>
          <a:lstStyle/>
          <a:p>
            <a:pPr algn="l">
              <a:spcAft>
                <a:spcPts val="400"/>
              </a:spcAft>
            </a:pPr>
            <a:r>
              <a:rPr sz="2500" b="0">
                <a:solidFill>
                  <a:srgbClr val="202522"/>
                </a:solidFill>
                <a:latin typeface="맑은 고딕"/>
                <a:ea typeface="맑은 고딕"/>
              </a:rPr>
              <a:t>파트별로 프로젝트 주제 제시</a:t>
            </a:r>
          </a:p>
          <a:p>
            <a:pPr algn="l">
              <a:spcAft>
                <a:spcPts val="400"/>
              </a:spcAft>
            </a:pPr>
            <a:r>
              <a:rPr sz="2500" b="0">
                <a:solidFill>
                  <a:srgbClr val="202522"/>
                </a:solidFill>
                <a:latin typeface="맑은 고딕"/>
                <a:ea typeface="맑은 고딕"/>
              </a:rPr>
              <a:t>지원자 중 필요한 인원 선발</a:t>
            </a:r>
          </a:p>
        </p:txBody>
      </p:sp>
      <p:sp>
        <p:nvSpPr>
          <p:cNvPr id="8" name="TextBox 7"/>
          <p:cNvSpPr txBox="1"/>
          <p:nvPr/>
        </p:nvSpPr>
        <p:spPr>
          <a:xfrm>
            <a:off x="685800" y="4078224"/>
            <a:ext cx="1609344" cy="347472"/>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참여 과제</a:t>
            </a:r>
          </a:p>
        </p:txBody>
      </p:sp>
      <p:sp>
        <p:nvSpPr>
          <p:cNvPr id="9" name="TextBox 8"/>
          <p:cNvSpPr txBox="1"/>
          <p:nvPr/>
        </p:nvSpPr>
        <p:spPr>
          <a:xfrm>
            <a:off x="2432304" y="4078224"/>
            <a:ext cx="3739896" cy="393192"/>
          </a:xfrm>
          <a:prstGeom prst="rect">
            <a:avLst/>
          </a:prstGeom>
          <a:noFill/>
        </p:spPr>
        <p:txBody>
          <a:bodyPr wrap="square" lIns="0" rIns="0" tIns="0" bIns="0">
            <a:spAutoFit/>
          </a:bodyPr>
          <a:lstStyle/>
          <a:p>
            <a:pPr algn="l">
              <a:spcAft>
                <a:spcPts val="400"/>
              </a:spcAft>
            </a:pPr>
            <a:r>
              <a:rPr sz="2300" b="1">
                <a:solidFill>
                  <a:srgbClr val="202522"/>
                </a:solidFill>
                <a:latin typeface="맑은 고딕"/>
                <a:ea typeface="맑은 고딕"/>
              </a:rPr>
              <a:t>6개 프로젝트</a:t>
            </a:r>
          </a:p>
        </p:txBody>
      </p:sp>
      <p:sp>
        <p:nvSpPr>
          <p:cNvPr id="10" name="TextBox 9"/>
          <p:cNvSpPr txBox="1"/>
          <p:nvPr/>
        </p:nvSpPr>
        <p:spPr>
          <a:xfrm>
            <a:off x="2432304" y="4471416"/>
            <a:ext cx="3739896" cy="457200"/>
          </a:xfrm>
          <a:prstGeom prst="rect">
            <a:avLst/>
          </a:prstGeom>
          <a:noFill/>
        </p:spPr>
        <p:txBody>
          <a:bodyPr wrap="square" lIns="0" rIns="0" tIns="0" bIns="0">
            <a:spAutoFit/>
          </a:bodyPr>
          <a:lstStyle/>
          <a:p>
            <a:pPr algn="l">
              <a:spcAft>
                <a:spcPts val="400"/>
              </a:spcAft>
            </a:pPr>
            <a:r>
              <a:rPr sz="1500" b="0">
                <a:solidFill>
                  <a:srgbClr val="626962"/>
                </a:solidFill>
                <a:latin typeface="맑은 고딕"/>
                <a:ea typeface="맑은 고딕"/>
              </a:rPr>
              <a:t>각 파트에서 주제 하나씩 제시</a:t>
            </a:r>
          </a:p>
        </p:txBody>
      </p:sp>
      <p:cxnSp>
        <p:nvCxnSpPr>
          <p:cNvPr id="11" name="Connector 10"/>
          <p:cNvCxnSpPr/>
          <p:nvPr/>
        </p:nvCxnSpPr>
        <p:spPr>
          <a:xfrm>
            <a:off x="685800" y="4869179"/>
            <a:ext cx="5486400"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85800" y="4928616"/>
            <a:ext cx="1609344" cy="347472"/>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참여 인원</a:t>
            </a:r>
          </a:p>
        </p:txBody>
      </p:sp>
      <p:sp>
        <p:nvSpPr>
          <p:cNvPr id="13" name="TextBox 12"/>
          <p:cNvSpPr txBox="1"/>
          <p:nvPr/>
        </p:nvSpPr>
        <p:spPr>
          <a:xfrm>
            <a:off x="2432304" y="4928616"/>
            <a:ext cx="3739896" cy="393192"/>
          </a:xfrm>
          <a:prstGeom prst="rect">
            <a:avLst/>
          </a:prstGeom>
          <a:noFill/>
        </p:spPr>
        <p:txBody>
          <a:bodyPr wrap="square" lIns="0" rIns="0" tIns="0" bIns="0">
            <a:spAutoFit/>
          </a:bodyPr>
          <a:lstStyle/>
          <a:p>
            <a:pPr algn="l">
              <a:spcAft>
                <a:spcPts val="400"/>
              </a:spcAft>
            </a:pPr>
            <a:r>
              <a:rPr sz="2300" b="1">
                <a:solidFill>
                  <a:srgbClr val="202522"/>
                </a:solidFill>
                <a:latin typeface="맑은 고딕"/>
                <a:ea typeface="맑은 고딕"/>
              </a:rPr>
              <a:t>44명</a:t>
            </a:r>
          </a:p>
        </p:txBody>
      </p:sp>
      <p:sp>
        <p:nvSpPr>
          <p:cNvPr id="14" name="TextBox 13"/>
          <p:cNvSpPr txBox="1"/>
          <p:nvPr/>
        </p:nvSpPr>
        <p:spPr>
          <a:xfrm>
            <a:off x="2432304" y="5321807"/>
            <a:ext cx="3739896" cy="457200"/>
          </a:xfrm>
          <a:prstGeom prst="rect">
            <a:avLst/>
          </a:prstGeom>
          <a:noFill/>
        </p:spPr>
        <p:txBody>
          <a:bodyPr wrap="square" lIns="0" rIns="0" tIns="0" bIns="0">
            <a:spAutoFit/>
          </a:bodyPr>
          <a:lstStyle/>
          <a:p>
            <a:pPr algn="l">
              <a:spcAft>
                <a:spcPts val="400"/>
              </a:spcAft>
            </a:pPr>
            <a:r>
              <a:rPr sz="1500" b="0">
                <a:solidFill>
                  <a:srgbClr val="626962"/>
                </a:solidFill>
                <a:latin typeface="맑은 고딕"/>
                <a:ea typeface="맑은 고딕"/>
              </a:rPr>
              <a:t>4월부터 프로젝트 진행</a:t>
            </a:r>
          </a:p>
        </p:txBody>
      </p:sp>
      <p:sp>
        <p:nvSpPr>
          <p:cNvPr id="15" name="P05-asset-frame-IMG07"/>
          <p:cNvSpPr/>
          <p:nvPr/>
        </p:nvSpPr>
        <p:spPr>
          <a:xfrm>
            <a:off x="6629400" y="3154680"/>
            <a:ext cx="4846320" cy="2651760"/>
          </a:xfrm>
          <a:prstGeom prst="rect">
            <a:avLst/>
          </a:prstGeom>
          <a:solidFill>
            <a:srgbClr val="FFFFFF"/>
          </a:solidFill>
          <a:ln w="15240">
            <a:solidFill>
              <a:srgbClr val="AAB8B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P05-asset-instruction-IMG07"/>
          <p:cNvSpPr txBox="1"/>
          <p:nvPr/>
        </p:nvSpPr>
        <p:spPr>
          <a:xfrm>
            <a:off x="6775704" y="3520440"/>
            <a:ext cx="4553712" cy="329184"/>
          </a:xfrm>
          <a:prstGeom prst="rect">
            <a:avLst/>
          </a:prstGeom>
          <a:noFill/>
        </p:spPr>
        <p:txBody>
          <a:bodyPr wrap="square" lIns="0" rIns="0" tIns="0" bIns="0">
            <a:spAutoFit/>
          </a:bodyPr>
          <a:lstStyle/>
          <a:p>
            <a:pPr algn="ctr">
              <a:spcAft>
                <a:spcPts val="400"/>
              </a:spcAft>
            </a:pPr>
            <a:r>
              <a:rPr sz="1600" b="1">
                <a:solidFill>
                  <a:srgbClr val="176B5B"/>
                </a:solidFill>
                <a:latin typeface="맑은 고딕"/>
                <a:ea typeface="맑은 고딕"/>
              </a:rPr>
              <a:t>자료 삽입</a:t>
            </a:r>
          </a:p>
        </p:txBody>
      </p:sp>
      <p:sp>
        <p:nvSpPr>
          <p:cNvPr id="17" name="P05-asset-label-IMG07"/>
          <p:cNvSpPr txBox="1"/>
          <p:nvPr/>
        </p:nvSpPr>
        <p:spPr>
          <a:xfrm>
            <a:off x="6775704" y="4087368"/>
            <a:ext cx="4553712" cy="950976"/>
          </a:xfrm>
          <a:prstGeom prst="rect">
            <a:avLst/>
          </a:prstGeom>
          <a:noFill/>
        </p:spPr>
        <p:txBody>
          <a:bodyPr wrap="square" lIns="0" rIns="0" tIns="0" bIns="0">
            <a:spAutoFit/>
          </a:bodyPr>
          <a:lstStyle/>
          <a:p>
            <a:pPr algn="ctr">
              <a:spcAft>
                <a:spcPts val="400"/>
              </a:spcAft>
            </a:pPr>
            <a:r>
              <a:rPr sz="2200" b="1">
                <a:solidFill>
                  <a:srgbClr val="202522"/>
                </a:solidFill>
                <a:latin typeface="맑은 고딕"/>
                <a:ea typeface="맑은 고딕"/>
              </a:rPr>
              <a:t>Tech X</a:t>
            </a:r>
          </a:p>
          <a:p>
            <a:pPr algn="ctr">
              <a:spcAft>
                <a:spcPts val="400"/>
              </a:spcAft>
            </a:pPr>
            <a:r>
              <a:rPr sz="2200" b="1">
                <a:solidFill>
                  <a:srgbClr val="202522"/>
                </a:solidFill>
                <a:latin typeface="맑은 고딕"/>
                <a:ea typeface="맑은 고딕"/>
              </a:rPr>
              <a:t>3월 모집 공고</a:t>
            </a:r>
          </a:p>
        </p:txBody>
      </p:sp>
      <p:sp>
        <p:nvSpPr>
          <p:cNvPr id="18" name="P05-asset-id-IMG07"/>
          <p:cNvSpPr txBox="1"/>
          <p:nvPr/>
        </p:nvSpPr>
        <p:spPr>
          <a:xfrm>
            <a:off x="6775704" y="5340096"/>
            <a:ext cx="4553712" cy="274320"/>
          </a:xfrm>
          <a:prstGeom prst="rect">
            <a:avLst/>
          </a:prstGeom>
          <a:noFill/>
        </p:spPr>
        <p:txBody>
          <a:bodyPr wrap="square" lIns="0" rIns="0" tIns="0" bIns="0">
            <a:spAutoFit/>
          </a:bodyPr>
          <a:lstStyle/>
          <a:p>
            <a:pPr algn="ctr">
              <a:spcAft>
                <a:spcPts val="400"/>
              </a:spcAft>
            </a:pPr>
            <a:r>
              <a:rPr sz="1400" b="0">
                <a:solidFill>
                  <a:srgbClr val="626962"/>
                </a:solidFill>
                <a:latin typeface="맑은 고딕"/>
                <a:ea typeface="맑은 고딕"/>
              </a:rPr>
              <a:t>IMG07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Tech X · 기술에 대한 관심이 교류로 이어진 경험</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GPU 과제에 참여하며,</a:t>
            </a:r>
          </a:p>
          <a:p>
            <a:pPr algn="l">
              <a:spcAft>
                <a:spcPts val="400"/>
              </a:spcAft>
            </a:pPr>
            <a:r>
              <a:rPr sz="4000" b="1">
                <a:solidFill>
                  <a:srgbClr val="202522"/>
                </a:solidFill>
                <a:latin typeface="맑은 고딕"/>
                <a:ea typeface="맑은 고딕"/>
              </a:rPr>
              <a:t>동료의 관점도 배웠습니다</a:t>
            </a:r>
          </a:p>
        </p:txBody>
      </p:sp>
      <p:cxnSp>
        <p:nvCxnSpPr>
          <p:cNvPr id="4" name="Connector 3"/>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P06</a:t>
            </a:r>
          </a:p>
        </p:txBody>
      </p:sp>
      <p:sp>
        <p:nvSpPr>
          <p:cNvPr id="6" name="TextBox 5"/>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7" name="TextBox 6"/>
          <p:cNvSpPr txBox="1"/>
          <p:nvPr/>
        </p:nvSpPr>
        <p:spPr>
          <a:xfrm>
            <a:off x="685800" y="3154680"/>
            <a:ext cx="5486400" cy="804672"/>
          </a:xfrm>
          <a:prstGeom prst="rect">
            <a:avLst/>
          </a:prstGeom>
          <a:noFill/>
        </p:spPr>
        <p:txBody>
          <a:bodyPr wrap="square" lIns="0" rIns="0" tIns="0" bIns="0">
            <a:spAutoFit/>
          </a:bodyPr>
          <a:lstStyle/>
          <a:p>
            <a:pPr algn="l">
              <a:spcAft>
                <a:spcPts val="400"/>
              </a:spcAft>
            </a:pPr>
            <a:r>
              <a:rPr sz="2500" b="0">
                <a:solidFill>
                  <a:srgbClr val="202522"/>
                </a:solidFill>
                <a:latin typeface="맑은 고딕"/>
                <a:ea typeface="맑은 고딕"/>
              </a:rPr>
              <a:t>관심이 있어서 지원한 과제</a:t>
            </a:r>
          </a:p>
        </p:txBody>
      </p:sp>
      <p:sp>
        <p:nvSpPr>
          <p:cNvPr id="8" name="TextBox 7"/>
          <p:cNvSpPr txBox="1"/>
          <p:nvPr/>
        </p:nvSpPr>
        <p:spPr>
          <a:xfrm>
            <a:off x="685800" y="4078224"/>
            <a:ext cx="1609344" cy="347472"/>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참여 과제</a:t>
            </a:r>
          </a:p>
        </p:txBody>
      </p:sp>
      <p:sp>
        <p:nvSpPr>
          <p:cNvPr id="9" name="TextBox 8"/>
          <p:cNvSpPr txBox="1"/>
          <p:nvPr/>
        </p:nvSpPr>
        <p:spPr>
          <a:xfrm>
            <a:off x="2432304" y="4078224"/>
            <a:ext cx="3739896" cy="393192"/>
          </a:xfrm>
          <a:prstGeom prst="rect">
            <a:avLst/>
          </a:prstGeom>
          <a:noFill/>
        </p:spPr>
        <p:txBody>
          <a:bodyPr wrap="square" lIns="0" rIns="0" tIns="0" bIns="0">
            <a:spAutoFit/>
          </a:bodyPr>
          <a:lstStyle/>
          <a:p>
            <a:pPr algn="l">
              <a:spcAft>
                <a:spcPts val="400"/>
              </a:spcAft>
            </a:pPr>
            <a:r>
              <a:rPr sz="2300" b="1">
                <a:solidFill>
                  <a:srgbClr val="202522"/>
                </a:solidFill>
                <a:latin typeface="맑은 고딕"/>
                <a:ea typeface="맑은 고딕"/>
              </a:rPr>
              <a:t>GPU 자원 효율화</a:t>
            </a:r>
          </a:p>
        </p:txBody>
      </p:sp>
      <p:sp>
        <p:nvSpPr>
          <p:cNvPr id="10" name="TextBox 9"/>
          <p:cNvSpPr txBox="1"/>
          <p:nvPr/>
        </p:nvSpPr>
        <p:spPr>
          <a:xfrm>
            <a:off x="2432304" y="4471416"/>
            <a:ext cx="3739896" cy="457200"/>
          </a:xfrm>
          <a:prstGeom prst="rect">
            <a:avLst/>
          </a:prstGeom>
          <a:noFill/>
        </p:spPr>
        <p:txBody>
          <a:bodyPr wrap="square" lIns="0" rIns="0" tIns="0" bIns="0">
            <a:spAutoFit/>
          </a:bodyPr>
          <a:lstStyle/>
          <a:p>
            <a:pPr algn="l">
              <a:spcAft>
                <a:spcPts val="400"/>
              </a:spcAft>
            </a:pPr>
            <a:r>
              <a:rPr sz="1500" b="0">
                <a:solidFill>
                  <a:srgbClr val="626962"/>
                </a:solidFill>
                <a:latin typeface="맑은 고딕"/>
                <a:ea typeface="맑은 고딕"/>
              </a:rPr>
              <a:t>쿠버네티스(k8s) 환경</a:t>
            </a:r>
          </a:p>
        </p:txBody>
      </p:sp>
      <p:cxnSp>
        <p:nvCxnSpPr>
          <p:cNvPr id="11" name="Connector 10"/>
          <p:cNvCxnSpPr/>
          <p:nvPr/>
        </p:nvCxnSpPr>
        <p:spPr>
          <a:xfrm>
            <a:off x="685800" y="4869179"/>
            <a:ext cx="5486400"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85800" y="4928616"/>
            <a:ext cx="1609344" cy="347472"/>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알게 된 것</a:t>
            </a:r>
          </a:p>
        </p:txBody>
      </p:sp>
      <p:sp>
        <p:nvSpPr>
          <p:cNvPr id="13" name="TextBox 12"/>
          <p:cNvSpPr txBox="1"/>
          <p:nvPr/>
        </p:nvSpPr>
        <p:spPr>
          <a:xfrm>
            <a:off x="2432304" y="4928616"/>
            <a:ext cx="3739896" cy="393192"/>
          </a:xfrm>
          <a:prstGeom prst="rect">
            <a:avLst/>
          </a:prstGeom>
          <a:noFill/>
        </p:spPr>
        <p:txBody>
          <a:bodyPr wrap="square" lIns="0" rIns="0" tIns="0" bIns="0">
            <a:spAutoFit/>
          </a:bodyPr>
          <a:lstStyle/>
          <a:p>
            <a:pPr algn="l">
              <a:spcAft>
                <a:spcPts val="400"/>
              </a:spcAft>
            </a:pPr>
            <a:r>
              <a:rPr sz="2300" b="1">
                <a:solidFill>
                  <a:srgbClr val="202522"/>
                </a:solidFill>
                <a:latin typeface="맑은 고딕"/>
                <a:ea typeface="맑은 고딕"/>
              </a:rPr>
              <a:t>다른 부서의 관점</a:t>
            </a:r>
          </a:p>
        </p:txBody>
      </p:sp>
      <p:sp>
        <p:nvSpPr>
          <p:cNvPr id="14" name="TextBox 13"/>
          <p:cNvSpPr txBox="1"/>
          <p:nvPr/>
        </p:nvSpPr>
        <p:spPr>
          <a:xfrm>
            <a:off x="2432304" y="5321807"/>
            <a:ext cx="3739896" cy="457200"/>
          </a:xfrm>
          <a:prstGeom prst="rect">
            <a:avLst/>
          </a:prstGeom>
          <a:noFill/>
        </p:spPr>
        <p:txBody>
          <a:bodyPr wrap="square" lIns="0" rIns="0" tIns="0" bIns="0">
            <a:spAutoFit/>
          </a:bodyPr>
          <a:lstStyle/>
          <a:p>
            <a:pPr algn="l">
              <a:spcAft>
                <a:spcPts val="400"/>
              </a:spcAft>
            </a:pPr>
            <a:r>
              <a:rPr sz="1500" b="0">
                <a:solidFill>
                  <a:srgbClr val="626962"/>
                </a:solidFill>
                <a:latin typeface="맑은 고딕"/>
                <a:ea typeface="맑은 고딕"/>
              </a:rPr>
              <a:t>함께 이야기하며 배우는 경험</a:t>
            </a:r>
          </a:p>
        </p:txBody>
      </p:sp>
      <p:sp>
        <p:nvSpPr>
          <p:cNvPr id="15" name="P06-asset-frame-IMG15"/>
          <p:cNvSpPr/>
          <p:nvPr/>
        </p:nvSpPr>
        <p:spPr>
          <a:xfrm>
            <a:off x="6629400" y="3154680"/>
            <a:ext cx="4846320" cy="2651760"/>
          </a:xfrm>
          <a:prstGeom prst="rect">
            <a:avLst/>
          </a:prstGeom>
          <a:solidFill>
            <a:srgbClr val="FFFFFF"/>
          </a:solidFill>
          <a:ln w="15240">
            <a:solidFill>
              <a:srgbClr val="AAB8B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P06-asset-instruction-IMG15"/>
          <p:cNvSpPr txBox="1"/>
          <p:nvPr/>
        </p:nvSpPr>
        <p:spPr>
          <a:xfrm>
            <a:off x="6775704" y="3520440"/>
            <a:ext cx="4553712" cy="329184"/>
          </a:xfrm>
          <a:prstGeom prst="rect">
            <a:avLst/>
          </a:prstGeom>
          <a:noFill/>
        </p:spPr>
        <p:txBody>
          <a:bodyPr wrap="square" lIns="0" rIns="0" tIns="0" bIns="0">
            <a:spAutoFit/>
          </a:bodyPr>
          <a:lstStyle/>
          <a:p>
            <a:pPr algn="ctr">
              <a:spcAft>
                <a:spcPts val="400"/>
              </a:spcAft>
            </a:pPr>
            <a:r>
              <a:rPr sz="1600" b="1">
                <a:solidFill>
                  <a:srgbClr val="176B5B"/>
                </a:solidFill>
                <a:latin typeface="맑은 고딕"/>
                <a:ea typeface="맑은 고딕"/>
              </a:rPr>
              <a:t>자료 삽입</a:t>
            </a:r>
          </a:p>
        </p:txBody>
      </p:sp>
      <p:sp>
        <p:nvSpPr>
          <p:cNvPr id="17" name="P06-asset-label-IMG15"/>
          <p:cNvSpPr txBox="1"/>
          <p:nvPr/>
        </p:nvSpPr>
        <p:spPr>
          <a:xfrm>
            <a:off x="6775704" y="4087368"/>
            <a:ext cx="4553712" cy="950976"/>
          </a:xfrm>
          <a:prstGeom prst="rect">
            <a:avLst/>
          </a:prstGeom>
          <a:noFill/>
        </p:spPr>
        <p:txBody>
          <a:bodyPr wrap="square" lIns="0" rIns="0" tIns="0" bIns="0">
            <a:spAutoFit/>
          </a:bodyPr>
          <a:lstStyle/>
          <a:p>
            <a:pPr algn="ctr">
              <a:spcAft>
                <a:spcPts val="400"/>
              </a:spcAft>
            </a:pPr>
            <a:r>
              <a:rPr sz="2200" b="1">
                <a:solidFill>
                  <a:srgbClr val="202522"/>
                </a:solidFill>
                <a:latin typeface="맑은 고딕"/>
                <a:ea typeface="맑은 고딕"/>
              </a:rPr>
              <a:t>k8s GPU 과제</a:t>
            </a:r>
          </a:p>
          <a:p>
            <a:pPr algn="ctr">
              <a:spcAft>
                <a:spcPts val="400"/>
              </a:spcAft>
            </a:pPr>
            <a:r>
              <a:rPr sz="2200" b="1">
                <a:solidFill>
                  <a:srgbClr val="202522"/>
                </a:solidFill>
                <a:latin typeface="맑은 고딕"/>
                <a:ea typeface="맑은 고딕"/>
              </a:rPr>
              <a:t>표지 또는 논의 자료</a:t>
            </a:r>
          </a:p>
        </p:txBody>
      </p:sp>
      <p:sp>
        <p:nvSpPr>
          <p:cNvPr id="18" name="P06-asset-id-IMG15"/>
          <p:cNvSpPr txBox="1"/>
          <p:nvPr/>
        </p:nvSpPr>
        <p:spPr>
          <a:xfrm>
            <a:off x="6775704" y="5340096"/>
            <a:ext cx="4553712" cy="274320"/>
          </a:xfrm>
          <a:prstGeom prst="rect">
            <a:avLst/>
          </a:prstGeom>
          <a:noFill/>
        </p:spPr>
        <p:txBody>
          <a:bodyPr wrap="square" lIns="0" rIns="0" tIns="0" bIns="0">
            <a:spAutoFit/>
          </a:bodyPr>
          <a:lstStyle/>
          <a:p>
            <a:pPr algn="ctr">
              <a:spcAft>
                <a:spcPts val="400"/>
              </a:spcAft>
            </a:pPr>
            <a:r>
              <a:rPr sz="1400" b="0">
                <a:solidFill>
                  <a:srgbClr val="626962"/>
                </a:solidFill>
                <a:latin typeface="맑은 고딕"/>
                <a:ea typeface="맑은 고딕"/>
              </a:rPr>
              <a:t>IMG15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Tech X의 대표 사례 IAP · AI를 운영에 활용하다</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로그 알림 업무를</a:t>
            </a:r>
          </a:p>
          <a:p>
            <a:pPr algn="l">
              <a:spcAft>
                <a:spcPts val="400"/>
              </a:spcAft>
            </a:pPr>
            <a:r>
              <a:rPr sz="4000" b="1">
                <a:solidFill>
                  <a:srgbClr val="202522"/>
                </a:solidFill>
                <a:latin typeface="맑은 고딕"/>
                <a:ea typeface="맑은 고딕"/>
              </a:rPr>
              <a:t>자동화했습니다</a:t>
            </a:r>
          </a:p>
        </p:txBody>
      </p:sp>
      <p:cxnSp>
        <p:nvCxnSpPr>
          <p:cNvPr id="4" name="Connector 3"/>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P07</a:t>
            </a:r>
          </a:p>
        </p:txBody>
      </p:sp>
      <p:sp>
        <p:nvSpPr>
          <p:cNvPr id="6" name="TextBox 5"/>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7" name="TextBox 6"/>
          <p:cNvSpPr txBox="1"/>
          <p:nvPr/>
        </p:nvSpPr>
        <p:spPr>
          <a:xfrm>
            <a:off x="685800" y="3154680"/>
            <a:ext cx="5486400" cy="804672"/>
          </a:xfrm>
          <a:prstGeom prst="rect">
            <a:avLst/>
          </a:prstGeom>
          <a:noFill/>
        </p:spPr>
        <p:txBody>
          <a:bodyPr wrap="square" lIns="0" rIns="0" tIns="0" bIns="0">
            <a:spAutoFit/>
          </a:bodyPr>
          <a:lstStyle/>
          <a:p>
            <a:pPr algn="l">
              <a:spcAft>
                <a:spcPts val="400"/>
              </a:spcAft>
            </a:pPr>
            <a:r>
              <a:rPr sz="2500" b="0">
                <a:solidFill>
                  <a:srgbClr val="202522"/>
                </a:solidFill>
                <a:latin typeface="맑은 고딕"/>
                <a:ea typeface="맑은 고딕"/>
              </a:rPr>
              <a:t>로그 패턴 감지 → 메신저 동보</a:t>
            </a:r>
          </a:p>
          <a:p>
            <a:pPr algn="l">
              <a:spcAft>
                <a:spcPts val="400"/>
              </a:spcAft>
            </a:pPr>
            <a:r>
              <a:rPr sz="2500" b="0">
                <a:solidFill>
                  <a:srgbClr val="202522"/>
                </a:solidFill>
                <a:latin typeface="맑은 고딕"/>
                <a:ea typeface="맑은 고딕"/>
              </a:rPr>
              <a:t>해당 알림 수작업 대체</a:t>
            </a:r>
          </a:p>
        </p:txBody>
      </p:sp>
      <p:sp>
        <p:nvSpPr>
          <p:cNvPr id="8" name="TextBox 7"/>
          <p:cNvSpPr txBox="1"/>
          <p:nvPr/>
        </p:nvSpPr>
        <p:spPr>
          <a:xfrm>
            <a:off x="685800" y="4078224"/>
            <a:ext cx="1609344" cy="347472"/>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6월</a:t>
            </a:r>
          </a:p>
        </p:txBody>
      </p:sp>
      <p:sp>
        <p:nvSpPr>
          <p:cNvPr id="9" name="TextBox 8"/>
          <p:cNvSpPr txBox="1"/>
          <p:nvPr/>
        </p:nvSpPr>
        <p:spPr>
          <a:xfrm>
            <a:off x="2432304" y="4078224"/>
            <a:ext cx="3739896" cy="393192"/>
          </a:xfrm>
          <a:prstGeom prst="rect">
            <a:avLst/>
          </a:prstGeom>
          <a:noFill/>
        </p:spPr>
        <p:txBody>
          <a:bodyPr wrap="square" lIns="0" rIns="0" tIns="0" bIns="0">
            <a:spAutoFit/>
          </a:bodyPr>
          <a:lstStyle/>
          <a:p>
            <a:pPr algn="l">
              <a:spcAft>
                <a:spcPts val="400"/>
              </a:spcAft>
            </a:pPr>
            <a:r>
              <a:rPr sz="2300" b="1">
                <a:solidFill>
                  <a:srgbClr val="202522"/>
                </a:solidFill>
                <a:latin typeface="맑은 고딕"/>
                <a:ea typeface="맑은 고딕"/>
              </a:rPr>
              <a:t>팀 소개 세미나</a:t>
            </a:r>
          </a:p>
        </p:txBody>
      </p:sp>
      <p:sp>
        <p:nvSpPr>
          <p:cNvPr id="10" name="TextBox 9"/>
          <p:cNvSpPr txBox="1"/>
          <p:nvPr/>
        </p:nvSpPr>
        <p:spPr>
          <a:xfrm>
            <a:off x="2432304" y="4471416"/>
            <a:ext cx="3739896" cy="457200"/>
          </a:xfrm>
          <a:prstGeom prst="rect">
            <a:avLst/>
          </a:prstGeom>
          <a:noFill/>
        </p:spPr>
        <p:txBody>
          <a:bodyPr wrap="square" lIns="0" rIns="0" tIns="0" bIns="0">
            <a:spAutoFit/>
          </a:bodyPr>
          <a:lstStyle/>
          <a:p>
            <a:pPr algn="l">
              <a:spcAft>
                <a:spcPts val="400"/>
              </a:spcAft>
            </a:pPr>
            <a:r>
              <a:rPr sz="1500" b="0">
                <a:solidFill>
                  <a:srgbClr val="626962"/>
                </a:solidFill>
                <a:latin typeface="맑은 고딕"/>
                <a:ea typeface="맑은 고딕"/>
              </a:rPr>
              <a:t>개발한 내용 소개</a:t>
            </a:r>
          </a:p>
        </p:txBody>
      </p:sp>
      <p:cxnSp>
        <p:nvCxnSpPr>
          <p:cNvPr id="11" name="Connector 10"/>
          <p:cNvCxnSpPr/>
          <p:nvPr/>
        </p:nvCxnSpPr>
        <p:spPr>
          <a:xfrm>
            <a:off x="685800" y="4869179"/>
            <a:ext cx="5486400"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85800" y="4928616"/>
            <a:ext cx="1609344" cy="347472"/>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7월</a:t>
            </a:r>
          </a:p>
        </p:txBody>
      </p:sp>
      <p:sp>
        <p:nvSpPr>
          <p:cNvPr id="13" name="TextBox 12"/>
          <p:cNvSpPr txBox="1"/>
          <p:nvPr/>
        </p:nvSpPr>
        <p:spPr>
          <a:xfrm>
            <a:off x="2432304" y="4928616"/>
            <a:ext cx="3739896" cy="393192"/>
          </a:xfrm>
          <a:prstGeom prst="rect">
            <a:avLst/>
          </a:prstGeom>
          <a:noFill/>
        </p:spPr>
        <p:txBody>
          <a:bodyPr wrap="square" lIns="0" rIns="0" tIns="0" bIns="0">
            <a:spAutoFit/>
          </a:bodyPr>
          <a:lstStyle/>
          <a:p>
            <a:pPr algn="l">
              <a:spcAft>
                <a:spcPts val="400"/>
              </a:spcAft>
            </a:pPr>
            <a:r>
              <a:rPr sz="2300" b="1">
                <a:solidFill>
                  <a:srgbClr val="202522"/>
                </a:solidFill>
                <a:latin typeface="맑은 고딕"/>
                <a:ea typeface="맑은 고딕"/>
              </a:rPr>
              <a:t>실무 담당자 실습</a:t>
            </a:r>
          </a:p>
        </p:txBody>
      </p:sp>
      <p:sp>
        <p:nvSpPr>
          <p:cNvPr id="14" name="TextBox 13"/>
          <p:cNvSpPr txBox="1"/>
          <p:nvPr/>
        </p:nvSpPr>
        <p:spPr>
          <a:xfrm>
            <a:off x="2432304" y="5321807"/>
            <a:ext cx="3739896" cy="457200"/>
          </a:xfrm>
          <a:prstGeom prst="rect">
            <a:avLst/>
          </a:prstGeom>
          <a:noFill/>
        </p:spPr>
        <p:txBody>
          <a:bodyPr wrap="square" lIns="0" rIns="0" tIns="0" bIns="0">
            <a:spAutoFit/>
          </a:bodyPr>
          <a:lstStyle/>
          <a:p>
            <a:pPr algn="l">
              <a:spcAft>
                <a:spcPts val="400"/>
              </a:spcAft>
            </a:pPr>
            <a:r>
              <a:rPr sz="1500" b="0">
                <a:solidFill>
                  <a:srgbClr val="626962"/>
                </a:solidFill>
                <a:latin typeface="맑은 고딕"/>
                <a:ea typeface="맑은 고딕"/>
              </a:rPr>
              <a:t>에이전트 등록 담당자 25명 대상</a:t>
            </a:r>
          </a:p>
        </p:txBody>
      </p:sp>
      <p:sp>
        <p:nvSpPr>
          <p:cNvPr id="15" name="P07-asset-frame-IMG08"/>
          <p:cNvSpPr/>
          <p:nvPr/>
        </p:nvSpPr>
        <p:spPr>
          <a:xfrm>
            <a:off x="6629400" y="3154680"/>
            <a:ext cx="2350008" cy="2651760"/>
          </a:xfrm>
          <a:prstGeom prst="rect">
            <a:avLst/>
          </a:prstGeom>
          <a:solidFill>
            <a:srgbClr val="FFFFFF"/>
          </a:solidFill>
          <a:ln w="15240">
            <a:solidFill>
              <a:srgbClr val="AAB8B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P07-asset-instruction-IMG08"/>
          <p:cNvSpPr txBox="1"/>
          <p:nvPr/>
        </p:nvSpPr>
        <p:spPr>
          <a:xfrm>
            <a:off x="6775704" y="3520440"/>
            <a:ext cx="2057400" cy="329184"/>
          </a:xfrm>
          <a:prstGeom prst="rect">
            <a:avLst/>
          </a:prstGeom>
          <a:noFill/>
        </p:spPr>
        <p:txBody>
          <a:bodyPr wrap="square" lIns="0" rIns="0" tIns="0" bIns="0">
            <a:spAutoFit/>
          </a:bodyPr>
          <a:lstStyle/>
          <a:p>
            <a:pPr algn="ctr">
              <a:spcAft>
                <a:spcPts val="400"/>
              </a:spcAft>
            </a:pPr>
            <a:r>
              <a:rPr sz="1600" b="1">
                <a:solidFill>
                  <a:srgbClr val="176B5B"/>
                </a:solidFill>
                <a:latin typeface="맑은 고딕"/>
                <a:ea typeface="맑은 고딕"/>
              </a:rPr>
              <a:t>자료 삽입</a:t>
            </a:r>
          </a:p>
        </p:txBody>
      </p:sp>
      <p:sp>
        <p:nvSpPr>
          <p:cNvPr id="17" name="P07-asset-label-IMG08"/>
          <p:cNvSpPr txBox="1"/>
          <p:nvPr/>
        </p:nvSpPr>
        <p:spPr>
          <a:xfrm>
            <a:off x="6775704" y="4087368"/>
            <a:ext cx="2057400" cy="950976"/>
          </a:xfrm>
          <a:prstGeom prst="rect">
            <a:avLst/>
          </a:prstGeom>
          <a:noFill/>
        </p:spPr>
        <p:txBody>
          <a:bodyPr wrap="square" lIns="0" rIns="0" tIns="0" bIns="0">
            <a:spAutoFit/>
          </a:bodyPr>
          <a:lstStyle/>
          <a:p>
            <a:pPr algn="ctr">
              <a:spcAft>
                <a:spcPts val="400"/>
              </a:spcAft>
            </a:pPr>
            <a:r>
              <a:rPr sz="2000" b="1">
                <a:solidFill>
                  <a:srgbClr val="202522"/>
                </a:solidFill>
                <a:latin typeface="맑은 고딕"/>
                <a:ea typeface="맑은 고딕"/>
              </a:rPr>
              <a:t>로그 알림</a:t>
            </a:r>
          </a:p>
          <a:p>
            <a:pPr algn="ctr">
              <a:spcAft>
                <a:spcPts val="400"/>
              </a:spcAft>
            </a:pPr>
            <a:r>
              <a:rPr sz="2000" b="1">
                <a:solidFill>
                  <a:srgbClr val="202522"/>
                </a:solidFill>
                <a:latin typeface="맑은 고딕"/>
                <a:ea typeface="맑은 고딕"/>
              </a:rPr>
              <a:t>실제 기능 화면</a:t>
            </a:r>
          </a:p>
        </p:txBody>
      </p:sp>
      <p:sp>
        <p:nvSpPr>
          <p:cNvPr id="18" name="P07-asset-id-IMG08"/>
          <p:cNvSpPr txBox="1"/>
          <p:nvPr/>
        </p:nvSpPr>
        <p:spPr>
          <a:xfrm>
            <a:off x="6775704" y="5340096"/>
            <a:ext cx="2057400" cy="274320"/>
          </a:xfrm>
          <a:prstGeom prst="rect">
            <a:avLst/>
          </a:prstGeom>
          <a:noFill/>
        </p:spPr>
        <p:txBody>
          <a:bodyPr wrap="square" lIns="0" rIns="0" tIns="0" bIns="0">
            <a:spAutoFit/>
          </a:bodyPr>
          <a:lstStyle/>
          <a:p>
            <a:pPr algn="ctr">
              <a:spcAft>
                <a:spcPts val="400"/>
              </a:spcAft>
            </a:pPr>
            <a:r>
              <a:rPr sz="1400" b="0">
                <a:solidFill>
                  <a:srgbClr val="626962"/>
                </a:solidFill>
                <a:latin typeface="맑은 고딕"/>
                <a:ea typeface="맑은 고딕"/>
              </a:rPr>
              <a:t>IMG08</a:t>
            </a:r>
          </a:p>
        </p:txBody>
      </p:sp>
      <p:sp>
        <p:nvSpPr>
          <p:cNvPr id="19" name="P07-asset-frame-IMG10"/>
          <p:cNvSpPr/>
          <p:nvPr/>
        </p:nvSpPr>
        <p:spPr>
          <a:xfrm>
            <a:off x="9125712" y="3154680"/>
            <a:ext cx="2350008" cy="2651760"/>
          </a:xfrm>
          <a:prstGeom prst="rect">
            <a:avLst/>
          </a:prstGeom>
          <a:solidFill>
            <a:srgbClr val="FFFFFF"/>
          </a:solidFill>
          <a:ln w="15240">
            <a:solidFill>
              <a:srgbClr val="AAB8B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P07-asset-instruction-IMG10"/>
          <p:cNvSpPr txBox="1"/>
          <p:nvPr/>
        </p:nvSpPr>
        <p:spPr>
          <a:xfrm>
            <a:off x="9272016" y="3520440"/>
            <a:ext cx="2057400" cy="329184"/>
          </a:xfrm>
          <a:prstGeom prst="rect">
            <a:avLst/>
          </a:prstGeom>
          <a:noFill/>
        </p:spPr>
        <p:txBody>
          <a:bodyPr wrap="square" lIns="0" rIns="0" tIns="0" bIns="0">
            <a:spAutoFit/>
          </a:bodyPr>
          <a:lstStyle/>
          <a:p>
            <a:pPr algn="ctr">
              <a:spcAft>
                <a:spcPts val="400"/>
              </a:spcAft>
            </a:pPr>
            <a:r>
              <a:rPr sz="1600" b="1">
                <a:solidFill>
                  <a:srgbClr val="176B5B"/>
                </a:solidFill>
                <a:latin typeface="맑은 고딕"/>
                <a:ea typeface="맑은 고딕"/>
              </a:rPr>
              <a:t>자료 삽입</a:t>
            </a:r>
          </a:p>
        </p:txBody>
      </p:sp>
      <p:sp>
        <p:nvSpPr>
          <p:cNvPr id="21" name="P07-asset-label-IMG10"/>
          <p:cNvSpPr txBox="1"/>
          <p:nvPr/>
        </p:nvSpPr>
        <p:spPr>
          <a:xfrm>
            <a:off x="9272016" y="4087368"/>
            <a:ext cx="2057400" cy="950976"/>
          </a:xfrm>
          <a:prstGeom prst="rect">
            <a:avLst/>
          </a:prstGeom>
          <a:noFill/>
        </p:spPr>
        <p:txBody>
          <a:bodyPr wrap="square" lIns="0" rIns="0" tIns="0" bIns="0">
            <a:spAutoFit/>
          </a:bodyPr>
          <a:lstStyle/>
          <a:p>
            <a:pPr algn="ctr">
              <a:spcAft>
                <a:spcPts val="400"/>
              </a:spcAft>
            </a:pPr>
            <a:r>
              <a:rPr sz="2000" b="1">
                <a:solidFill>
                  <a:srgbClr val="202522"/>
                </a:solidFill>
                <a:latin typeface="맑은 고딕"/>
                <a:ea typeface="맑은 고딕"/>
              </a:rPr>
              <a:t>실무 담당자</a:t>
            </a:r>
          </a:p>
          <a:p>
            <a:pPr algn="ctr">
              <a:spcAft>
                <a:spcPts val="400"/>
              </a:spcAft>
            </a:pPr>
            <a:r>
              <a:rPr sz="2000" b="1">
                <a:solidFill>
                  <a:srgbClr val="202522"/>
                </a:solidFill>
                <a:latin typeface="맑은 고딕"/>
                <a:ea typeface="맑은 고딕"/>
              </a:rPr>
              <a:t>실습 사진·교안</a:t>
            </a:r>
          </a:p>
        </p:txBody>
      </p:sp>
      <p:sp>
        <p:nvSpPr>
          <p:cNvPr id="22" name="P07-asset-id-IMG10"/>
          <p:cNvSpPr txBox="1"/>
          <p:nvPr/>
        </p:nvSpPr>
        <p:spPr>
          <a:xfrm>
            <a:off x="9272016" y="5340096"/>
            <a:ext cx="2057400" cy="274320"/>
          </a:xfrm>
          <a:prstGeom prst="rect">
            <a:avLst/>
          </a:prstGeom>
          <a:noFill/>
        </p:spPr>
        <p:txBody>
          <a:bodyPr wrap="square" lIns="0" rIns="0" tIns="0" bIns="0">
            <a:spAutoFit/>
          </a:bodyPr>
          <a:lstStyle/>
          <a:p>
            <a:pPr algn="ctr">
              <a:spcAft>
                <a:spcPts val="400"/>
              </a:spcAft>
            </a:pPr>
            <a:r>
              <a:rPr sz="1400" b="0">
                <a:solidFill>
                  <a:srgbClr val="626962"/>
                </a:solidFill>
                <a:latin typeface="맑은 고딕"/>
                <a:ea typeface="맑은 고딕"/>
              </a:rPr>
              <a:t>IMG10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AI 4 AI 녹화 공유 · 배울 기회를 더 많은 동료에게</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그날 못 들은 동료도</a:t>
            </a:r>
          </a:p>
          <a:p>
            <a:pPr algn="l">
              <a:spcAft>
                <a:spcPts val="400"/>
              </a:spcAft>
            </a:pPr>
            <a:r>
              <a:rPr sz="4000" b="1">
                <a:solidFill>
                  <a:srgbClr val="202522"/>
                </a:solidFill>
                <a:latin typeface="맑은 고딕"/>
                <a:ea typeface="맑은 고딕"/>
              </a:rPr>
              <a:t>다시 볼 수 있게</a:t>
            </a:r>
          </a:p>
        </p:txBody>
      </p:sp>
      <p:cxnSp>
        <p:nvCxnSpPr>
          <p:cNvPr id="4" name="Connector 3"/>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P08</a:t>
            </a:r>
          </a:p>
        </p:txBody>
      </p:sp>
      <p:sp>
        <p:nvSpPr>
          <p:cNvPr id="6" name="TextBox 5"/>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7" name="TextBox 6"/>
          <p:cNvSpPr txBox="1"/>
          <p:nvPr/>
        </p:nvSpPr>
        <p:spPr>
          <a:xfrm>
            <a:off x="685800" y="3154680"/>
            <a:ext cx="5486400" cy="804672"/>
          </a:xfrm>
          <a:prstGeom prst="rect">
            <a:avLst/>
          </a:prstGeom>
          <a:noFill/>
        </p:spPr>
        <p:txBody>
          <a:bodyPr wrap="square" lIns="0" rIns="0" tIns="0" bIns="0">
            <a:spAutoFit/>
          </a:bodyPr>
          <a:lstStyle/>
          <a:p>
            <a:pPr algn="l">
              <a:spcAft>
                <a:spcPts val="400"/>
              </a:spcAft>
            </a:pPr>
            <a:r>
              <a:rPr sz="2500" b="0">
                <a:solidFill>
                  <a:srgbClr val="202522"/>
                </a:solidFill>
                <a:latin typeface="맑은 고딕"/>
                <a:ea typeface="맑은 고딕"/>
              </a:rPr>
              <a:t>세미나를 녹화해 교육 플랫폼에 공유</a:t>
            </a:r>
          </a:p>
        </p:txBody>
      </p:sp>
      <p:sp>
        <p:nvSpPr>
          <p:cNvPr id="8" name="TextBox 7"/>
          <p:cNvSpPr txBox="1"/>
          <p:nvPr/>
        </p:nvSpPr>
        <p:spPr>
          <a:xfrm>
            <a:off x="685800" y="4078224"/>
            <a:ext cx="1609344" cy="347472"/>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자료</a:t>
            </a:r>
          </a:p>
        </p:txBody>
      </p:sp>
      <p:sp>
        <p:nvSpPr>
          <p:cNvPr id="9" name="TextBox 8"/>
          <p:cNvSpPr txBox="1"/>
          <p:nvPr/>
        </p:nvSpPr>
        <p:spPr>
          <a:xfrm>
            <a:off x="2432304" y="4078224"/>
            <a:ext cx="3739896" cy="393192"/>
          </a:xfrm>
          <a:prstGeom prst="rect">
            <a:avLst/>
          </a:prstGeom>
          <a:noFill/>
        </p:spPr>
        <p:txBody>
          <a:bodyPr wrap="square" lIns="0" rIns="0" tIns="0" bIns="0">
            <a:spAutoFit/>
          </a:bodyPr>
          <a:lstStyle/>
          <a:p>
            <a:pPr algn="l">
              <a:spcAft>
                <a:spcPts val="400"/>
              </a:spcAft>
            </a:pPr>
            <a:r>
              <a:rPr sz="2300" b="1">
                <a:solidFill>
                  <a:srgbClr val="202522"/>
                </a:solidFill>
                <a:latin typeface="맑은 고딕"/>
                <a:ea typeface="맑은 고딕"/>
              </a:rPr>
              <a:t>세미나 녹화본</a:t>
            </a:r>
          </a:p>
        </p:txBody>
      </p:sp>
      <p:sp>
        <p:nvSpPr>
          <p:cNvPr id="10" name="TextBox 9"/>
          <p:cNvSpPr txBox="1"/>
          <p:nvPr/>
        </p:nvSpPr>
        <p:spPr>
          <a:xfrm>
            <a:off x="2432304" y="4471416"/>
            <a:ext cx="3739896" cy="457200"/>
          </a:xfrm>
          <a:prstGeom prst="rect">
            <a:avLst/>
          </a:prstGeom>
          <a:noFill/>
        </p:spPr>
        <p:txBody>
          <a:bodyPr wrap="square" lIns="0" rIns="0" tIns="0" bIns="0">
            <a:spAutoFit/>
          </a:bodyPr>
          <a:lstStyle/>
          <a:p>
            <a:pPr algn="l">
              <a:spcAft>
                <a:spcPts val="400"/>
              </a:spcAft>
            </a:pPr>
            <a:r>
              <a:rPr sz="1500" b="0">
                <a:solidFill>
                  <a:srgbClr val="626962"/>
                </a:solidFill>
                <a:latin typeface="맑은 고딕"/>
                <a:ea typeface="맑은 고딕"/>
              </a:rPr>
              <a:t>그날 참석하지 못했어도</a:t>
            </a:r>
          </a:p>
        </p:txBody>
      </p:sp>
      <p:cxnSp>
        <p:nvCxnSpPr>
          <p:cNvPr id="11" name="Connector 10"/>
          <p:cNvCxnSpPr/>
          <p:nvPr/>
        </p:nvCxnSpPr>
        <p:spPr>
          <a:xfrm>
            <a:off x="685800" y="4869179"/>
            <a:ext cx="5486400"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85800" y="4928616"/>
            <a:ext cx="1609344" cy="347472"/>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공유 대상</a:t>
            </a:r>
          </a:p>
        </p:txBody>
      </p:sp>
      <p:sp>
        <p:nvSpPr>
          <p:cNvPr id="13" name="TextBox 12"/>
          <p:cNvSpPr txBox="1"/>
          <p:nvPr/>
        </p:nvSpPr>
        <p:spPr>
          <a:xfrm>
            <a:off x="2432304" y="4928616"/>
            <a:ext cx="3739896" cy="393192"/>
          </a:xfrm>
          <a:prstGeom prst="rect">
            <a:avLst/>
          </a:prstGeom>
          <a:noFill/>
        </p:spPr>
        <p:txBody>
          <a:bodyPr wrap="square" lIns="0" rIns="0" tIns="0" bIns="0">
            <a:spAutoFit/>
          </a:bodyPr>
          <a:lstStyle/>
          <a:p>
            <a:pPr algn="l">
              <a:spcAft>
                <a:spcPts val="400"/>
              </a:spcAft>
            </a:pPr>
            <a:r>
              <a:rPr sz="2300" b="1">
                <a:solidFill>
                  <a:srgbClr val="202522"/>
                </a:solidFill>
                <a:latin typeface="맑은 고딕"/>
                <a:ea typeface="맑은 고딕"/>
              </a:rPr>
              <a:t>센터원</a:t>
            </a:r>
          </a:p>
        </p:txBody>
      </p:sp>
      <p:sp>
        <p:nvSpPr>
          <p:cNvPr id="14" name="TextBox 13"/>
          <p:cNvSpPr txBox="1"/>
          <p:nvPr/>
        </p:nvSpPr>
        <p:spPr>
          <a:xfrm>
            <a:off x="2432304" y="5321807"/>
            <a:ext cx="3739896" cy="457200"/>
          </a:xfrm>
          <a:prstGeom prst="rect">
            <a:avLst/>
          </a:prstGeom>
          <a:noFill/>
        </p:spPr>
        <p:txBody>
          <a:bodyPr wrap="square" lIns="0" rIns="0" tIns="0" bIns="0">
            <a:spAutoFit/>
          </a:bodyPr>
          <a:lstStyle/>
          <a:p>
            <a:pPr algn="l">
              <a:spcAft>
                <a:spcPts val="400"/>
              </a:spcAft>
            </a:pPr>
            <a:r>
              <a:rPr sz="1500" b="0">
                <a:solidFill>
                  <a:srgbClr val="626962"/>
                </a:solidFill>
                <a:latin typeface="맑은 고딕"/>
                <a:ea typeface="맑은 고딕"/>
              </a:rPr>
              <a:t>나중에 다시 찾아볼 수 있게</a:t>
            </a:r>
          </a:p>
        </p:txBody>
      </p:sp>
      <p:sp>
        <p:nvSpPr>
          <p:cNvPr id="15" name="P08-asset-frame-IMG13"/>
          <p:cNvSpPr/>
          <p:nvPr/>
        </p:nvSpPr>
        <p:spPr>
          <a:xfrm>
            <a:off x="6629400" y="3154680"/>
            <a:ext cx="4846320" cy="2651760"/>
          </a:xfrm>
          <a:prstGeom prst="rect">
            <a:avLst/>
          </a:prstGeom>
          <a:solidFill>
            <a:srgbClr val="FFFFFF"/>
          </a:solidFill>
          <a:ln w="15240">
            <a:solidFill>
              <a:srgbClr val="AAB8B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P08-asset-instruction-IMG13"/>
          <p:cNvSpPr txBox="1"/>
          <p:nvPr/>
        </p:nvSpPr>
        <p:spPr>
          <a:xfrm>
            <a:off x="6775704" y="3520440"/>
            <a:ext cx="4553712" cy="329184"/>
          </a:xfrm>
          <a:prstGeom prst="rect">
            <a:avLst/>
          </a:prstGeom>
          <a:noFill/>
        </p:spPr>
        <p:txBody>
          <a:bodyPr wrap="square" lIns="0" rIns="0" tIns="0" bIns="0">
            <a:spAutoFit/>
          </a:bodyPr>
          <a:lstStyle/>
          <a:p>
            <a:pPr algn="ctr">
              <a:spcAft>
                <a:spcPts val="400"/>
              </a:spcAft>
            </a:pPr>
            <a:r>
              <a:rPr sz="1600" b="1">
                <a:solidFill>
                  <a:srgbClr val="176B5B"/>
                </a:solidFill>
                <a:latin typeface="맑은 고딕"/>
                <a:ea typeface="맑은 고딕"/>
              </a:rPr>
              <a:t>자료 삽입</a:t>
            </a:r>
          </a:p>
        </p:txBody>
      </p:sp>
      <p:sp>
        <p:nvSpPr>
          <p:cNvPr id="17" name="P08-asset-label-IMG13"/>
          <p:cNvSpPr txBox="1"/>
          <p:nvPr/>
        </p:nvSpPr>
        <p:spPr>
          <a:xfrm>
            <a:off x="6775704" y="4087368"/>
            <a:ext cx="4553712" cy="950976"/>
          </a:xfrm>
          <a:prstGeom prst="rect">
            <a:avLst/>
          </a:prstGeom>
          <a:noFill/>
        </p:spPr>
        <p:txBody>
          <a:bodyPr wrap="square" lIns="0" rIns="0" tIns="0" bIns="0">
            <a:spAutoFit/>
          </a:bodyPr>
          <a:lstStyle/>
          <a:p>
            <a:pPr algn="ctr">
              <a:spcAft>
                <a:spcPts val="400"/>
              </a:spcAft>
            </a:pPr>
            <a:r>
              <a:rPr sz="2200" b="1">
                <a:solidFill>
                  <a:srgbClr val="202522"/>
                </a:solidFill>
                <a:latin typeface="맑은 고딕"/>
                <a:ea typeface="맑은 고딕"/>
              </a:rPr>
              <a:t>교육 플랫폼</a:t>
            </a:r>
          </a:p>
          <a:p>
            <a:pPr algn="ctr">
              <a:spcAft>
                <a:spcPts val="400"/>
              </a:spcAft>
            </a:pPr>
            <a:r>
              <a:rPr sz="2200" b="1">
                <a:solidFill>
                  <a:srgbClr val="202522"/>
                </a:solidFill>
                <a:latin typeface="맑은 고딕"/>
                <a:ea typeface="맑은 고딕"/>
              </a:rPr>
              <a:t>녹화 목록·재생 화면</a:t>
            </a:r>
          </a:p>
        </p:txBody>
      </p:sp>
      <p:sp>
        <p:nvSpPr>
          <p:cNvPr id="18" name="P08-asset-id-IMG13"/>
          <p:cNvSpPr txBox="1"/>
          <p:nvPr/>
        </p:nvSpPr>
        <p:spPr>
          <a:xfrm>
            <a:off x="6775704" y="5340096"/>
            <a:ext cx="4553712" cy="274320"/>
          </a:xfrm>
          <a:prstGeom prst="rect">
            <a:avLst/>
          </a:prstGeom>
          <a:noFill/>
        </p:spPr>
        <p:txBody>
          <a:bodyPr wrap="square" lIns="0" rIns="0" tIns="0" bIns="0">
            <a:spAutoFit/>
          </a:bodyPr>
          <a:lstStyle/>
          <a:p>
            <a:pPr algn="ctr">
              <a:spcAft>
                <a:spcPts val="400"/>
              </a:spcAft>
            </a:pPr>
            <a:r>
              <a:rPr sz="1400" b="0">
                <a:solidFill>
                  <a:srgbClr val="626962"/>
                </a:solidFill>
                <a:latin typeface="맑은 고딕"/>
                <a:ea typeface="맑은 고딕"/>
              </a:rPr>
              <a:t>IMG13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다른 조직에서도 · 전문성을 교류할 기회와 인정</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참여할 기회와</a:t>
            </a:r>
          </a:p>
          <a:p>
            <a:pPr algn="l">
              <a:spcAft>
                <a:spcPts val="400"/>
              </a:spcAft>
            </a:pPr>
            <a:r>
              <a:rPr sz="4000" b="1">
                <a:solidFill>
                  <a:srgbClr val="202522"/>
                </a:solidFill>
                <a:latin typeface="맑은 고딕"/>
                <a:ea typeface="맑은 고딕"/>
              </a:rPr>
              <a:t>시도를 인정하는 방법</a:t>
            </a:r>
          </a:p>
        </p:txBody>
      </p:sp>
      <p:cxnSp>
        <p:nvCxnSpPr>
          <p:cNvPr id="4" name="Connector 3"/>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P09</a:t>
            </a:r>
          </a:p>
        </p:txBody>
      </p:sp>
      <p:sp>
        <p:nvSpPr>
          <p:cNvPr id="6" name="TextBox 5"/>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7" name="TextBox 6"/>
          <p:cNvSpPr txBox="1"/>
          <p:nvPr/>
        </p:nvSpPr>
        <p:spPr>
          <a:xfrm>
            <a:off x="685800" y="3063240"/>
            <a:ext cx="10789920" cy="640080"/>
          </a:xfrm>
          <a:prstGeom prst="rect">
            <a:avLst/>
          </a:prstGeom>
          <a:noFill/>
        </p:spPr>
        <p:txBody>
          <a:bodyPr wrap="square" lIns="0" rIns="0" tIns="0" bIns="0">
            <a:spAutoFit/>
          </a:bodyPr>
          <a:lstStyle/>
          <a:p>
            <a:pPr algn="l">
              <a:spcAft>
                <a:spcPts val="400"/>
              </a:spcAft>
            </a:pPr>
            <a:r>
              <a:rPr sz="2500" b="0">
                <a:solidFill>
                  <a:srgbClr val="202522"/>
                </a:solidFill>
                <a:latin typeface="맑은 고딕"/>
                <a:ea typeface="맑은 고딕"/>
              </a:rPr>
              <a:t/>
            </a:r>
          </a:p>
        </p:txBody>
      </p:sp>
      <p:sp>
        <p:nvSpPr>
          <p:cNvPr id="8" name="TextBox 7"/>
          <p:cNvSpPr txBox="1"/>
          <p:nvPr/>
        </p:nvSpPr>
        <p:spPr>
          <a:xfrm>
            <a:off x="685800" y="3895344"/>
            <a:ext cx="5202936" cy="457200"/>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참여</a:t>
            </a:r>
          </a:p>
        </p:txBody>
      </p:sp>
      <p:sp>
        <p:nvSpPr>
          <p:cNvPr id="9" name="TextBox 8"/>
          <p:cNvSpPr txBox="1"/>
          <p:nvPr/>
        </p:nvSpPr>
        <p:spPr>
          <a:xfrm>
            <a:off x="685800" y="4453128"/>
            <a:ext cx="5202936" cy="950976"/>
          </a:xfrm>
          <a:prstGeom prst="rect">
            <a:avLst/>
          </a:prstGeom>
          <a:noFill/>
        </p:spPr>
        <p:txBody>
          <a:bodyPr wrap="square" lIns="0" rIns="0" tIns="0" bIns="0">
            <a:spAutoFit/>
          </a:bodyPr>
          <a:lstStyle/>
          <a:p>
            <a:pPr algn="l">
              <a:spcAft>
                <a:spcPts val="400"/>
              </a:spcAft>
            </a:pPr>
            <a:r>
              <a:rPr sz="3000" b="1">
                <a:solidFill>
                  <a:srgbClr val="202522"/>
                </a:solidFill>
                <a:latin typeface="맑은 고딕"/>
                <a:ea typeface="맑은 고딕"/>
              </a:rPr>
              <a:t>각자 시간 일부를 할애</a:t>
            </a:r>
          </a:p>
        </p:txBody>
      </p:sp>
      <p:sp>
        <p:nvSpPr>
          <p:cNvPr id="10" name="TextBox 9"/>
          <p:cNvSpPr txBox="1"/>
          <p:nvPr/>
        </p:nvSpPr>
        <p:spPr>
          <a:xfrm>
            <a:off x="685800" y="5477256"/>
            <a:ext cx="5202936" cy="493776"/>
          </a:xfrm>
          <a:prstGeom prst="rect">
            <a:avLst/>
          </a:prstGeom>
          <a:noFill/>
        </p:spPr>
        <p:txBody>
          <a:bodyPr wrap="square" lIns="0" rIns="0" tIns="0" bIns="0">
            <a:spAutoFit/>
          </a:bodyPr>
          <a:lstStyle/>
          <a:p>
            <a:pPr algn="l">
              <a:spcAft>
                <a:spcPts val="400"/>
              </a:spcAft>
            </a:pPr>
            <a:r>
              <a:rPr sz="2000" b="0">
                <a:solidFill>
                  <a:srgbClr val="626962"/>
                </a:solidFill>
                <a:latin typeface="맑은 고딕"/>
                <a:ea typeface="맑은 고딕"/>
              </a:rPr>
              <a:t>관심 있는 프로젝트에 지원</a:t>
            </a:r>
          </a:p>
        </p:txBody>
      </p:sp>
      <p:cxnSp>
        <p:nvCxnSpPr>
          <p:cNvPr id="11" name="Connector 10"/>
          <p:cNvCxnSpPr/>
          <p:nvPr/>
        </p:nvCxnSpPr>
        <p:spPr>
          <a:xfrm>
            <a:off x="6094476" y="3877056"/>
            <a:ext cx="0" cy="2048256"/>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300216" y="3895344"/>
            <a:ext cx="5202936" cy="457200"/>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인정</a:t>
            </a:r>
          </a:p>
        </p:txBody>
      </p:sp>
      <p:sp>
        <p:nvSpPr>
          <p:cNvPr id="13" name="TextBox 12"/>
          <p:cNvSpPr txBox="1"/>
          <p:nvPr/>
        </p:nvSpPr>
        <p:spPr>
          <a:xfrm>
            <a:off x="6300216" y="4453128"/>
            <a:ext cx="5202936" cy="950976"/>
          </a:xfrm>
          <a:prstGeom prst="rect">
            <a:avLst/>
          </a:prstGeom>
          <a:noFill/>
        </p:spPr>
        <p:txBody>
          <a:bodyPr wrap="square" lIns="0" rIns="0" tIns="0" bIns="0">
            <a:spAutoFit/>
          </a:bodyPr>
          <a:lstStyle/>
          <a:p>
            <a:pPr algn="l">
              <a:spcAft>
                <a:spcPts val="400"/>
              </a:spcAft>
            </a:pPr>
            <a:r>
              <a:rPr sz="3000" b="1">
                <a:solidFill>
                  <a:srgbClr val="202522"/>
                </a:solidFill>
                <a:latin typeface="맑은 고딕"/>
                <a:ea typeface="맑은 고딕"/>
              </a:rPr>
              <a:t>우수 프로젝트 시상</a:t>
            </a:r>
          </a:p>
        </p:txBody>
      </p:sp>
      <p:sp>
        <p:nvSpPr>
          <p:cNvPr id="14" name="TextBox 13"/>
          <p:cNvSpPr txBox="1"/>
          <p:nvPr/>
        </p:nvSpPr>
        <p:spPr>
          <a:xfrm>
            <a:off x="6300216" y="5477256"/>
            <a:ext cx="5202936" cy="493776"/>
          </a:xfrm>
          <a:prstGeom prst="rect">
            <a:avLst/>
          </a:prstGeom>
          <a:noFill/>
        </p:spPr>
        <p:txBody>
          <a:bodyPr wrap="square" lIns="0" rIns="0" tIns="0" bIns="0">
            <a:spAutoFit/>
          </a:bodyPr>
          <a:lstStyle/>
          <a:p>
            <a:pPr algn="l">
              <a:spcAft>
                <a:spcPts val="400"/>
              </a:spcAft>
            </a:pPr>
            <a:r>
              <a:rPr sz="2000" b="0">
                <a:solidFill>
                  <a:srgbClr val="626962"/>
                </a:solidFill>
                <a:latin typeface="맑은 고딕"/>
                <a:ea typeface="맑은 고딕"/>
              </a:rPr>
              <a:t>성과에 반영하는 운영 방식</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2026 Learning Fair  ·  Data Center팀</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400" b="1">
                <a:solidFill>
                  <a:srgbClr val="202522"/>
                </a:solidFill>
                <a:latin typeface="맑은 고딕"/>
                <a:ea typeface="맑은 고딕"/>
              </a:rPr>
              <a:t>AI 4 AI</a:t>
            </a:r>
          </a:p>
          <a:p>
            <a:pPr algn="l">
              <a:spcAft>
                <a:spcPts val="400"/>
              </a:spcAft>
            </a:pPr>
            <a:r>
              <a:rPr sz="4400" b="1">
                <a:solidFill>
                  <a:srgbClr val="202522"/>
                </a:solidFill>
                <a:latin typeface="맑은 고딕"/>
                <a:ea typeface="맑은 고딕"/>
              </a:rPr>
              <a:t>서로에게 배우는 인프라 팀</a:t>
            </a:r>
          </a:p>
        </p:txBody>
      </p:sp>
      <p:cxnSp>
        <p:nvCxnSpPr>
          <p:cNvPr id="4" name="Connector 3"/>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P10</a:t>
            </a:r>
          </a:p>
        </p:txBody>
      </p:sp>
      <p:sp>
        <p:nvSpPr>
          <p:cNvPr id="6" name="TextBox 5"/>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7" name="TextBox 6"/>
          <p:cNvSpPr txBox="1"/>
          <p:nvPr/>
        </p:nvSpPr>
        <p:spPr>
          <a:xfrm>
            <a:off x="685800" y="3337560"/>
            <a:ext cx="10789920" cy="859536"/>
          </a:xfrm>
          <a:prstGeom prst="rect">
            <a:avLst/>
          </a:prstGeom>
          <a:noFill/>
        </p:spPr>
        <p:txBody>
          <a:bodyPr wrap="square" lIns="0" rIns="0" tIns="0" bIns="0">
            <a:spAutoFit/>
          </a:bodyPr>
          <a:lstStyle/>
          <a:p>
            <a:pPr algn="l">
              <a:spcAft>
                <a:spcPts val="400"/>
              </a:spcAft>
            </a:pPr>
            <a:r>
              <a:rPr sz="2900" b="0">
                <a:solidFill>
                  <a:srgbClr val="202522"/>
                </a:solidFill>
                <a:latin typeface="맑은 고딕"/>
                <a:ea typeface="맑은 고딕"/>
              </a:rPr>
              <a:t>지식과 경험을 나누며, AI를 지원하고 활용할 역량을 함께</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제작 참고 / 본편 사용 제외</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사용자가 나중에 붙일 실제 자료</a:t>
            </a:r>
          </a:p>
        </p:txBody>
      </p:sp>
      <p:cxnSp>
        <p:nvCxnSpPr>
          <p:cNvPr id="4" name="Connector 3"/>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A01</a:t>
            </a:r>
          </a:p>
        </p:txBody>
      </p:sp>
      <p:sp>
        <p:nvSpPr>
          <p:cNvPr id="6" name="TextBox 5"/>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7" name="TextBox 6"/>
          <p:cNvSpPr txBox="1"/>
          <p:nvPr/>
        </p:nvSpPr>
        <p:spPr>
          <a:xfrm>
            <a:off x="685800" y="2990088"/>
            <a:ext cx="10789920" cy="658368"/>
          </a:xfrm>
          <a:prstGeom prst="rect">
            <a:avLst/>
          </a:prstGeom>
          <a:noFill/>
        </p:spPr>
        <p:txBody>
          <a:bodyPr wrap="square" lIns="0" rIns="0" tIns="0" bIns="0">
            <a:spAutoFit/>
          </a:bodyPr>
          <a:lstStyle/>
          <a:p>
            <a:pPr algn="l">
              <a:spcAft>
                <a:spcPts val="400"/>
              </a:spcAft>
            </a:pPr>
            <a:r>
              <a:rPr sz="1900" b="0">
                <a:solidFill>
                  <a:srgbClr val="202522"/>
                </a:solidFill>
                <a:latin typeface="맑은 고딕"/>
                <a:ea typeface="맑은 고딕"/>
              </a:rPr>
              <a:t>본편 점선 영역에 자료명과 IMG ID를 적었습니다. 삽입 후 점선·안내 글자를 제거합니다.</a:t>
            </a:r>
          </a:p>
        </p:txBody>
      </p:sp>
      <p:sp>
        <p:nvSpPr>
          <p:cNvPr id="8" name="TextBox 7"/>
          <p:cNvSpPr txBox="1"/>
          <p:nvPr/>
        </p:nvSpPr>
        <p:spPr>
          <a:xfrm>
            <a:off x="685800" y="3785615"/>
            <a:ext cx="1865376" cy="702564"/>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P02–P04</a:t>
            </a:r>
          </a:p>
        </p:txBody>
      </p:sp>
      <p:sp>
        <p:nvSpPr>
          <p:cNvPr id="9" name="TextBox 8"/>
          <p:cNvSpPr txBox="1"/>
          <p:nvPr/>
        </p:nvSpPr>
        <p:spPr>
          <a:xfrm>
            <a:off x="2706624" y="3785615"/>
            <a:ext cx="3236976" cy="702564"/>
          </a:xfrm>
          <a:prstGeom prst="rect">
            <a:avLst/>
          </a:prstGeom>
          <a:noFill/>
        </p:spPr>
        <p:txBody>
          <a:bodyPr wrap="square" lIns="0" rIns="0" tIns="0" bIns="0">
            <a:spAutoFit/>
          </a:bodyPr>
          <a:lstStyle/>
          <a:p>
            <a:pPr algn="l">
              <a:spcAft>
                <a:spcPts val="400"/>
              </a:spcAft>
            </a:pPr>
            <a:r>
              <a:rPr sz="1700" b="1">
                <a:solidFill>
                  <a:srgbClr val="202522"/>
                </a:solidFill>
                <a:latin typeface="맑은 고딕"/>
                <a:ea typeface="맑은 고딕"/>
              </a:rPr>
              <a:t>외부·동료의 지식</a:t>
            </a:r>
          </a:p>
        </p:txBody>
      </p:sp>
      <p:sp>
        <p:nvSpPr>
          <p:cNvPr id="10" name="TextBox 9"/>
          <p:cNvSpPr txBox="1"/>
          <p:nvPr/>
        </p:nvSpPr>
        <p:spPr>
          <a:xfrm>
            <a:off x="6117336" y="3785615"/>
            <a:ext cx="5385816" cy="702564"/>
          </a:xfrm>
          <a:prstGeom prst="rect">
            <a:avLst/>
          </a:prstGeom>
          <a:noFill/>
        </p:spPr>
        <p:txBody>
          <a:bodyPr wrap="square" lIns="0" rIns="0" tIns="0" bIns="0">
            <a:spAutoFit/>
          </a:bodyPr>
          <a:lstStyle/>
          <a:p>
            <a:pPr algn="l">
              <a:spcAft>
                <a:spcPts val="400"/>
              </a:spcAft>
            </a:pPr>
            <a:r>
              <a:rPr sz="1600" b="0">
                <a:solidFill>
                  <a:srgbClr val="626962"/>
                </a:solidFill>
                <a:latin typeface="맑은 고딕"/>
                <a:ea typeface="맑은 고딕"/>
              </a:rPr>
              <a:t>IMG03: AI 4 AI / IMG04·05: Job Fair / IMG06: DCIS</a:t>
            </a:r>
          </a:p>
        </p:txBody>
      </p:sp>
      <p:cxnSp>
        <p:nvCxnSpPr>
          <p:cNvPr id="11" name="Connector 10"/>
          <p:cNvCxnSpPr/>
          <p:nvPr/>
        </p:nvCxnSpPr>
        <p:spPr>
          <a:xfrm>
            <a:off x="685800" y="4497324"/>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85800" y="4547615"/>
            <a:ext cx="1865376" cy="702564"/>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P05–P07</a:t>
            </a:r>
          </a:p>
        </p:txBody>
      </p:sp>
      <p:sp>
        <p:nvSpPr>
          <p:cNvPr id="13" name="TextBox 12"/>
          <p:cNvSpPr txBox="1"/>
          <p:nvPr/>
        </p:nvSpPr>
        <p:spPr>
          <a:xfrm>
            <a:off x="2706624" y="4547615"/>
            <a:ext cx="3236976" cy="702564"/>
          </a:xfrm>
          <a:prstGeom prst="rect">
            <a:avLst/>
          </a:prstGeom>
          <a:noFill/>
        </p:spPr>
        <p:txBody>
          <a:bodyPr wrap="square" lIns="0" rIns="0" tIns="0" bIns="0">
            <a:spAutoFit/>
          </a:bodyPr>
          <a:lstStyle/>
          <a:p>
            <a:pPr algn="l">
              <a:spcAft>
                <a:spcPts val="400"/>
              </a:spcAft>
            </a:pPr>
            <a:r>
              <a:rPr sz="1700" b="1">
                <a:solidFill>
                  <a:srgbClr val="202522"/>
                </a:solidFill>
                <a:latin typeface="맑은 고딕"/>
                <a:ea typeface="맑은 고딕"/>
              </a:rPr>
              <a:t>모집·참여·실제 적용</a:t>
            </a:r>
          </a:p>
        </p:txBody>
      </p:sp>
      <p:sp>
        <p:nvSpPr>
          <p:cNvPr id="14" name="TextBox 13"/>
          <p:cNvSpPr txBox="1"/>
          <p:nvPr/>
        </p:nvSpPr>
        <p:spPr>
          <a:xfrm>
            <a:off x="6117336" y="4547615"/>
            <a:ext cx="5385816" cy="702564"/>
          </a:xfrm>
          <a:prstGeom prst="rect">
            <a:avLst/>
          </a:prstGeom>
          <a:noFill/>
        </p:spPr>
        <p:txBody>
          <a:bodyPr wrap="square" lIns="0" rIns="0" tIns="0" bIns="0">
            <a:spAutoFit/>
          </a:bodyPr>
          <a:lstStyle/>
          <a:p>
            <a:pPr algn="l">
              <a:spcAft>
                <a:spcPts val="400"/>
              </a:spcAft>
            </a:pPr>
            <a:r>
              <a:rPr sz="1600" b="0">
                <a:solidFill>
                  <a:srgbClr val="626962"/>
                </a:solidFill>
                <a:latin typeface="맑은 고딕"/>
                <a:ea typeface="맑은 고딕"/>
              </a:rPr>
              <a:t>IMG07: 모집 / IMG15: GPU 과제 / IMG08·10: IAP</a:t>
            </a:r>
          </a:p>
        </p:txBody>
      </p:sp>
      <p:cxnSp>
        <p:nvCxnSpPr>
          <p:cNvPr id="15" name="Connector 14"/>
          <p:cNvCxnSpPr/>
          <p:nvPr/>
        </p:nvCxnSpPr>
        <p:spPr>
          <a:xfrm>
            <a:off x="685800" y="5259324"/>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685800" y="5309616"/>
            <a:ext cx="1865376" cy="702564"/>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P08</a:t>
            </a:r>
          </a:p>
        </p:txBody>
      </p:sp>
      <p:sp>
        <p:nvSpPr>
          <p:cNvPr id="17" name="TextBox 16"/>
          <p:cNvSpPr txBox="1"/>
          <p:nvPr/>
        </p:nvSpPr>
        <p:spPr>
          <a:xfrm>
            <a:off x="2706624" y="5309616"/>
            <a:ext cx="3236976" cy="702564"/>
          </a:xfrm>
          <a:prstGeom prst="rect">
            <a:avLst/>
          </a:prstGeom>
          <a:noFill/>
        </p:spPr>
        <p:txBody>
          <a:bodyPr wrap="square" lIns="0" rIns="0" tIns="0" bIns="0">
            <a:spAutoFit/>
          </a:bodyPr>
          <a:lstStyle/>
          <a:p>
            <a:pPr algn="l">
              <a:spcAft>
                <a:spcPts val="400"/>
              </a:spcAft>
            </a:pPr>
            <a:r>
              <a:rPr sz="1700" b="1">
                <a:solidFill>
                  <a:srgbClr val="202522"/>
                </a:solidFill>
                <a:latin typeface="맑은 고딕"/>
                <a:ea typeface="맑은 고딕"/>
              </a:rPr>
              <a:t>다시 나누는 배움</a:t>
            </a:r>
          </a:p>
        </p:txBody>
      </p:sp>
      <p:sp>
        <p:nvSpPr>
          <p:cNvPr id="18" name="TextBox 17"/>
          <p:cNvSpPr txBox="1"/>
          <p:nvPr/>
        </p:nvSpPr>
        <p:spPr>
          <a:xfrm>
            <a:off x="6117336" y="5309616"/>
            <a:ext cx="5385816" cy="702564"/>
          </a:xfrm>
          <a:prstGeom prst="rect">
            <a:avLst/>
          </a:prstGeom>
          <a:noFill/>
        </p:spPr>
        <p:txBody>
          <a:bodyPr wrap="square" lIns="0" rIns="0" tIns="0" bIns="0">
            <a:spAutoFit/>
          </a:bodyPr>
          <a:lstStyle/>
          <a:p>
            <a:pPr algn="l">
              <a:spcAft>
                <a:spcPts val="400"/>
              </a:spcAft>
            </a:pPr>
            <a:r>
              <a:rPr sz="1600" b="0">
                <a:solidFill>
                  <a:srgbClr val="626962"/>
                </a:solidFill>
                <a:latin typeface="맑은 고딕"/>
                <a:ea typeface="맑은 고딕"/>
              </a:rPr>
              <a:t>IMG13: 교육 플랫폼 녹화 목록·재생 화면</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제작 참고 / 본편 사용 제외</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교류·성장과 AI 4 AI를 연결하는 근거</a:t>
            </a:r>
          </a:p>
        </p:txBody>
      </p:sp>
      <p:cxnSp>
        <p:nvCxnSpPr>
          <p:cNvPr id="4" name="Connector 3"/>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A02</a:t>
            </a:r>
          </a:p>
        </p:txBody>
      </p:sp>
      <p:sp>
        <p:nvSpPr>
          <p:cNvPr id="6" name="TextBox 5"/>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7" name="TextBox 6"/>
          <p:cNvSpPr txBox="1"/>
          <p:nvPr/>
        </p:nvSpPr>
        <p:spPr>
          <a:xfrm>
            <a:off x="685800" y="2990088"/>
            <a:ext cx="10789920" cy="658368"/>
          </a:xfrm>
          <a:prstGeom prst="rect">
            <a:avLst/>
          </a:prstGeom>
          <a:noFill/>
        </p:spPr>
        <p:txBody>
          <a:bodyPr wrap="square" lIns="0" rIns="0" tIns="0" bIns="0">
            <a:spAutoFit/>
          </a:bodyPr>
          <a:lstStyle/>
          <a:p>
            <a:pPr algn="l">
              <a:spcAft>
                <a:spcPts val="400"/>
              </a:spcAft>
            </a:pPr>
            <a:r>
              <a:rPr sz="1900" b="0">
                <a:solidFill>
                  <a:srgbClr val="202522"/>
                </a:solidFill>
                <a:latin typeface="맑은 고딕"/>
                <a:ea typeface="맑은 고딕"/>
              </a:rPr>
              <a:t>AI 지원과 활용은 함께 키워갈 역량의 방향입니다. 모든 활동을 AI 교육으로 재분류하지 않습니다.</a:t>
            </a:r>
          </a:p>
        </p:txBody>
      </p:sp>
      <p:sp>
        <p:nvSpPr>
          <p:cNvPr id="8" name="TextBox 7"/>
          <p:cNvSpPr txBox="1"/>
          <p:nvPr/>
        </p:nvSpPr>
        <p:spPr>
          <a:xfrm>
            <a:off x="685800" y="3785615"/>
            <a:ext cx="1865376" cy="702564"/>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개인 경험</a:t>
            </a:r>
          </a:p>
        </p:txBody>
      </p:sp>
      <p:sp>
        <p:nvSpPr>
          <p:cNvPr id="9" name="TextBox 8"/>
          <p:cNvSpPr txBox="1"/>
          <p:nvPr/>
        </p:nvSpPr>
        <p:spPr>
          <a:xfrm>
            <a:off x="2706624" y="3785615"/>
            <a:ext cx="3236976" cy="702564"/>
          </a:xfrm>
          <a:prstGeom prst="rect">
            <a:avLst/>
          </a:prstGeom>
          <a:noFill/>
        </p:spPr>
        <p:txBody>
          <a:bodyPr wrap="square" lIns="0" rIns="0" tIns="0" bIns="0">
            <a:spAutoFit/>
          </a:bodyPr>
          <a:lstStyle/>
          <a:p>
            <a:pPr algn="l">
              <a:spcAft>
                <a:spcPts val="400"/>
              </a:spcAft>
            </a:pPr>
            <a:r>
              <a:rPr sz="1700" b="1">
                <a:solidFill>
                  <a:srgbClr val="202522"/>
                </a:solidFill>
                <a:latin typeface="맑은 고딕"/>
                <a:ea typeface="맑은 고딕"/>
              </a:rPr>
              <a:t>GPU 과제에서 관점 학습</a:t>
            </a:r>
          </a:p>
        </p:txBody>
      </p:sp>
      <p:sp>
        <p:nvSpPr>
          <p:cNvPr id="10" name="TextBox 9"/>
          <p:cNvSpPr txBox="1"/>
          <p:nvPr/>
        </p:nvSpPr>
        <p:spPr>
          <a:xfrm>
            <a:off x="6117336" y="3785615"/>
            <a:ext cx="5385816" cy="702564"/>
          </a:xfrm>
          <a:prstGeom prst="rect">
            <a:avLst/>
          </a:prstGeom>
          <a:noFill/>
        </p:spPr>
        <p:txBody>
          <a:bodyPr wrap="square" lIns="0" rIns="0" tIns="0" bIns="0">
            <a:spAutoFit/>
          </a:bodyPr>
          <a:lstStyle/>
          <a:p>
            <a:pPr algn="l">
              <a:spcAft>
                <a:spcPts val="400"/>
              </a:spcAft>
            </a:pPr>
            <a:r>
              <a:rPr sz="1600" b="0">
                <a:solidFill>
                  <a:srgbClr val="626962"/>
                </a:solidFill>
                <a:latin typeface="맑은 고딕"/>
                <a:ea typeface="맑은 고딕"/>
              </a:rPr>
              <a:t>기술 관심과 부서 간 교류가 만난 사례. GPU 성능 개선 수치 없음.</a:t>
            </a:r>
          </a:p>
        </p:txBody>
      </p:sp>
      <p:cxnSp>
        <p:nvCxnSpPr>
          <p:cNvPr id="11" name="Connector 10"/>
          <p:cNvCxnSpPr/>
          <p:nvPr/>
        </p:nvCxnSpPr>
        <p:spPr>
          <a:xfrm>
            <a:off x="685800" y="4497324"/>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85800" y="4547615"/>
            <a:ext cx="1865376" cy="702564"/>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운영 적용</a:t>
            </a:r>
          </a:p>
        </p:txBody>
      </p:sp>
      <p:sp>
        <p:nvSpPr>
          <p:cNvPr id="13" name="TextBox 12"/>
          <p:cNvSpPr txBox="1"/>
          <p:nvPr/>
        </p:nvSpPr>
        <p:spPr>
          <a:xfrm>
            <a:off x="2706624" y="4547615"/>
            <a:ext cx="3236976" cy="702564"/>
          </a:xfrm>
          <a:prstGeom prst="rect">
            <a:avLst/>
          </a:prstGeom>
          <a:noFill/>
        </p:spPr>
        <p:txBody>
          <a:bodyPr wrap="square" lIns="0" rIns="0" tIns="0" bIns="0">
            <a:spAutoFit/>
          </a:bodyPr>
          <a:lstStyle/>
          <a:p>
            <a:pPr algn="l">
              <a:spcAft>
                <a:spcPts val="400"/>
              </a:spcAft>
            </a:pPr>
            <a:r>
              <a:rPr sz="1700" b="1">
                <a:solidFill>
                  <a:srgbClr val="202522"/>
                </a:solidFill>
                <a:latin typeface="맑은 고딕"/>
                <a:ea typeface="맑은 고딕"/>
              </a:rPr>
              <a:t>AI로 로그 알림 자동화</a:t>
            </a:r>
          </a:p>
        </p:txBody>
      </p:sp>
      <p:sp>
        <p:nvSpPr>
          <p:cNvPr id="14" name="TextBox 13"/>
          <p:cNvSpPr txBox="1"/>
          <p:nvPr/>
        </p:nvSpPr>
        <p:spPr>
          <a:xfrm>
            <a:off x="6117336" y="4547615"/>
            <a:ext cx="5385816" cy="702564"/>
          </a:xfrm>
          <a:prstGeom prst="rect">
            <a:avLst/>
          </a:prstGeom>
          <a:noFill/>
        </p:spPr>
        <p:txBody>
          <a:bodyPr wrap="square" lIns="0" rIns="0" tIns="0" bIns="0">
            <a:spAutoFit/>
          </a:bodyPr>
          <a:lstStyle/>
          <a:p>
            <a:pPr algn="l">
              <a:spcAft>
                <a:spcPts val="400"/>
              </a:spcAft>
            </a:pPr>
            <a:r>
              <a:rPr sz="1600" b="0">
                <a:solidFill>
                  <a:srgbClr val="626962"/>
                </a:solidFill>
                <a:latin typeface="맑은 고딕"/>
                <a:ea typeface="맑은 고딕"/>
              </a:rPr>
              <a:t>IAP는 다른 Tech X 과제의 대표 사례. 해당 알림 수작업 대체.</a:t>
            </a:r>
          </a:p>
        </p:txBody>
      </p:sp>
      <p:cxnSp>
        <p:nvCxnSpPr>
          <p:cNvPr id="15" name="Connector 14"/>
          <p:cNvCxnSpPr/>
          <p:nvPr/>
        </p:nvCxnSpPr>
        <p:spPr>
          <a:xfrm>
            <a:off x="685800" y="5259324"/>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685800" y="5309616"/>
            <a:ext cx="1865376" cy="702564"/>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배움의 공유</a:t>
            </a:r>
          </a:p>
        </p:txBody>
      </p:sp>
      <p:sp>
        <p:nvSpPr>
          <p:cNvPr id="17" name="TextBox 16"/>
          <p:cNvSpPr txBox="1"/>
          <p:nvPr/>
        </p:nvSpPr>
        <p:spPr>
          <a:xfrm>
            <a:off x="2706624" y="5309616"/>
            <a:ext cx="3236976" cy="702564"/>
          </a:xfrm>
          <a:prstGeom prst="rect">
            <a:avLst/>
          </a:prstGeom>
          <a:noFill/>
        </p:spPr>
        <p:txBody>
          <a:bodyPr wrap="square" lIns="0" rIns="0" tIns="0" bIns="0">
            <a:spAutoFit/>
          </a:bodyPr>
          <a:lstStyle/>
          <a:p>
            <a:pPr algn="l">
              <a:spcAft>
                <a:spcPts val="400"/>
              </a:spcAft>
            </a:pPr>
            <a:r>
              <a:rPr sz="1700" b="1">
                <a:solidFill>
                  <a:srgbClr val="202522"/>
                </a:solidFill>
                <a:latin typeface="맑은 고딕"/>
                <a:ea typeface="맑은 고딕"/>
              </a:rPr>
              <a:t>소개·실습과 녹화 공유</a:t>
            </a:r>
          </a:p>
        </p:txBody>
      </p:sp>
      <p:sp>
        <p:nvSpPr>
          <p:cNvPr id="18" name="TextBox 17"/>
          <p:cNvSpPr txBox="1"/>
          <p:nvPr/>
        </p:nvSpPr>
        <p:spPr>
          <a:xfrm>
            <a:off x="6117336" y="5309616"/>
            <a:ext cx="5385816" cy="702564"/>
          </a:xfrm>
          <a:prstGeom prst="rect">
            <a:avLst/>
          </a:prstGeom>
          <a:noFill/>
        </p:spPr>
        <p:txBody>
          <a:bodyPr wrap="square" lIns="0" rIns="0" tIns="0" bIns="0">
            <a:spAutoFit/>
          </a:bodyPr>
          <a:lstStyle/>
          <a:p>
            <a:pPr algn="l">
              <a:spcAft>
                <a:spcPts val="400"/>
              </a:spcAft>
            </a:pPr>
            <a:r>
              <a:rPr sz="1600" b="0">
                <a:solidFill>
                  <a:srgbClr val="626962"/>
                </a:solidFill>
                <a:latin typeface="맑은 고딕"/>
                <a:ea typeface="맑은 고딕"/>
              </a:rPr>
              <a:t>서로 다른 방법으로 배울 기회 제공. 전체 과제를 녹화한 것은 아님.</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제작 참고 / 본편 사용 제외</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10월 14일 제출 · 19일 촬영</a:t>
            </a:r>
          </a:p>
        </p:txBody>
      </p:sp>
      <p:cxnSp>
        <p:nvCxnSpPr>
          <p:cNvPr id="4" name="Connector 3"/>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A03</a:t>
            </a:r>
          </a:p>
        </p:txBody>
      </p:sp>
      <p:sp>
        <p:nvSpPr>
          <p:cNvPr id="6" name="TextBox 5"/>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7" name="TextBox 6"/>
          <p:cNvSpPr txBox="1"/>
          <p:nvPr/>
        </p:nvSpPr>
        <p:spPr>
          <a:xfrm>
            <a:off x="685800" y="2990088"/>
            <a:ext cx="10789920" cy="658368"/>
          </a:xfrm>
          <a:prstGeom prst="rect">
            <a:avLst/>
          </a:prstGeom>
          <a:noFill/>
        </p:spPr>
        <p:txBody>
          <a:bodyPr wrap="square" lIns="0" rIns="0" tIns="0" bIns="0">
            <a:spAutoFit/>
          </a:bodyPr>
          <a:lstStyle/>
          <a:p>
            <a:pPr algn="l">
              <a:spcAft>
                <a:spcPts val="400"/>
              </a:spcAft>
            </a:pPr>
            <a:r>
              <a:rPr sz="1900" b="0">
                <a:solidFill>
                  <a:srgbClr val="202522"/>
                </a:solidFill>
                <a:latin typeface="맑은 고딕"/>
                <a:ea typeface="맑은 고딕"/>
              </a:rPr>
              <a:t>현재 기준일 10월 11일. 일정이 지났다는 이유만으로 개최·발표·시상 완료로 바꾸지 않습니다.</a:t>
            </a:r>
          </a:p>
        </p:txBody>
      </p:sp>
      <p:sp>
        <p:nvSpPr>
          <p:cNvPr id="8" name="TextBox 7"/>
          <p:cNvSpPr txBox="1"/>
          <p:nvPr/>
        </p:nvSpPr>
        <p:spPr>
          <a:xfrm>
            <a:off x="685800" y="3785615"/>
            <a:ext cx="1865376" cy="702564"/>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10월 12일</a:t>
            </a:r>
          </a:p>
        </p:txBody>
      </p:sp>
      <p:sp>
        <p:nvSpPr>
          <p:cNvPr id="9" name="TextBox 8"/>
          <p:cNvSpPr txBox="1"/>
          <p:nvPr/>
        </p:nvSpPr>
        <p:spPr>
          <a:xfrm>
            <a:off x="2706624" y="3785615"/>
            <a:ext cx="3236976" cy="702564"/>
          </a:xfrm>
          <a:prstGeom prst="rect">
            <a:avLst/>
          </a:prstGeom>
          <a:noFill/>
        </p:spPr>
        <p:txBody>
          <a:bodyPr wrap="square" lIns="0" rIns="0" tIns="0" bIns="0">
            <a:spAutoFit/>
          </a:bodyPr>
          <a:lstStyle/>
          <a:p>
            <a:pPr algn="l">
              <a:spcAft>
                <a:spcPts val="400"/>
              </a:spcAft>
            </a:pPr>
            <a:r>
              <a:rPr sz="1700" b="1">
                <a:solidFill>
                  <a:srgbClr val="202522"/>
                </a:solidFill>
                <a:latin typeface="맑은 고딕"/>
                <a:ea typeface="맑은 고딕"/>
              </a:rPr>
              <a:t>OutSystems 예정</a:t>
            </a:r>
          </a:p>
        </p:txBody>
      </p:sp>
      <p:sp>
        <p:nvSpPr>
          <p:cNvPr id="10" name="TextBox 9"/>
          <p:cNvSpPr txBox="1"/>
          <p:nvPr/>
        </p:nvSpPr>
        <p:spPr>
          <a:xfrm>
            <a:off x="6117336" y="3785615"/>
            <a:ext cx="5385816" cy="702564"/>
          </a:xfrm>
          <a:prstGeom prst="rect">
            <a:avLst/>
          </a:prstGeom>
          <a:noFill/>
        </p:spPr>
        <p:txBody>
          <a:bodyPr wrap="square" lIns="0" rIns="0" tIns="0" bIns="0">
            <a:spAutoFit/>
          </a:bodyPr>
          <a:lstStyle/>
          <a:p>
            <a:pPr algn="l">
              <a:spcAft>
                <a:spcPts val="400"/>
              </a:spcAft>
            </a:pPr>
            <a:r>
              <a:rPr sz="1600" b="0">
                <a:solidFill>
                  <a:srgbClr val="626962"/>
                </a:solidFill>
                <a:latin typeface="맑은 고딕"/>
                <a:ea typeface="맑은 고딕"/>
              </a:rPr>
              <a:t>실제 개최 확인 후 포스터·사진과 필요한 문구 갱신.</a:t>
            </a:r>
          </a:p>
        </p:txBody>
      </p:sp>
      <p:cxnSp>
        <p:nvCxnSpPr>
          <p:cNvPr id="11" name="Connector 10"/>
          <p:cNvCxnSpPr/>
          <p:nvPr/>
        </p:nvCxnSpPr>
        <p:spPr>
          <a:xfrm>
            <a:off x="685800" y="4497324"/>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85800" y="4547615"/>
            <a:ext cx="1865376" cy="702564"/>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10월 14일</a:t>
            </a:r>
          </a:p>
        </p:txBody>
      </p:sp>
      <p:sp>
        <p:nvSpPr>
          <p:cNvPr id="13" name="TextBox 12"/>
          <p:cNvSpPr txBox="1"/>
          <p:nvPr/>
        </p:nvSpPr>
        <p:spPr>
          <a:xfrm>
            <a:off x="2706624" y="4547615"/>
            <a:ext cx="3236976" cy="702564"/>
          </a:xfrm>
          <a:prstGeom prst="rect">
            <a:avLst/>
          </a:prstGeom>
          <a:noFill/>
        </p:spPr>
        <p:txBody>
          <a:bodyPr wrap="square" lIns="0" rIns="0" tIns="0" bIns="0">
            <a:spAutoFit/>
          </a:bodyPr>
          <a:lstStyle/>
          <a:p>
            <a:pPr algn="l">
              <a:spcAft>
                <a:spcPts val="400"/>
              </a:spcAft>
            </a:pPr>
            <a:r>
              <a:rPr sz="1700" b="1">
                <a:solidFill>
                  <a:srgbClr val="202522"/>
                </a:solidFill>
                <a:latin typeface="맑은 고딕"/>
                <a:ea typeface="맑은 고딕"/>
              </a:rPr>
              <a:t>자료 제출 → 영상팀 편집</a:t>
            </a:r>
          </a:p>
        </p:txBody>
      </p:sp>
      <p:sp>
        <p:nvSpPr>
          <p:cNvPr id="14" name="TextBox 13"/>
          <p:cNvSpPr txBox="1"/>
          <p:nvPr/>
        </p:nvSpPr>
        <p:spPr>
          <a:xfrm>
            <a:off x="6117336" y="4547615"/>
            <a:ext cx="5385816" cy="702564"/>
          </a:xfrm>
          <a:prstGeom prst="rect">
            <a:avLst/>
          </a:prstGeom>
          <a:noFill/>
        </p:spPr>
        <p:txBody>
          <a:bodyPr wrap="square" lIns="0" rIns="0" tIns="0" bIns="0">
            <a:spAutoFit/>
          </a:bodyPr>
          <a:lstStyle/>
          <a:p>
            <a:pPr algn="l">
              <a:spcAft>
                <a:spcPts val="400"/>
              </a:spcAft>
            </a:pPr>
            <a:r>
              <a:rPr sz="1600" b="0">
                <a:solidFill>
                  <a:srgbClr val="626962"/>
                </a:solidFill>
                <a:latin typeface="맑은 고딕"/>
                <a:ea typeface="맑은 고딕"/>
              </a:rPr>
              <a:t>16일 최종 발표 결과를 미리 완료형으로 넣지 않음.</a:t>
            </a:r>
          </a:p>
        </p:txBody>
      </p:sp>
      <p:cxnSp>
        <p:nvCxnSpPr>
          <p:cNvPr id="15" name="Connector 14"/>
          <p:cNvCxnSpPr/>
          <p:nvPr/>
        </p:nvCxnSpPr>
        <p:spPr>
          <a:xfrm>
            <a:off x="685800" y="5259324"/>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685800" y="5309616"/>
            <a:ext cx="1865376" cy="702564"/>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10월 16일 / 19일</a:t>
            </a:r>
          </a:p>
        </p:txBody>
      </p:sp>
      <p:sp>
        <p:nvSpPr>
          <p:cNvPr id="17" name="TextBox 16"/>
          <p:cNvSpPr txBox="1"/>
          <p:nvPr/>
        </p:nvSpPr>
        <p:spPr>
          <a:xfrm>
            <a:off x="2706624" y="5309616"/>
            <a:ext cx="3236976" cy="702564"/>
          </a:xfrm>
          <a:prstGeom prst="rect">
            <a:avLst/>
          </a:prstGeom>
          <a:noFill/>
        </p:spPr>
        <p:txBody>
          <a:bodyPr wrap="square" lIns="0" rIns="0" tIns="0" bIns="0">
            <a:spAutoFit/>
          </a:bodyPr>
          <a:lstStyle/>
          <a:p>
            <a:pPr algn="l">
              <a:spcAft>
                <a:spcPts val="400"/>
              </a:spcAft>
            </a:pPr>
            <a:r>
              <a:rPr sz="1700" b="1">
                <a:solidFill>
                  <a:srgbClr val="202522"/>
                </a:solidFill>
                <a:latin typeface="맑은 고딕"/>
                <a:ea typeface="맑은 고딕"/>
              </a:rPr>
              <a:t>최종 발표 예정 / 촬영</a:t>
            </a:r>
          </a:p>
        </p:txBody>
      </p:sp>
      <p:sp>
        <p:nvSpPr>
          <p:cNvPr id="18" name="TextBox 17"/>
          <p:cNvSpPr txBox="1"/>
          <p:nvPr/>
        </p:nvSpPr>
        <p:spPr>
          <a:xfrm>
            <a:off x="6117336" y="5309616"/>
            <a:ext cx="5385816" cy="702564"/>
          </a:xfrm>
          <a:prstGeom prst="rect">
            <a:avLst/>
          </a:prstGeom>
          <a:noFill/>
        </p:spPr>
        <p:txBody>
          <a:bodyPr wrap="square" lIns="0" rIns="0" tIns="0" bIns="0">
            <a:spAutoFit/>
          </a:bodyPr>
          <a:lstStyle/>
          <a:p>
            <a:pPr algn="l">
              <a:spcAft>
                <a:spcPts val="400"/>
              </a:spcAft>
            </a:pPr>
            <a:r>
              <a:rPr sz="1600" b="0">
                <a:solidFill>
                  <a:srgbClr val="626962"/>
                </a:solidFill>
                <a:latin typeface="맑은 고딕"/>
                <a:ea typeface="맑은 고딕"/>
              </a:rPr>
              <a:t>발표·결과를 확인한 부분만 교체. 시상일은 아직 미확인.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4 AI — 서로에게 배우는 인프라 팀</dc:title>
  <dc:subject/>
  <dc:creator>Data Center팀</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