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00:20–00:51</a:t>
            </a:r>
          </a:p>
          <a:p>
            <a:r>
              <a:t>원본 버전: worldcup-v0.2 / 2026-10-11</a:t>
            </a:r>
          </a:p>
          <a:p>
            <a:r>
              <a:t>자료 큐는 발화 기준. 타임코드는 최종 편집 목표이며 실측 발화 시점이 아니다.</a:t>
            </a:r>
          </a:p>
          <a:p>
            <a:r>
              <a:t>자료 등장: DS부문 임직원</a:t>
            </a:r>
          </a:p>
          <a:p>
            <a:r>
              <a:t>P01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류경동 팀장: 안녕하세요. Data Center팀입니다. 저희는 [P01 등장] DS부문 임직원 7만 명 이상이 사용하는 모든 IT 인프라를 제공하고 운영합니다. 32개 데이터센터와 100만 코어 이상의 컴퓨팅 자원, 회사 시스템 대부분이 운영되는 클라우드, AI를 위한 GPU 인프라까지 맡고 있습니다.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00:51–01:26</a:t>
            </a:r>
          </a:p>
          <a:p>
            <a:r>
              <a:t>원본 버전: worldcup-v0.2 / 2026-10-11</a:t>
            </a:r>
          </a:p>
          <a:p>
            <a:r>
              <a:t>자료 큐는 발화 기준. 타임코드는 최종 편집 목표이며 실측 발화 시점이 아니다.</a:t>
            </a:r>
          </a:p>
          <a:p>
            <a:r>
              <a:t>자료 등장: AI 4 AI,</a:t>
            </a:r>
          </a:p>
          <a:p>
            <a:r>
              <a:t>P02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류경동 팀장: [P02 등장] AI 4 AI, AI를 위한 첨단 인프라가 저희의 비전입니다. 커지는 미션과 안정적인 운영을 함께 감당하려면, 우리도 성장해야겠죠.</a:t>
            </a:r>
          </a:p>
          <a:p>
            <a:r>
              <a:t>이관우 교육담당: 그래서 외부의 경험을 배우고 남기고, 동료의 경험을 나눕니다. 오늘은 다른 조직에도 권하고 싶은 교류 방식을 함께 골라보겠습니다.</a:t>
            </a:r>
          </a:p>
          <a:p>
            <a:r>
              <a:t>공통 기준과 네 후보를 짧게 보여준다. 4강1은 AI 4 AI·Tech X, 4강2는 Job Fair·DCIS다. 전체 진행 규칙 해설을 더하지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01:26–02:09</a:t>
            </a:r>
          </a:p>
          <a:p>
            <a:r>
              <a:t>원본 버전: worldcup-v0.2 / 2026-10-11</a:t>
            </a:r>
          </a:p>
          <a:p>
            <a:r>
              <a:t>자료 큐는 발화 기준. 타임코드는 최종 편집 목표이며 실측 발화 시점이 아니다.</a:t>
            </a:r>
          </a:p>
          <a:p>
            <a:r>
              <a:t>자료 등장: 첫 경기는 AI 4 AI 세미나</a:t>
            </a:r>
          </a:p>
          <a:p>
            <a:r>
              <a:t>P03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IMG02, IMG03, IMG07, IMG13</a:t>
            </a:r>
          </a:p>
          <a:p>
            <a:r>
              <a:t>스크립트:</a:t>
            </a:r>
          </a:p>
          <a:p>
            <a:r>
              <a:t>이관우 교육담당: [P03 등장] 첫 경기는 AI 4 AI 세미나와 Tech X입니다. 세미나는 매달 외부 전문가에게 최신 기술을 배우고, 녹화해 센터원들과 공유합니다. 나중에도 다시 배울 수 있죠.</a:t>
            </a:r>
          </a:p>
          <a:p>
            <a:r>
              <a:t>류경동 팀장: Tech X는 각 파트가 과제를 제시하고, 관심 있는 동료가 지원해 다른 부서의 일을 함께 해봅니다. 3월에 모집해 4월에 시작했고, 6개 과제에 44명이 참여하고 있습니다. 저는 직접 경험할 기회를 권하고 싶습니다.</a:t>
            </a:r>
          </a:p>
          <a:p>
            <a:r>
              <a:t>두 후보의 장점을 비교하되 승자는 아직 표시하지 않는다. 실제 세미나 포스터 IMG03과 Tech X 공고 IMG07은 각 카드 영역에 덮어 넣을 수 있다. 선택 전 상태는 choice-states.pptx의 M01 선택 전 화면.</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02:09–02:44</a:t>
            </a:r>
          </a:p>
          <a:p>
            <a:r>
              <a:t>원본 버전: worldcup-v0.2 / 2026-10-11</a:t>
            </a:r>
          </a:p>
          <a:p>
            <a:r>
              <a:t>자료 큐는 발화 기준. 타임코드는 최종 편집 목표이며 실측 발화 시점이 아니다.</a:t>
            </a:r>
          </a:p>
          <a:p>
            <a:r>
              <a:t>자료 등장: 저도 Tech X에서</a:t>
            </a:r>
          </a:p>
          <a:p>
            <a:r>
              <a:t>P04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IMG15, IMG16, IMG17</a:t>
            </a:r>
          </a:p>
          <a:p>
            <a:r>
              <a:t>스크립트:</a:t>
            </a:r>
          </a:p>
          <a:p>
            <a:r>
              <a:t>이관우 교육담당: [P04 등장] 저도 Tech X에서 k8s의 GPU 자원 효율화 과제에 참여했습니다. 관심이 있어서 지원했는데, [P04 사진 2 강조] 다른 부서 동료들과 이야기하며 문제를 보는 여러 관점을 배웠습니다. 교육을 운영하는 저도 함께 성장하고 있습니다.</a:t>
            </a:r>
          </a:p>
          <a:p>
            <a:r>
              <a:t>류경동 팀장: 그 경험이 다른 조직에도 열리면 좋겠네요.</a:t>
            </a:r>
          </a:p>
          <a:p>
            <a:r>
              <a:t>이관우 교육담당: 네. [M01 선택 공개] 첫 번째는 Tech X로 가겠습니다.</a:t>
            </a:r>
          </a:p>
          <a:p>
            <a:r>
              <a:t>추가 큐: 다른 부서 동료들과 이야기하며 / P04 사진 2 강조 / IMG17 사진 2 강조. 사진 1은 과제 소개 발화 위에 사용.</a:t>
            </a:r>
          </a:p>
          <a:p>
            <a:r>
              <a:t>추가 큐: 첫 번째는 Tech X로 가겠습니다. / M01 선택 공개 / choice-states.pptx M01 선택 후로 전환. 공개 전 화면은 M01 선택 전. 선택·홀드는 이 장면 시간에 포함.</a:t>
            </a:r>
          </a:p>
          <a:p>
            <a:r>
              <a:t>개인 경험을 들은 뒤 선택한다. 직급에 따라 동의하는 연기가 아니라 본인이 배운 관점에 근거한 추천이다. 사진은 아직 미수급이며 사진 1·2 영역에 실제 원본을 넣는다.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r>
              <a:t>IMG16 / 참여 사진 1 / 사용자가 제공할 이관우의 k8s GPU 과제 참여 사진 1. 아직 원본 파일 미수급. 과제·참여 맥락이 보이는 부분을 사용.</a:t>
            </a:r>
          </a:p>
          <a:p>
            <a:r>
              <a:t>IMG17 / 참여 사진 2 / 사용자가 제공할 이관우의 같은 과제 참여 사진 2. 다른 부서와 함께 배우는 경험을 설명할 때 사용. 특정 대화·개선 수치는 만들지 않음.</a:t>
            </a:r>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02:44–03:02</a:t>
            </a:r>
          </a:p>
          <a:p>
            <a:r>
              <a:t>원본 버전: worldcup-v0.2 / 2026-10-11</a:t>
            </a:r>
          </a:p>
          <a:p>
            <a:r>
              <a:t>자료 큐는 발화 기준. 타임코드는 최종 편집 목표이며 실측 발화 시점이 아니다.</a:t>
            </a:r>
          </a:p>
          <a:p>
            <a:r>
              <a:t>자료 등장: 대표 과제인 IAP는</a:t>
            </a:r>
          </a:p>
          <a:p>
            <a:r>
              <a:t>P05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IMG08</a:t>
            </a:r>
          </a:p>
          <a:p>
            <a:r>
              <a:t>스크립트:</a:t>
            </a:r>
          </a:p>
          <a:p>
            <a:r>
              <a:t>류경동 팀장: [P05 등장] 대표 과제인 IAP는 서버 로그의 특정 패턴을 감지해 정해진 형식으로 메신저에 알립니다. 사람이 하던 알림 업무를 대신합니다.</a:t>
            </a:r>
          </a:p>
          <a:p>
            <a:r>
              <a:t>Tech X 사례 18초 안에서 기능과 수작업 대체만 말한다. 첫 선택 이후의 짧은 예시이며 IAP를 별도 후보로 만들지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03:02–03:33</a:t>
            </a:r>
          </a:p>
          <a:p>
            <a:r>
              <a:t>원본 버전: worldcup-v0.2 / 2026-10-11</a:t>
            </a:r>
          </a:p>
          <a:p>
            <a:r>
              <a:t>자료 큐는 발화 기준. 타임코드는 최종 편집 목표이며 실측 발화 시점이 아니다.</a:t>
            </a:r>
          </a:p>
          <a:p>
            <a:r>
              <a:t>자료 등장: 두 번째 경기는 Job Fair</a:t>
            </a:r>
          </a:p>
          <a:p>
            <a:r>
              <a:t>P06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IMG04, IMG05, IMG06</a:t>
            </a:r>
          </a:p>
          <a:p>
            <a:r>
              <a:t>스크립트:</a:t>
            </a:r>
          </a:p>
          <a:p>
            <a:r>
              <a:t>류경동 팀장: 함께 일하려면 서로의 업무도 알아야 합니다. [P06 등장] 두 번째 경기는 Job Fair와 DCIS입니다.</a:t>
            </a:r>
          </a:p>
          <a:p>
            <a:r>
              <a:t>이관우 교육담당: Job Fair는 8월에 11개 부서가 부스를 열고 A0 패널로 업무를 소개했습니다. 동료에게 직접 묻는 자리였죠. DCIS에서는 매달 주요 과제와 서비스, 연구 중인 기술을 나눕니다.</a:t>
            </a:r>
          </a:p>
          <a:p>
            <a:r>
              <a:t>업무 이해라는 같은 구간에서 직접 만남과 정기 공유를 비교한다. 첫 경기의 경험 이야기에서 동료 이해로 넘어가며, 별도 코너 오프닝은 넣지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03:33–03:54</a:t>
            </a:r>
          </a:p>
          <a:p>
            <a:r>
              <a:t>원본 버전: worldcup-v0.2 / 2026-10-11</a:t>
            </a:r>
          </a:p>
          <a:p>
            <a:r>
              <a:t>자료 큐는 발화 기준. 타임코드는 최종 편집 목표이며 실측 발화 시점이 아니다.</a:t>
            </a:r>
          </a:p>
          <a:p>
            <a:r>
              <a:t>자료 등장: 직접 만나는 Job Fair도 좋지만</a:t>
            </a:r>
          </a:p>
          <a:p>
            <a:r>
              <a:t>P07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IMG04, IMG06</a:t>
            </a:r>
          </a:p>
          <a:p>
            <a:r>
              <a:t>스크립트:</a:t>
            </a:r>
          </a:p>
          <a:p>
            <a:r>
              <a:t>류경동 팀장: [P07 등장] 직접 만나는 Job Fair도 좋지만, [M02 선택 공개] 저는 DCIS를 고르겠습니다. 동료의 일을 매달 나누며 교류를 이어갈 수 있으니까요.</a:t>
            </a:r>
          </a:p>
          <a:p>
            <a:r>
              <a:t>이관우 교육담당: 꾸준히 이어갈 수 있다는 뜻이군요. 동의합니다.</a:t>
            </a:r>
          </a:p>
          <a:p>
            <a:r>
              <a:t>추가 큐: 저는 DCIS를 고르겠습니다. / M02 선택 공개 / choice-states.pptx M02 선택 후 표시. 이 대사 전에는 M02 선택 전 화면을 사용.</a:t>
            </a:r>
          </a:p>
          <a:p>
            <a:r>
              <a:t>Job Fair의 직접 만남을 인정하면서 정기적인 공유를 추천한다. 추천 결과를 교육 효과 순위나 팀 공식 평가로 표시하지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03:54–04:24</a:t>
            </a:r>
          </a:p>
          <a:p>
            <a:r>
              <a:t>원본 버전: worldcup-v0.2 / 2026-10-11</a:t>
            </a:r>
          </a:p>
          <a:p>
            <a:r>
              <a:t>자료 큐는 발화 기준. 타임코드는 최종 편집 목표이며 실측 발화 시점이 아니다.</a:t>
            </a:r>
          </a:p>
          <a:p>
            <a:r>
              <a:t>자료 등장: 결승입니다</a:t>
            </a:r>
          </a:p>
          <a:p>
            <a:r>
              <a:t>P08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이관우 교육담당: [P08 등장] 결승입니다. DCIS처럼 꾸준히 교류할 수도 있죠. 어떤 시작점을 권하시겠어요?</a:t>
            </a:r>
          </a:p>
          <a:p>
            <a:r>
              <a:t>류경동 팀장: [M03 선택 공개] 저는 Tech X입니다. 관심 있는 작은 과제 하나를 열고, 다른 부서 동료가 참여하게 해보는 거죠.</a:t>
            </a:r>
          </a:p>
          <a:p>
            <a:r>
              <a:t>이관우 교육담당: 알아가는 데서 함께 해보는 경험으로 넓히자는 거네요. 저도 Tech X를 권하겠습니다.</a:t>
            </a:r>
          </a:p>
          <a:p>
            <a:r>
              <a:t>추가 큐: 저는 Tech X입니다. / M03 선택 공개 / choice-states.pptx M03 선택 후로 전환. 결승 소개 시 M03 선택 전 화면을 사용. 실제 도입 성과가 아닌 시작 제안.</a:t>
            </a:r>
          </a:p>
          <a:p>
            <a:r>
              <a:t>준결승 이유를 복창하지 않고 다른 조직이 시작할 과제·참여 방법을 설명한다. 최종 추천을 미리 보이지 않도록 선택 전·후 화면을 사용.</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04:24–04:42</a:t>
            </a:r>
          </a:p>
          <a:p>
            <a:r>
              <a:t>원본 버전: worldcup-v0.2 / 2026-10-11</a:t>
            </a:r>
          </a:p>
          <a:p>
            <a:r>
              <a:t>자료 큐는 발화 기준. 타임코드는 최종 편집 목표이며 실측 발화 시점이 아니다.</a:t>
            </a:r>
          </a:p>
          <a:p>
            <a:r>
              <a:t>자료 등장: 오늘은 함께 해보는 기회를</a:t>
            </a:r>
          </a:p>
          <a:p>
            <a:r>
              <a:t>P09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류경동 팀장: [P09 등장] 오늘은 함께 해보는 기회를 골랐습니다. 외부의 기술과 동료의 경험도 꾸준히 나누고요.</a:t>
            </a:r>
          </a:p>
          <a:p>
            <a:r>
              <a:t>이관우 교육담당: 이렇게 쌓은 배움으로, 커지는 AI 인프라 미션을 함께 준비하겠습니다.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04:42–04:55</a:t>
            </a:r>
          </a:p>
          <a:p>
            <a:r>
              <a:t>원본 버전: worldcup-v0.2 / 2026-10-11</a:t>
            </a:r>
          </a:p>
          <a:p>
            <a:r>
              <a:t>자료 큐는 발화 기준. 타임코드는 최종 편집 목표이며 실측 발화 시점이 아니다.</a:t>
            </a:r>
          </a:p>
          <a:p>
            <a:r>
              <a:t>자료 등장: 인프라를 움직이는 힘은</a:t>
            </a:r>
          </a:p>
          <a:p>
            <a:r>
              <a:t>P10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류경동 팀장: [P10 등장] 인프라를 움직이는 힘은, 함께 성장하는 사람입니다.</a:t>
            </a:r>
          </a:p>
          <a:p>
            <a:r>
              <a:t>이관우 교육담당: AI 4 AI. 연결이 성장의 인프라가 됩니다. 감사합니다.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다른 조직에도 권하고 싶은 교류 방식은?</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"A01", "title": "실제 자료 삽입 안내", "body": "사용자가 제공할 사진·화면을 별도 PPTX 사본에 넣고 안내 글자를 제거합니다.", "items": [{"label": "세미나", "value": "IMG03 · IMG13", "detail": "포스터 · 교육 플랫폼 녹화 화면"}, {"label": "Tech X", "value": "IMG07 · IMG16 · IMG17", "detail": "모집 공고 · 이관우 참여 사진 1·2"}, {"label": "업무 이해", "value": "IMG04 · IMG05 · IMG06", "detail": "Job Fair 부스·패널 · DCIS 자료"}, {"label": "IAP", "value": "IMG08", "detail": "실제 알림 화면은 기능 도식과 같은 장면에서 교체"}]}</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"A02", "title": "사실과 외부 참고", "body": "선택은 촬영용 추천이며 실제 투표·교육 효과 순위가 아닙니다. 출처와 사실 범위는 노트를 확인합니다.", "items": [{"label": "팀 역할", "value": "7만 명 이상 · 32개 DC", "detail": "100만 코어 이상 · 클라우드 · GPU 기반 인프라"}, {"label": "교류 경험", "value": "이관우의 실제 참여", "detail": "다른 부서의 관점 학습. GPU 효율 개선 수치는 미제공"}, {"label": "대표 사례", "value": "IAP 로그 알림 자동화", "detail": "지정 형식 메신저 알림 · 해당 수작업 대체"}, {"label": "외부 배경", "value": "Microsoft · Alphabet", "detail": "2026년 공식 AI 인프라 투자 자료. URL은 노트·전달 문서"}]}</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[{"id": "EXT01", "title": "Microsoft FY26 Q4 실적 설명", "date": "2026-07-29", "url": "https://www.microsoft.com/en-us/investor/events/fy-2026/earnings-fy-2026-q4", "use": "AI 인프라·데이터센터 확장 배경. 투자금액은 본편에서 읽거나 그래프로 만들지 않음."}, {"id": "EXT02", "title": "Alphabet Q2 실적 발표 SEC 공시", "date": "2026-07-22", "url": "https://www.sec.gov/Archives/edgar/data/1652044/000165204426000066/googexhibit991q22026.htm", "use": "AI 인프라·컴퓨팅 투자 배경. 팀 교육 성과의 증거로 사용하지 않음."}]</a:t>
            </a:r>
          </a:p>
          <a:p>
            <a:r>
              <a:t>출연자의 과거 취향·실제 조사·투표·교육 효과 순위가 아닌 촬영용 추천 대사다. 모든 경기는 같은 기준으로 선택한다. IAP는 후보가 아니라 Tech X의 짧은 대표 사례다. 실제 출연자의 선택이 바뀌면 대진·대사·선택 화면을 함께 수정한다.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"A03", "title": "제출·촬영 일정", "body": "2026-10-11 기준. 예정 행사의 결과는 확인한 뒤 반영합니다.", "items": [{"label": "10월 12일", "value": "OutSystems 세미나 예정", "detail": "개최 확인 후 상태·자료 갱신"}, {"label": "10월 14일", "value": "자료 제출", "detail": "16일 최종 발표 결과를 미리 넣지 않음"}, {"label": "10월 16일", "value": "Tech X 최종 발표 예정", "detail": "프로젝트 완료·시상일로 확정된 날짜가 아님"}, {"label": "10월 19일", "value": "영상 촬영", "detail": "같은 버전의 대본·PPT·자료 큐 사용"}]}</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P01</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Data Center팀 · 구축 · 제공 · 운영</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AI를 움직이는 인프라,</a:t>
            </a:r>
          </a:p>
          <a:p>
            <a:pPr algn="l">
              <a:spcAft>
                <a:spcPts val="400"/>
              </a:spcAft>
            </a:pPr>
            <a:r>
              <a:rPr sz="3200" b="1">
                <a:solidFill>
                  <a:srgbClr val="F6F8F9"/>
                </a:solidFill>
                <a:latin typeface="맑은 고딕"/>
                <a:ea typeface="맑은 고딕"/>
              </a:rPr>
              <a:t>인프라를 움직이는 사람.</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Rounded Rectangle 8"/>
          <p:cNvSpPr/>
          <p:nvPr/>
        </p:nvSpPr>
        <p:spPr>
          <a:xfrm>
            <a:off x="685800" y="3063240"/>
            <a:ext cx="3465576" cy="1499616"/>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410712"/>
            <a:ext cx="3044952" cy="548640"/>
          </a:xfrm>
          <a:prstGeom prst="rect">
            <a:avLst/>
          </a:prstGeom>
          <a:noFill/>
        </p:spPr>
        <p:txBody>
          <a:bodyPr wrap="square" lIns="0" rIns="0" tIns="0" bIns="0">
            <a:spAutoFit/>
          </a:bodyPr>
          <a:lstStyle/>
          <a:p>
            <a:pPr algn="l">
              <a:spcAft>
                <a:spcPts val="400"/>
              </a:spcAft>
            </a:pPr>
            <a:r>
              <a:rPr sz="2900" b="1">
                <a:solidFill>
                  <a:srgbClr val="83E8C5"/>
                </a:solidFill>
                <a:latin typeface="맑은 고딕"/>
                <a:ea typeface="맑은 고딕"/>
              </a:rPr>
              <a:t>7만 명 이상</a:t>
            </a:r>
          </a:p>
        </p:txBody>
      </p:sp>
      <p:sp>
        <p:nvSpPr>
          <p:cNvPr id="11" name="TextBox 10"/>
          <p:cNvSpPr txBox="1"/>
          <p:nvPr/>
        </p:nvSpPr>
        <p:spPr>
          <a:xfrm>
            <a:off x="896112" y="4105656"/>
            <a:ext cx="3044952" cy="329184"/>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DS부문 임직원</a:t>
            </a:r>
          </a:p>
        </p:txBody>
      </p:sp>
      <p:sp>
        <p:nvSpPr>
          <p:cNvPr id="12" name="Rounded Rectangle 11"/>
          <p:cNvSpPr/>
          <p:nvPr/>
        </p:nvSpPr>
        <p:spPr>
          <a:xfrm>
            <a:off x="4361688" y="3063240"/>
            <a:ext cx="3465576" cy="1499616"/>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410712"/>
            <a:ext cx="3044952" cy="548640"/>
          </a:xfrm>
          <a:prstGeom prst="rect">
            <a:avLst/>
          </a:prstGeom>
          <a:noFill/>
        </p:spPr>
        <p:txBody>
          <a:bodyPr wrap="square" lIns="0" rIns="0" tIns="0" bIns="0">
            <a:spAutoFit/>
          </a:bodyPr>
          <a:lstStyle/>
          <a:p>
            <a:pPr algn="l">
              <a:spcAft>
                <a:spcPts val="400"/>
              </a:spcAft>
            </a:pPr>
            <a:r>
              <a:rPr sz="2900" b="1">
                <a:solidFill>
                  <a:srgbClr val="83E8C5"/>
                </a:solidFill>
                <a:latin typeface="맑은 고딕"/>
                <a:ea typeface="맑은 고딕"/>
              </a:rPr>
              <a:t>32개 DC</a:t>
            </a:r>
          </a:p>
        </p:txBody>
      </p:sp>
      <p:sp>
        <p:nvSpPr>
          <p:cNvPr id="14" name="TextBox 13"/>
          <p:cNvSpPr txBox="1"/>
          <p:nvPr/>
        </p:nvSpPr>
        <p:spPr>
          <a:xfrm>
            <a:off x="4572000" y="4105656"/>
            <a:ext cx="3044952" cy="329184"/>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데이터센터</a:t>
            </a:r>
          </a:p>
        </p:txBody>
      </p:sp>
      <p:sp>
        <p:nvSpPr>
          <p:cNvPr id="15" name="Rounded Rectangle 14"/>
          <p:cNvSpPr/>
          <p:nvPr/>
        </p:nvSpPr>
        <p:spPr>
          <a:xfrm>
            <a:off x="8037575" y="3063240"/>
            <a:ext cx="3465576" cy="1499616"/>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3410712"/>
            <a:ext cx="3044952" cy="548640"/>
          </a:xfrm>
          <a:prstGeom prst="rect">
            <a:avLst/>
          </a:prstGeom>
          <a:noFill/>
        </p:spPr>
        <p:txBody>
          <a:bodyPr wrap="square" lIns="0" rIns="0" tIns="0" bIns="0">
            <a:spAutoFit/>
          </a:bodyPr>
          <a:lstStyle/>
          <a:p>
            <a:pPr algn="l">
              <a:spcAft>
                <a:spcPts val="400"/>
              </a:spcAft>
            </a:pPr>
            <a:r>
              <a:rPr sz="2500" b="1">
                <a:solidFill>
                  <a:srgbClr val="83E8C5"/>
                </a:solidFill>
                <a:latin typeface="맑은 고딕"/>
                <a:ea typeface="맑은 고딕"/>
              </a:rPr>
              <a:t>100만 코어 이상</a:t>
            </a:r>
          </a:p>
        </p:txBody>
      </p:sp>
      <p:sp>
        <p:nvSpPr>
          <p:cNvPr id="17" name="TextBox 16"/>
          <p:cNvSpPr txBox="1"/>
          <p:nvPr/>
        </p:nvSpPr>
        <p:spPr>
          <a:xfrm>
            <a:off x="8247888" y="4105656"/>
            <a:ext cx="3044952" cy="329184"/>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컴퓨팅 자원</a:t>
            </a:r>
          </a:p>
        </p:txBody>
      </p:sp>
      <p:sp>
        <p:nvSpPr>
          <p:cNvPr id="18" name="TextBox 17"/>
          <p:cNvSpPr txBox="1"/>
          <p:nvPr/>
        </p:nvSpPr>
        <p:spPr>
          <a:xfrm>
            <a:off x="685800" y="4983480"/>
            <a:ext cx="10817352" cy="594360"/>
          </a:xfrm>
          <a:prstGeom prst="rect">
            <a:avLst/>
          </a:prstGeom>
          <a:noFill/>
        </p:spPr>
        <p:txBody>
          <a:bodyPr wrap="square" lIns="0" rIns="0" tIns="0" bIns="0">
            <a:spAutoFit/>
          </a:bodyPr>
          <a:lstStyle/>
          <a:p>
            <a:pPr algn="l">
              <a:spcAft>
                <a:spcPts val="400"/>
              </a:spcAft>
            </a:pPr>
            <a:r>
              <a:rPr sz="2600" b="1">
                <a:solidFill>
                  <a:srgbClr val="F6F8F9"/>
                </a:solidFill>
                <a:latin typeface="맑은 고딕"/>
                <a:ea typeface="맑은 고딕"/>
              </a:rPr>
              <a:t>클라우드 · GPU 기반 인프라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P02</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팀 비전 · 배움 월드컵</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AI 4 AI,</a:t>
            </a:r>
          </a:p>
          <a:p>
            <a:pPr algn="l">
              <a:spcAft>
                <a:spcPts val="400"/>
              </a:spcAft>
            </a:pPr>
            <a:r>
              <a:rPr sz="3200" b="1">
                <a:solidFill>
                  <a:srgbClr val="F6F8F9"/>
                </a:solidFill>
                <a:latin typeface="맑은 고딕"/>
                <a:ea typeface="맑은 고딕"/>
              </a:rPr>
              <a:t>함께 성장할 방법은?</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61488"/>
            <a:ext cx="10817352" cy="502920"/>
          </a:xfrm>
          <a:prstGeom prst="rect">
            <a:avLst/>
          </a:prstGeom>
          <a:noFill/>
        </p:spPr>
        <p:txBody>
          <a:bodyPr wrap="square" lIns="0" rIns="0" tIns="0" bIns="0">
            <a:spAutoFit/>
          </a:bodyPr>
          <a:lstStyle/>
          <a:p>
            <a:pPr algn="l">
              <a:spcAft>
                <a:spcPts val="400"/>
              </a:spcAft>
            </a:pPr>
            <a:r>
              <a:rPr sz="2200" b="1">
                <a:solidFill>
                  <a:srgbClr val="83E8C5"/>
                </a:solidFill>
                <a:latin typeface="맑은 고딕"/>
                <a:ea typeface="맑은 고딕"/>
              </a:rPr>
              <a:t>다른 조직에도 권하고 싶은 교류 방식은?</a:t>
            </a:r>
          </a:p>
        </p:txBody>
      </p:sp>
      <p:sp>
        <p:nvSpPr>
          <p:cNvPr id="10" name="TextBox 9"/>
          <p:cNvSpPr txBox="1"/>
          <p:nvPr/>
        </p:nvSpPr>
        <p:spPr>
          <a:xfrm>
            <a:off x="685800" y="3648456"/>
            <a:ext cx="1463040" cy="36576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준결승 1</a:t>
            </a:r>
          </a:p>
        </p:txBody>
      </p:sp>
      <p:sp>
        <p:nvSpPr>
          <p:cNvPr id="11" name="Rounded Rectangle 10"/>
          <p:cNvSpPr/>
          <p:nvPr/>
        </p:nvSpPr>
        <p:spPr>
          <a:xfrm>
            <a:off x="2487168" y="3502152"/>
            <a:ext cx="4416552" cy="75895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70048" y="3694176"/>
            <a:ext cx="4050791" cy="411480"/>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AI 4 AI 세미나</a:t>
            </a:r>
          </a:p>
        </p:txBody>
      </p:sp>
      <p:sp>
        <p:nvSpPr>
          <p:cNvPr id="13" name="Rounded Rectangle 12"/>
          <p:cNvSpPr/>
          <p:nvPr/>
        </p:nvSpPr>
        <p:spPr>
          <a:xfrm>
            <a:off x="7104888" y="3502152"/>
            <a:ext cx="4416552" cy="75895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7768" y="3694176"/>
            <a:ext cx="4050791" cy="411480"/>
          </a:xfrm>
          <a:prstGeom prst="rect">
            <a:avLst/>
          </a:prstGeom>
          <a:noFill/>
        </p:spPr>
        <p:txBody>
          <a:bodyPr wrap="square" lIns="0" rIns="0" tIns="0" bIns="0">
            <a:spAutoFit/>
          </a:bodyPr>
          <a:lstStyle/>
          <a:p>
            <a:pPr algn="l">
              <a:spcAft>
                <a:spcPts val="400"/>
              </a:spcAft>
            </a:pPr>
            <a:r>
              <a:rPr sz="2300" b="1">
                <a:solidFill>
                  <a:srgbClr val="C1B3F4"/>
                </a:solidFill>
                <a:latin typeface="맑은 고딕"/>
                <a:ea typeface="맑은 고딕"/>
              </a:rPr>
              <a:t>Tech X</a:t>
            </a:r>
          </a:p>
        </p:txBody>
      </p:sp>
      <p:sp>
        <p:nvSpPr>
          <p:cNvPr id="15" name="TextBox 14"/>
          <p:cNvSpPr txBox="1"/>
          <p:nvPr/>
        </p:nvSpPr>
        <p:spPr>
          <a:xfrm>
            <a:off x="685800" y="4700016"/>
            <a:ext cx="1463040" cy="36576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준결승 2</a:t>
            </a:r>
          </a:p>
        </p:txBody>
      </p:sp>
      <p:sp>
        <p:nvSpPr>
          <p:cNvPr id="16" name="Rounded Rectangle 15"/>
          <p:cNvSpPr/>
          <p:nvPr/>
        </p:nvSpPr>
        <p:spPr>
          <a:xfrm>
            <a:off x="2487168" y="4553712"/>
            <a:ext cx="4416552" cy="75895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70048" y="4745736"/>
            <a:ext cx="4050791" cy="411480"/>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Job Fair</a:t>
            </a:r>
          </a:p>
        </p:txBody>
      </p:sp>
      <p:sp>
        <p:nvSpPr>
          <p:cNvPr id="18" name="Rounded Rectangle 17"/>
          <p:cNvSpPr/>
          <p:nvPr/>
        </p:nvSpPr>
        <p:spPr>
          <a:xfrm>
            <a:off x="7104888" y="4553712"/>
            <a:ext cx="4416552" cy="758952"/>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7768" y="4745736"/>
            <a:ext cx="4050791" cy="411480"/>
          </a:xfrm>
          <a:prstGeom prst="rect">
            <a:avLst/>
          </a:prstGeom>
          <a:noFill/>
        </p:spPr>
        <p:txBody>
          <a:bodyPr wrap="square" lIns="0" rIns="0" tIns="0" bIns="0">
            <a:spAutoFit/>
          </a:bodyPr>
          <a:lstStyle/>
          <a:p>
            <a:pPr algn="l">
              <a:spcAft>
                <a:spcPts val="400"/>
              </a:spcAft>
            </a:pPr>
            <a:r>
              <a:rPr sz="2300" b="1">
                <a:solidFill>
                  <a:srgbClr val="C1B3F4"/>
                </a:solidFill>
                <a:latin typeface="맑은 고딕"/>
                <a:ea typeface="맑은 고딕"/>
              </a:rPr>
              <a:t>DCIS</a:t>
            </a:r>
          </a:p>
        </p:txBody>
      </p:sp>
      <p:sp>
        <p:nvSpPr>
          <p:cNvPr id="20" name="TextBox 19"/>
          <p:cNvSpPr txBox="1"/>
          <p:nvPr/>
        </p:nvSpPr>
        <p:spPr>
          <a:xfrm>
            <a:off x="685800" y="5687568"/>
            <a:ext cx="10817352" cy="274320"/>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밖의 기술 · 동료의 경험 · 서로의 업무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P03</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1 · 같은 기준으로 비교</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새로운 기술 vs 함께 해보는 경험</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7" name="Rounded Rectangle 16"/>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AI 4 AI 세미나</a:t>
            </a:r>
          </a:p>
        </p:txBody>
      </p:sp>
      <p:sp>
        <p:nvSpPr>
          <p:cNvPr id="19" name="TextBox 18"/>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외부 전문가의 최신 기술</a:t>
            </a:r>
          </a:p>
        </p:txBody>
      </p:sp>
      <p:sp>
        <p:nvSpPr>
          <p:cNvPr id="20" name="TextBox 19"/>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월 1회 · 녹화·센터원 공유</a:t>
            </a:r>
          </a:p>
        </p:txBody>
      </p:sp>
      <p:sp>
        <p:nvSpPr>
          <p:cNvPr id="21" name="Rounded Rectangle 20"/>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Tech X</a:t>
            </a:r>
          </a:p>
        </p:txBody>
      </p:sp>
      <p:sp>
        <p:nvSpPr>
          <p:cNvPr id="23" name="TextBox 22"/>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다른 부서 과제에 직접 참여</a:t>
            </a:r>
          </a:p>
        </p:txBody>
      </p:sp>
      <p:sp>
        <p:nvSpPr>
          <p:cNvPr id="24" name="TextBox 23"/>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파트별 제안·모집·지원·선발 | 6개·44명</a:t>
            </a:r>
          </a:p>
        </p:txBody>
      </p:sp>
      <p:sp>
        <p:nvSpPr>
          <p:cNvPr id="25" name="TextBox 24"/>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두 사람의 선택 이유를 듣고 추천합니다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P04</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1 · 실제 참여 경험</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직접 해보니,</a:t>
            </a:r>
          </a:p>
          <a:p>
            <a:pPr algn="l">
              <a:spcAft>
                <a:spcPts val="400"/>
              </a:spcAft>
            </a:pPr>
            <a:r>
              <a:rPr sz="3200" b="1">
                <a:solidFill>
                  <a:srgbClr val="F6F8F9"/>
                </a:solidFill>
                <a:latin typeface="맑은 고딕"/>
                <a:ea typeface="맑은 고딕"/>
              </a:rPr>
              <a:t>다른 관점이 보였습니다.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06624"/>
            <a:ext cx="10817352" cy="393192"/>
          </a:xfrm>
          <a:prstGeom prst="rect">
            <a:avLst/>
          </a:prstGeom>
          <a:noFill/>
        </p:spPr>
        <p:txBody>
          <a:bodyPr wrap="square" lIns="0" rIns="0" tIns="0" bIns="0">
            <a:spAutoFit/>
          </a:bodyPr>
          <a:lstStyle/>
          <a:p>
            <a:pPr algn="l">
              <a:spcAft>
                <a:spcPts val="400"/>
              </a:spcAft>
            </a:pPr>
            <a:r>
              <a:rPr sz="2200" b="1">
                <a:solidFill>
                  <a:srgbClr val="83E8C5"/>
                </a:solidFill>
                <a:latin typeface="맑은 고딕"/>
                <a:ea typeface="맑은 고딕"/>
              </a:rPr>
              <a:t>이관우 · k8s GPU 자원 효율화 과제</a:t>
            </a:r>
          </a:p>
        </p:txBody>
      </p:sp>
      <p:sp>
        <p:nvSpPr>
          <p:cNvPr id="17" name="P04-asset-frame-IMG16"/>
          <p:cNvSpPr/>
          <p:nvPr/>
        </p:nvSpPr>
        <p:spPr>
          <a:xfrm>
            <a:off x="685800" y="3264408"/>
            <a:ext cx="5285232" cy="1956816"/>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4-asset-instruction-IMG16"/>
          <p:cNvSpPr txBox="1"/>
          <p:nvPr/>
        </p:nvSpPr>
        <p:spPr>
          <a:xfrm>
            <a:off x="868680" y="3374136"/>
            <a:ext cx="491947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19" name="P04-asset-label-IMG16"/>
          <p:cNvSpPr txBox="1"/>
          <p:nvPr/>
        </p:nvSpPr>
        <p:spPr>
          <a:xfrm>
            <a:off x="868680" y="3922776"/>
            <a:ext cx="4919472" cy="89611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참여 사진 1</a:t>
            </a:r>
          </a:p>
        </p:txBody>
      </p:sp>
      <p:sp>
        <p:nvSpPr>
          <p:cNvPr id="20" name="P04-asset-id-IMG16"/>
          <p:cNvSpPr txBox="1"/>
          <p:nvPr/>
        </p:nvSpPr>
        <p:spPr>
          <a:xfrm>
            <a:off x="868680" y="4956048"/>
            <a:ext cx="491947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IMG16</a:t>
            </a:r>
          </a:p>
        </p:txBody>
      </p:sp>
      <p:sp>
        <p:nvSpPr>
          <p:cNvPr id="21" name="P04-asset-frame-IMG17"/>
          <p:cNvSpPr/>
          <p:nvPr/>
        </p:nvSpPr>
        <p:spPr>
          <a:xfrm>
            <a:off x="6217920" y="3264408"/>
            <a:ext cx="5285232" cy="1956816"/>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4-asset-instruction-IMG17"/>
          <p:cNvSpPr txBox="1"/>
          <p:nvPr/>
        </p:nvSpPr>
        <p:spPr>
          <a:xfrm>
            <a:off x="6400800" y="3374136"/>
            <a:ext cx="491947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23" name="P04-asset-label-IMG17"/>
          <p:cNvSpPr txBox="1"/>
          <p:nvPr/>
        </p:nvSpPr>
        <p:spPr>
          <a:xfrm>
            <a:off x="6400800" y="3922776"/>
            <a:ext cx="4919472" cy="89611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참여 사진 2</a:t>
            </a:r>
          </a:p>
        </p:txBody>
      </p:sp>
      <p:sp>
        <p:nvSpPr>
          <p:cNvPr id="24" name="P04-asset-id-IMG17"/>
          <p:cNvSpPr txBox="1"/>
          <p:nvPr/>
        </p:nvSpPr>
        <p:spPr>
          <a:xfrm>
            <a:off x="6400800" y="4956048"/>
            <a:ext cx="491947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IMG17</a:t>
            </a:r>
          </a:p>
        </p:txBody>
      </p:sp>
      <p:sp>
        <p:nvSpPr>
          <p:cNvPr id="25" name="TextBox 24"/>
          <p:cNvSpPr txBox="1"/>
          <p:nvPr/>
        </p:nvSpPr>
        <p:spPr>
          <a:xfrm>
            <a:off x="685800" y="5513832"/>
            <a:ext cx="10817352" cy="365760"/>
          </a:xfrm>
          <a:prstGeom prst="rect">
            <a:avLst/>
          </a:prstGeom>
          <a:noFill/>
        </p:spPr>
        <p:txBody>
          <a:bodyPr wrap="square" lIns="0" rIns="0" tIns="0" bIns="0">
            <a:spAutoFit/>
          </a:bodyPr>
          <a:lstStyle/>
          <a:p>
            <a:pPr algn="l">
              <a:spcAft>
                <a:spcPts val="400"/>
              </a:spcAft>
            </a:pPr>
            <a:r>
              <a:rPr sz="1900" b="0">
                <a:solidFill>
                  <a:srgbClr val="B4C6D4"/>
                </a:solidFill>
                <a:latin typeface="맑은 고딕"/>
                <a:ea typeface="맑은 고딕"/>
              </a:rPr>
              <a:t>관심으로 지원 · 다른 부서의 관점을 배우다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P05</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Tech X · 대표 프로젝트 IAP</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함께 만든 기술이</a:t>
            </a:r>
          </a:p>
          <a:p>
            <a:pPr algn="l">
              <a:spcAft>
                <a:spcPts val="400"/>
              </a:spcAft>
            </a:pPr>
            <a:r>
              <a:rPr sz="3200" b="1">
                <a:solidFill>
                  <a:srgbClr val="F6F8F9"/>
                </a:solidFill>
                <a:latin typeface="맑은 고딕"/>
                <a:ea typeface="맑은 고딕"/>
              </a:rPr>
              <a:t>운영을 바꿉니다.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Rounded Rectangle 15"/>
          <p:cNvSpPr/>
          <p:nvPr/>
        </p:nvSpPr>
        <p:spPr>
          <a:xfrm>
            <a:off x="685800" y="3346704"/>
            <a:ext cx="3349752" cy="14813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575304"/>
            <a:ext cx="2983992" cy="56692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로그 패턴 감지</a:t>
            </a:r>
          </a:p>
        </p:txBody>
      </p:sp>
      <p:sp>
        <p:nvSpPr>
          <p:cNvPr id="18" name="TextBox 17"/>
          <p:cNvSpPr txBox="1"/>
          <p:nvPr/>
        </p:nvSpPr>
        <p:spPr>
          <a:xfrm>
            <a:off x="868680" y="4389120"/>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서버 로그</a:t>
            </a:r>
          </a:p>
        </p:txBody>
      </p:sp>
      <p:cxnSp>
        <p:nvCxnSpPr>
          <p:cNvPr id="19" name="Connector 18"/>
          <p:cNvCxnSpPr/>
          <p:nvPr/>
        </p:nvCxnSpPr>
        <p:spPr>
          <a:xfrm>
            <a:off x="4099560" y="4087368"/>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19600" y="3346704"/>
            <a:ext cx="3349752" cy="14813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02480" y="3575304"/>
            <a:ext cx="2983992" cy="56692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지정 형식</a:t>
            </a:r>
          </a:p>
        </p:txBody>
      </p:sp>
      <p:sp>
        <p:nvSpPr>
          <p:cNvPr id="22" name="TextBox 21"/>
          <p:cNvSpPr txBox="1"/>
          <p:nvPr/>
        </p:nvSpPr>
        <p:spPr>
          <a:xfrm>
            <a:off x="4602480" y="4389120"/>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메시지 구성</a:t>
            </a:r>
          </a:p>
        </p:txBody>
      </p:sp>
      <p:cxnSp>
        <p:nvCxnSpPr>
          <p:cNvPr id="23" name="Connector 22"/>
          <p:cNvCxnSpPr/>
          <p:nvPr/>
        </p:nvCxnSpPr>
        <p:spPr>
          <a:xfrm>
            <a:off x="7833360" y="4087368"/>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53400" y="3346704"/>
            <a:ext cx="3349752" cy="14813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6280" y="3575304"/>
            <a:ext cx="2983992" cy="56692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메신저 알림</a:t>
            </a:r>
          </a:p>
        </p:txBody>
      </p:sp>
      <p:sp>
        <p:nvSpPr>
          <p:cNvPr id="26" name="TextBox 25"/>
          <p:cNvSpPr txBox="1"/>
          <p:nvPr/>
        </p:nvSpPr>
        <p:spPr>
          <a:xfrm>
            <a:off x="8336280" y="4389120"/>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알림 수작업 대체</a:t>
            </a:r>
          </a:p>
        </p:txBody>
      </p:sp>
      <p:sp>
        <p:nvSpPr>
          <p:cNvPr id="27" name="TextBox 26"/>
          <p:cNvSpPr txBox="1"/>
          <p:nvPr/>
        </p:nvSpPr>
        <p:spPr>
          <a:xfrm>
            <a:off x="685800" y="5202936"/>
            <a:ext cx="10817352" cy="45720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Infra Agent Platform · 확인된 운영 적용 사례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P06</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2 · 서로의 업무 이해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직접 만나는 자리 vs 꾸준히 나누는 자리</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7" name="Rounded Rectangle 16"/>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Job Fair</a:t>
            </a:r>
          </a:p>
        </p:txBody>
      </p:sp>
      <p:sp>
        <p:nvSpPr>
          <p:cNvPr id="19" name="TextBox 18"/>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부스에서 동료의 업무 소개</a:t>
            </a:r>
          </a:p>
        </p:txBody>
      </p:sp>
      <p:sp>
        <p:nvSpPr>
          <p:cNvPr id="20" name="TextBox 19"/>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8월 · 11개 부서 · A0 패널</a:t>
            </a:r>
          </a:p>
        </p:txBody>
      </p:sp>
      <p:sp>
        <p:nvSpPr>
          <p:cNvPr id="21" name="Rounded Rectangle 20"/>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23" name="TextBox 22"/>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업무·서비스·연구 기술 공유</a:t>
            </a:r>
          </a:p>
        </p:txBody>
      </p:sp>
      <p:sp>
        <p:nvSpPr>
          <p:cNvPr id="24" name="TextBox 23"/>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월 1회 · 정기적인 내부 교류</a:t>
            </a:r>
          </a:p>
        </p:txBody>
      </p:sp>
      <p:sp>
        <p:nvSpPr>
          <p:cNvPr id="25" name="TextBox 24"/>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두 사람의 선택 이유를 듣고 추천합니다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P07</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준결승 2 · 선택 이유</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업무 공유를 일상으로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7" name="Rounded Rectangle 16"/>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Job Fair</a:t>
            </a:r>
          </a:p>
        </p:txBody>
      </p:sp>
      <p:sp>
        <p:nvSpPr>
          <p:cNvPr id="19" name="TextBox 18"/>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직접 만나 업무를 알아가다</a:t>
            </a:r>
          </a:p>
        </p:txBody>
      </p:sp>
      <p:sp>
        <p:nvSpPr>
          <p:cNvPr id="20" name="TextBox 19"/>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궁금한 일을 동료에게 묻다</a:t>
            </a:r>
          </a:p>
        </p:txBody>
      </p:sp>
      <p:sp>
        <p:nvSpPr>
          <p:cNvPr id="21" name="Rounded Rectangle 20"/>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23" name="TextBox 22"/>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매달 서로의 일을 나누다</a:t>
            </a:r>
          </a:p>
        </p:txBody>
      </p:sp>
      <p:sp>
        <p:nvSpPr>
          <p:cNvPr id="24" name="TextBox 23"/>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업무 이해를 정기적으로 이어가다</a:t>
            </a:r>
          </a:p>
        </p:txBody>
      </p:sp>
      <p:sp>
        <p:nvSpPr>
          <p:cNvPr id="25" name="TextBox 24"/>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두 사람의 선택 이유를 듣고 추천합니다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P08</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결승 · 다른 조직이 시작한다면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함께 해보기 vs 꾸준히 알아가기</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24912"/>
            <a:ext cx="10817352" cy="393192"/>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다른 조직에도 권하고 싶은 교류 방식은?</a:t>
            </a:r>
          </a:p>
        </p:txBody>
      </p:sp>
      <p:sp>
        <p:nvSpPr>
          <p:cNvPr id="10" name="Rounded Rectangle 9"/>
          <p:cNvSpPr/>
          <p:nvPr/>
        </p:nvSpPr>
        <p:spPr>
          <a:xfrm>
            <a:off x="685800"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47872"/>
            <a:ext cx="4818888" cy="41148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Tech X</a:t>
            </a:r>
          </a:p>
        </p:txBody>
      </p:sp>
      <p:sp>
        <p:nvSpPr>
          <p:cNvPr id="12" name="TextBox 11"/>
          <p:cNvSpPr txBox="1"/>
          <p:nvPr/>
        </p:nvSpPr>
        <p:spPr>
          <a:xfrm>
            <a:off x="914400"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관심 과제에 부서 밖 동료 참여</a:t>
            </a:r>
          </a:p>
        </p:txBody>
      </p:sp>
      <p:sp>
        <p:nvSpPr>
          <p:cNvPr id="13" name="TextBox 12"/>
          <p:cNvSpPr txBox="1"/>
          <p:nvPr/>
        </p:nvSpPr>
        <p:spPr>
          <a:xfrm>
            <a:off x="914400"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작은 과제 하나부터 시작하는 제안</a:t>
            </a:r>
          </a:p>
        </p:txBody>
      </p:sp>
      <p:sp>
        <p:nvSpPr>
          <p:cNvPr id="14" name="Rounded Rectangle 13"/>
          <p:cNvSpPr/>
          <p:nvPr/>
        </p:nvSpPr>
        <p:spPr>
          <a:xfrm>
            <a:off x="6227064" y="3319272"/>
            <a:ext cx="5276088" cy="203911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3547872"/>
            <a:ext cx="4818888" cy="411480"/>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DCIS</a:t>
            </a:r>
          </a:p>
        </p:txBody>
      </p:sp>
      <p:sp>
        <p:nvSpPr>
          <p:cNvPr id="16" name="TextBox 15"/>
          <p:cNvSpPr txBox="1"/>
          <p:nvPr/>
        </p:nvSpPr>
        <p:spPr>
          <a:xfrm>
            <a:off x="6455664" y="4215384"/>
            <a:ext cx="4818888" cy="603504"/>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서로의 업무를 정기적으로 공유</a:t>
            </a:r>
          </a:p>
        </p:txBody>
      </p:sp>
      <p:sp>
        <p:nvSpPr>
          <p:cNvPr id="17" name="TextBox 16"/>
          <p:cNvSpPr txBox="1"/>
          <p:nvPr/>
        </p:nvSpPr>
        <p:spPr>
          <a:xfrm>
            <a:off x="6455664" y="4910328"/>
            <a:ext cx="4818888" cy="283464"/>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동료의 일을 이해하는 기회</a:t>
            </a:r>
          </a:p>
        </p:txBody>
      </p:sp>
      <p:sp>
        <p:nvSpPr>
          <p:cNvPr id="18" name="TextBox 17"/>
          <p:cNvSpPr txBox="1"/>
          <p:nvPr/>
        </p:nvSpPr>
        <p:spPr>
          <a:xfrm>
            <a:off x="685800" y="5586984"/>
            <a:ext cx="10817352" cy="31089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두 사람의 선택 이유를 듣고 추천합니다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P09</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전체 교육문화 · 다시 나누다</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하나의 경험에서,</a:t>
            </a:r>
          </a:p>
          <a:p>
            <a:pPr algn="l">
              <a:spcAft>
                <a:spcPts val="400"/>
              </a:spcAft>
            </a:pPr>
            <a:r>
              <a:rPr sz="3200" b="1">
                <a:solidFill>
                  <a:srgbClr val="F6F8F9"/>
                </a:solidFill>
                <a:latin typeface="맑은 고딕"/>
                <a:ea typeface="맑은 고딕"/>
              </a:rPr>
              <a:t>함께 성장하는 문화로.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다시 나누다</a:t>
            </a:r>
          </a:p>
        </p:txBody>
      </p:sp>
      <p:sp>
        <p:nvSpPr>
          <p:cNvPr id="16" name="Rounded Rectangle 15"/>
          <p:cNvSpPr/>
          <p:nvPr/>
        </p:nvSpPr>
        <p:spPr>
          <a:xfrm>
            <a:off x="68580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474720"/>
            <a:ext cx="2050542" cy="566928"/>
          </a:xfrm>
          <a:prstGeom prst="rect">
            <a:avLst/>
          </a:prstGeom>
          <a:noFill/>
        </p:spPr>
        <p:txBody>
          <a:bodyPr wrap="square" lIns="0" rIns="0" tIns="0" bIns="0">
            <a:spAutoFit/>
          </a:bodyPr>
          <a:lstStyle/>
          <a:p>
            <a:pPr algn="ctr">
              <a:spcAft>
                <a:spcPts val="400"/>
              </a:spcAft>
            </a:pPr>
            <a:r>
              <a:rPr sz="2700" b="1">
                <a:solidFill>
                  <a:srgbClr val="83E8C5"/>
                </a:solidFill>
                <a:latin typeface="맑은 고딕"/>
                <a:ea typeface="맑은 고딕"/>
              </a:rPr>
              <a:t>기술</a:t>
            </a:r>
          </a:p>
        </p:txBody>
      </p:sp>
      <p:sp>
        <p:nvSpPr>
          <p:cNvPr id="18" name="TextBox 17"/>
          <p:cNvSpPr txBox="1"/>
          <p:nvPr/>
        </p:nvSpPr>
        <p:spPr>
          <a:xfrm>
            <a:off x="86868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밖에서 배우다</a:t>
            </a:r>
          </a:p>
        </p:txBody>
      </p:sp>
      <p:cxnSp>
        <p:nvCxnSpPr>
          <p:cNvPr id="19" name="Connector 18"/>
          <p:cNvCxnSpPr/>
          <p:nvPr/>
        </p:nvCxnSpPr>
        <p:spPr>
          <a:xfrm>
            <a:off x="3166110" y="38633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48615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9030" y="3474720"/>
            <a:ext cx="2050542" cy="566928"/>
          </a:xfrm>
          <a:prstGeom prst="rect">
            <a:avLst/>
          </a:prstGeom>
          <a:noFill/>
        </p:spPr>
        <p:txBody>
          <a:bodyPr wrap="square" lIns="0" rIns="0" tIns="0" bIns="0">
            <a:spAutoFit/>
          </a:bodyPr>
          <a:lstStyle/>
          <a:p>
            <a:pPr algn="ctr">
              <a:spcAft>
                <a:spcPts val="400"/>
              </a:spcAft>
            </a:pPr>
            <a:r>
              <a:rPr sz="2700" b="1">
                <a:solidFill>
                  <a:srgbClr val="C1B3F4"/>
                </a:solidFill>
                <a:latin typeface="맑은 고딕"/>
                <a:ea typeface="맑은 고딕"/>
              </a:rPr>
              <a:t>경험</a:t>
            </a:r>
          </a:p>
        </p:txBody>
      </p:sp>
      <p:sp>
        <p:nvSpPr>
          <p:cNvPr id="22" name="TextBox 21"/>
          <p:cNvSpPr txBox="1"/>
          <p:nvPr/>
        </p:nvSpPr>
        <p:spPr>
          <a:xfrm>
            <a:off x="366903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함께 해보다</a:t>
            </a:r>
          </a:p>
        </p:txBody>
      </p:sp>
      <p:cxnSp>
        <p:nvCxnSpPr>
          <p:cNvPr id="23" name="Connector 22"/>
          <p:cNvCxnSpPr/>
          <p:nvPr/>
        </p:nvCxnSpPr>
        <p:spPr>
          <a:xfrm>
            <a:off x="5966460" y="38633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8650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474720"/>
            <a:ext cx="2050542" cy="566928"/>
          </a:xfrm>
          <a:prstGeom prst="rect">
            <a:avLst/>
          </a:prstGeom>
          <a:noFill/>
        </p:spPr>
        <p:txBody>
          <a:bodyPr wrap="square" lIns="0" rIns="0" tIns="0" bIns="0">
            <a:spAutoFit/>
          </a:bodyPr>
          <a:lstStyle/>
          <a:p>
            <a:pPr algn="ctr">
              <a:spcAft>
                <a:spcPts val="400"/>
              </a:spcAft>
            </a:pPr>
            <a:r>
              <a:rPr sz="2700" b="1">
                <a:solidFill>
                  <a:srgbClr val="83E8C5"/>
                </a:solidFill>
                <a:latin typeface="맑은 고딕"/>
                <a:ea typeface="맑은 고딕"/>
              </a:rPr>
              <a:t>이해</a:t>
            </a:r>
          </a:p>
        </p:txBody>
      </p:sp>
      <p:sp>
        <p:nvSpPr>
          <p:cNvPr id="26" name="TextBox 25"/>
          <p:cNvSpPr txBox="1"/>
          <p:nvPr/>
        </p:nvSpPr>
        <p:spPr>
          <a:xfrm>
            <a:off x="646938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동료의 일을 알다</a:t>
            </a:r>
          </a:p>
        </p:txBody>
      </p:sp>
      <p:cxnSp>
        <p:nvCxnSpPr>
          <p:cNvPr id="27" name="Connector 26"/>
          <p:cNvCxnSpPr/>
          <p:nvPr/>
        </p:nvCxnSpPr>
        <p:spPr>
          <a:xfrm>
            <a:off x="8766810" y="38633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8685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69730" y="3474720"/>
            <a:ext cx="2050542" cy="566928"/>
          </a:xfrm>
          <a:prstGeom prst="rect">
            <a:avLst/>
          </a:prstGeom>
          <a:noFill/>
        </p:spPr>
        <p:txBody>
          <a:bodyPr wrap="square" lIns="0" rIns="0" tIns="0" bIns="0">
            <a:spAutoFit/>
          </a:bodyPr>
          <a:lstStyle/>
          <a:p>
            <a:pPr algn="ctr">
              <a:spcAft>
                <a:spcPts val="400"/>
              </a:spcAft>
            </a:pPr>
            <a:r>
              <a:rPr sz="2700" b="1">
                <a:solidFill>
                  <a:srgbClr val="83E8C5"/>
                </a:solidFill>
                <a:latin typeface="맑은 고딕"/>
                <a:ea typeface="맑은 고딕"/>
              </a:rPr>
              <a:t>공유</a:t>
            </a:r>
          </a:p>
        </p:txBody>
      </p:sp>
      <p:sp>
        <p:nvSpPr>
          <p:cNvPr id="30" name="TextBox 29"/>
          <p:cNvSpPr txBox="1"/>
          <p:nvPr/>
        </p:nvSpPr>
        <p:spPr>
          <a:xfrm>
            <a:off x="926973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다시 나누다</a:t>
            </a:r>
          </a:p>
        </p:txBody>
      </p:sp>
      <p:cxnSp>
        <p:nvCxnSpPr>
          <p:cNvPr id="31" name="Connector 30"/>
          <p:cNvCxnSpPr/>
          <p:nvPr/>
        </p:nvCxnSpPr>
        <p:spPr>
          <a:xfrm>
            <a:off x="10241280" y="4617720"/>
            <a:ext cx="0" cy="228600"/>
          </a:xfrm>
          <a:prstGeom prst="line">
            <a:avLst/>
          </a:prstGeom>
          <a:ln w="25400">
            <a:solidFill>
              <a:srgbClr val="C1B3F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874519" y="4846320"/>
            <a:ext cx="8366761" cy="0"/>
          </a:xfrm>
          <a:prstGeom prst="line">
            <a:avLst/>
          </a:prstGeom>
          <a:ln w="25400">
            <a:solidFill>
              <a:srgbClr val="C1B3F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874519" y="4617720"/>
            <a:ext cx="0" cy="228600"/>
          </a:xfrm>
          <a:prstGeom prst="line">
            <a:avLst/>
          </a:prstGeom>
          <a:ln w="25400">
            <a:solidFill>
              <a:srgbClr val="C1B3F4"/>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5266944"/>
            <a:ext cx="10817352" cy="548640"/>
          </a:xfrm>
          <a:prstGeom prst="rect">
            <a:avLst/>
          </a:prstGeom>
          <a:noFill/>
        </p:spPr>
        <p:txBody>
          <a:bodyPr wrap="square" lIns="0" rIns="0" tIns="0" bIns="0">
            <a:spAutoFit/>
          </a:bodyPr>
          <a:lstStyle/>
          <a:p>
            <a:pPr algn="l">
              <a:spcAft>
                <a:spcPts val="400"/>
              </a:spcAft>
            </a:pPr>
            <a:r>
              <a:rPr sz="2400" b="1">
                <a:solidFill>
                  <a:srgbClr val="F6F8F9"/>
                </a:solidFill>
                <a:latin typeface="맑은 고딕"/>
                <a:ea typeface="맑은 고딕"/>
              </a:rPr>
              <a:t>AI 인프라 미션을 준비하는 성장의 인프라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P10</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우리의 성장 방식</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5800" b="1">
                <a:solidFill>
                  <a:srgbClr val="F6F8F9"/>
                </a:solidFill>
                <a:latin typeface="맑은 고딕"/>
                <a:ea typeface="맑은 고딕"/>
              </a:rPr>
              <a:t>AI 4 AI</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3191256"/>
            <a:ext cx="10817352" cy="886968"/>
          </a:xfrm>
          <a:prstGeom prst="rect">
            <a:avLst/>
          </a:prstGeom>
          <a:noFill/>
        </p:spPr>
        <p:txBody>
          <a:bodyPr wrap="square" lIns="0" rIns="0" tIns="0" bIns="0">
            <a:spAutoFit/>
          </a:bodyPr>
          <a:lstStyle/>
          <a:p>
            <a:pPr algn="l">
              <a:spcAft>
                <a:spcPts val="400"/>
              </a:spcAft>
            </a:pPr>
            <a:r>
              <a:rPr sz="3500" b="1">
                <a:solidFill>
                  <a:srgbClr val="83E8C5"/>
                </a:solidFill>
                <a:latin typeface="맑은 고딕"/>
                <a:ea typeface="맑은 고딕"/>
              </a:rPr>
              <a:t>연결이 성장의 인프라가 되다</a:t>
            </a:r>
          </a:p>
        </p:txBody>
      </p:sp>
      <p:sp>
        <p:nvSpPr>
          <p:cNvPr id="10" name="TextBox 9"/>
          <p:cNvSpPr txBox="1"/>
          <p:nvPr/>
        </p:nvSpPr>
        <p:spPr>
          <a:xfrm>
            <a:off x="685800" y="4718304"/>
            <a:ext cx="10817352" cy="548640"/>
          </a:xfrm>
          <a:prstGeom prst="rect">
            <a:avLst/>
          </a:prstGeom>
          <a:noFill/>
        </p:spPr>
        <p:txBody>
          <a:bodyPr wrap="square" lIns="0" rIns="0" tIns="0" bIns="0">
            <a:spAutoFit/>
          </a:bodyPr>
          <a:lstStyle/>
          <a:p>
            <a:pPr algn="l">
              <a:spcAft>
                <a:spcPts val="400"/>
              </a:spcAft>
            </a:pPr>
            <a:r>
              <a:rPr sz="2200" b="0">
                <a:solidFill>
                  <a:srgbClr val="F6F8F9"/>
                </a:solidFill>
                <a:latin typeface="맑은 고딕"/>
                <a:ea typeface="맑은 고딕"/>
              </a:rPr>
              <a:t>밖에서 배우고 · 함께 해보고 · 서로 이해하고 · 다시 나눕니다</a:t>
            </a:r>
          </a:p>
        </p:txBody>
      </p:sp>
      <p:sp>
        <p:nvSpPr>
          <p:cNvPr id="11" name="TextBox 10"/>
          <p:cNvSpPr txBox="1"/>
          <p:nvPr/>
        </p:nvSpPr>
        <p:spPr>
          <a:xfrm>
            <a:off x="685800" y="5486400"/>
            <a:ext cx="10817352" cy="320040"/>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류경동 팀장 · 이관우 교육담당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A01</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제작 참고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실제 자료 삽입 안내</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52344"/>
            <a:ext cx="10817352" cy="59436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사용자가 제공할 사진·화면을 별도 PPTX 사본에 넣고 안내 글자를 제거합니다.</a:t>
            </a:r>
          </a:p>
        </p:txBody>
      </p:sp>
      <p:sp>
        <p:nvSpPr>
          <p:cNvPr id="10" name="TextBox 9"/>
          <p:cNvSpPr txBox="1"/>
          <p:nvPr/>
        </p:nvSpPr>
        <p:spPr>
          <a:xfrm>
            <a:off x="685800" y="3593592"/>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세미나</a:t>
            </a:r>
          </a:p>
        </p:txBody>
      </p:sp>
      <p:sp>
        <p:nvSpPr>
          <p:cNvPr id="11" name="TextBox 10"/>
          <p:cNvSpPr txBox="1"/>
          <p:nvPr/>
        </p:nvSpPr>
        <p:spPr>
          <a:xfrm>
            <a:off x="2606040" y="3593592"/>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IMG03 · IMG13</a:t>
            </a:r>
          </a:p>
        </p:txBody>
      </p:sp>
      <p:sp>
        <p:nvSpPr>
          <p:cNvPr id="12" name="TextBox 11"/>
          <p:cNvSpPr txBox="1"/>
          <p:nvPr/>
        </p:nvSpPr>
        <p:spPr>
          <a:xfrm>
            <a:off x="6272784" y="3593592"/>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포스터 · 교육 플랫폼 녹화 화면</a:t>
            </a:r>
          </a:p>
        </p:txBody>
      </p:sp>
      <p:sp>
        <p:nvSpPr>
          <p:cNvPr id="13" name="TextBox 12"/>
          <p:cNvSpPr txBox="1"/>
          <p:nvPr/>
        </p:nvSpPr>
        <p:spPr>
          <a:xfrm>
            <a:off x="685800" y="4114800"/>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Tech X</a:t>
            </a:r>
          </a:p>
        </p:txBody>
      </p:sp>
      <p:sp>
        <p:nvSpPr>
          <p:cNvPr id="14" name="TextBox 13"/>
          <p:cNvSpPr txBox="1"/>
          <p:nvPr/>
        </p:nvSpPr>
        <p:spPr>
          <a:xfrm>
            <a:off x="2606040" y="4114800"/>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IMG07 · IMG16 · IMG17</a:t>
            </a:r>
          </a:p>
        </p:txBody>
      </p:sp>
      <p:sp>
        <p:nvSpPr>
          <p:cNvPr id="15" name="TextBox 14"/>
          <p:cNvSpPr txBox="1"/>
          <p:nvPr/>
        </p:nvSpPr>
        <p:spPr>
          <a:xfrm>
            <a:off x="6272784" y="4114800"/>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모집 공고 · 이관우 참여 사진 1·2</a:t>
            </a:r>
          </a:p>
        </p:txBody>
      </p:sp>
      <p:sp>
        <p:nvSpPr>
          <p:cNvPr id="16" name="TextBox 15"/>
          <p:cNvSpPr txBox="1"/>
          <p:nvPr/>
        </p:nvSpPr>
        <p:spPr>
          <a:xfrm>
            <a:off x="685800" y="4636008"/>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업무 이해</a:t>
            </a:r>
          </a:p>
        </p:txBody>
      </p:sp>
      <p:sp>
        <p:nvSpPr>
          <p:cNvPr id="17" name="TextBox 16"/>
          <p:cNvSpPr txBox="1"/>
          <p:nvPr/>
        </p:nvSpPr>
        <p:spPr>
          <a:xfrm>
            <a:off x="2606040" y="4636008"/>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IMG04 · IMG05 · IMG06</a:t>
            </a:r>
          </a:p>
        </p:txBody>
      </p:sp>
      <p:sp>
        <p:nvSpPr>
          <p:cNvPr id="18" name="TextBox 17"/>
          <p:cNvSpPr txBox="1"/>
          <p:nvPr/>
        </p:nvSpPr>
        <p:spPr>
          <a:xfrm>
            <a:off x="6272784" y="4636008"/>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Job Fair 부스·패널 · DCIS 자료</a:t>
            </a:r>
          </a:p>
        </p:txBody>
      </p:sp>
      <p:sp>
        <p:nvSpPr>
          <p:cNvPr id="19" name="TextBox 18"/>
          <p:cNvSpPr txBox="1"/>
          <p:nvPr/>
        </p:nvSpPr>
        <p:spPr>
          <a:xfrm>
            <a:off x="685800" y="5157216"/>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IAP</a:t>
            </a:r>
          </a:p>
        </p:txBody>
      </p:sp>
      <p:sp>
        <p:nvSpPr>
          <p:cNvPr id="20" name="TextBox 19"/>
          <p:cNvSpPr txBox="1"/>
          <p:nvPr/>
        </p:nvSpPr>
        <p:spPr>
          <a:xfrm>
            <a:off x="2606040" y="5157216"/>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IMG08</a:t>
            </a:r>
          </a:p>
        </p:txBody>
      </p:sp>
      <p:sp>
        <p:nvSpPr>
          <p:cNvPr id="21" name="TextBox 20"/>
          <p:cNvSpPr txBox="1"/>
          <p:nvPr/>
        </p:nvSpPr>
        <p:spPr>
          <a:xfrm>
            <a:off x="6272784" y="5157216"/>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실제 알림 화면은 기능 도식과 같은 장면에서 교체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A02</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제작 참고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사실과 외부 참고</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52344"/>
            <a:ext cx="10817352" cy="59436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선택은 촬영용 추천이며 실제 투표·교육 효과 순위가 아닙니다. 출처와 사실 범위는 노트를 확인합니다.</a:t>
            </a:r>
          </a:p>
        </p:txBody>
      </p:sp>
      <p:sp>
        <p:nvSpPr>
          <p:cNvPr id="10" name="TextBox 9"/>
          <p:cNvSpPr txBox="1"/>
          <p:nvPr/>
        </p:nvSpPr>
        <p:spPr>
          <a:xfrm>
            <a:off x="685800" y="3593592"/>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팀 역할</a:t>
            </a:r>
          </a:p>
        </p:txBody>
      </p:sp>
      <p:sp>
        <p:nvSpPr>
          <p:cNvPr id="11" name="TextBox 10"/>
          <p:cNvSpPr txBox="1"/>
          <p:nvPr/>
        </p:nvSpPr>
        <p:spPr>
          <a:xfrm>
            <a:off x="2606040" y="3593592"/>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7만 명 이상 · 32개 DC</a:t>
            </a:r>
          </a:p>
        </p:txBody>
      </p:sp>
      <p:sp>
        <p:nvSpPr>
          <p:cNvPr id="12" name="TextBox 11"/>
          <p:cNvSpPr txBox="1"/>
          <p:nvPr/>
        </p:nvSpPr>
        <p:spPr>
          <a:xfrm>
            <a:off x="6272784" y="3593592"/>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100만 코어 이상 · 클라우드 · GPU 기반 인프라</a:t>
            </a:r>
          </a:p>
        </p:txBody>
      </p:sp>
      <p:sp>
        <p:nvSpPr>
          <p:cNvPr id="13" name="TextBox 12"/>
          <p:cNvSpPr txBox="1"/>
          <p:nvPr/>
        </p:nvSpPr>
        <p:spPr>
          <a:xfrm>
            <a:off x="685800" y="4114800"/>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교류 경험</a:t>
            </a:r>
          </a:p>
        </p:txBody>
      </p:sp>
      <p:sp>
        <p:nvSpPr>
          <p:cNvPr id="14" name="TextBox 13"/>
          <p:cNvSpPr txBox="1"/>
          <p:nvPr/>
        </p:nvSpPr>
        <p:spPr>
          <a:xfrm>
            <a:off x="2606040" y="4114800"/>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이관우의 실제 참여</a:t>
            </a:r>
          </a:p>
        </p:txBody>
      </p:sp>
      <p:sp>
        <p:nvSpPr>
          <p:cNvPr id="15" name="TextBox 14"/>
          <p:cNvSpPr txBox="1"/>
          <p:nvPr/>
        </p:nvSpPr>
        <p:spPr>
          <a:xfrm>
            <a:off x="6272784" y="4114800"/>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다른 부서의 관점 학습. GPU 효율 개선 수치는 미제공</a:t>
            </a:r>
          </a:p>
        </p:txBody>
      </p:sp>
      <p:sp>
        <p:nvSpPr>
          <p:cNvPr id="16" name="TextBox 15"/>
          <p:cNvSpPr txBox="1"/>
          <p:nvPr/>
        </p:nvSpPr>
        <p:spPr>
          <a:xfrm>
            <a:off x="685800" y="4636008"/>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대표 사례</a:t>
            </a:r>
          </a:p>
        </p:txBody>
      </p:sp>
      <p:sp>
        <p:nvSpPr>
          <p:cNvPr id="17" name="TextBox 16"/>
          <p:cNvSpPr txBox="1"/>
          <p:nvPr/>
        </p:nvSpPr>
        <p:spPr>
          <a:xfrm>
            <a:off x="2606040" y="4636008"/>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IAP 로그 알림 자동화</a:t>
            </a:r>
          </a:p>
        </p:txBody>
      </p:sp>
      <p:sp>
        <p:nvSpPr>
          <p:cNvPr id="18" name="TextBox 17"/>
          <p:cNvSpPr txBox="1"/>
          <p:nvPr/>
        </p:nvSpPr>
        <p:spPr>
          <a:xfrm>
            <a:off x="6272784" y="4636008"/>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지정 형식 메신저 알림 · 해당 수작업 대체</a:t>
            </a:r>
          </a:p>
        </p:txBody>
      </p:sp>
      <p:sp>
        <p:nvSpPr>
          <p:cNvPr id="19" name="TextBox 18"/>
          <p:cNvSpPr txBox="1"/>
          <p:nvPr/>
        </p:nvSpPr>
        <p:spPr>
          <a:xfrm>
            <a:off x="685800" y="5157216"/>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외부 배경</a:t>
            </a:r>
          </a:p>
        </p:txBody>
      </p:sp>
      <p:sp>
        <p:nvSpPr>
          <p:cNvPr id="20" name="TextBox 19"/>
          <p:cNvSpPr txBox="1"/>
          <p:nvPr/>
        </p:nvSpPr>
        <p:spPr>
          <a:xfrm>
            <a:off x="2606040" y="5157216"/>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Microsoft · Alphabet</a:t>
            </a:r>
          </a:p>
        </p:txBody>
      </p:sp>
      <p:sp>
        <p:nvSpPr>
          <p:cNvPr id="21" name="TextBox 20"/>
          <p:cNvSpPr txBox="1"/>
          <p:nvPr/>
        </p:nvSpPr>
        <p:spPr>
          <a:xfrm>
            <a:off x="6272784" y="5157216"/>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2026년 공식 AI 인프라 투자 자료. URL은 노트·전달 문서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A03</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제작 참고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제출·촬영 일정</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52344"/>
            <a:ext cx="10817352" cy="59436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2026-10-11 기준. 예정 행사의 결과는 확인한 뒤 반영합니다.</a:t>
            </a:r>
          </a:p>
        </p:txBody>
      </p:sp>
      <p:sp>
        <p:nvSpPr>
          <p:cNvPr id="10" name="TextBox 9"/>
          <p:cNvSpPr txBox="1"/>
          <p:nvPr/>
        </p:nvSpPr>
        <p:spPr>
          <a:xfrm>
            <a:off x="685800" y="3593592"/>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12일</a:t>
            </a:r>
          </a:p>
        </p:txBody>
      </p:sp>
      <p:sp>
        <p:nvSpPr>
          <p:cNvPr id="11" name="TextBox 10"/>
          <p:cNvSpPr txBox="1"/>
          <p:nvPr/>
        </p:nvSpPr>
        <p:spPr>
          <a:xfrm>
            <a:off x="2606040" y="3593592"/>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OutSystems 세미나 예정</a:t>
            </a:r>
          </a:p>
        </p:txBody>
      </p:sp>
      <p:sp>
        <p:nvSpPr>
          <p:cNvPr id="12" name="TextBox 11"/>
          <p:cNvSpPr txBox="1"/>
          <p:nvPr/>
        </p:nvSpPr>
        <p:spPr>
          <a:xfrm>
            <a:off x="6272784" y="3593592"/>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개최 확인 후 상태·자료 갱신</a:t>
            </a:r>
          </a:p>
        </p:txBody>
      </p:sp>
      <p:sp>
        <p:nvSpPr>
          <p:cNvPr id="13" name="TextBox 12"/>
          <p:cNvSpPr txBox="1"/>
          <p:nvPr/>
        </p:nvSpPr>
        <p:spPr>
          <a:xfrm>
            <a:off x="685800" y="4114800"/>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14일</a:t>
            </a:r>
          </a:p>
        </p:txBody>
      </p:sp>
      <p:sp>
        <p:nvSpPr>
          <p:cNvPr id="14" name="TextBox 13"/>
          <p:cNvSpPr txBox="1"/>
          <p:nvPr/>
        </p:nvSpPr>
        <p:spPr>
          <a:xfrm>
            <a:off x="2606040" y="4114800"/>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자료 제출</a:t>
            </a:r>
          </a:p>
        </p:txBody>
      </p:sp>
      <p:sp>
        <p:nvSpPr>
          <p:cNvPr id="15" name="TextBox 14"/>
          <p:cNvSpPr txBox="1"/>
          <p:nvPr/>
        </p:nvSpPr>
        <p:spPr>
          <a:xfrm>
            <a:off x="6272784" y="4114800"/>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16일 최종 발표 결과를 미리 넣지 않음</a:t>
            </a:r>
          </a:p>
        </p:txBody>
      </p:sp>
      <p:sp>
        <p:nvSpPr>
          <p:cNvPr id="16" name="TextBox 15"/>
          <p:cNvSpPr txBox="1"/>
          <p:nvPr/>
        </p:nvSpPr>
        <p:spPr>
          <a:xfrm>
            <a:off x="685800" y="4636008"/>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16일</a:t>
            </a:r>
          </a:p>
        </p:txBody>
      </p:sp>
      <p:sp>
        <p:nvSpPr>
          <p:cNvPr id="17" name="TextBox 16"/>
          <p:cNvSpPr txBox="1"/>
          <p:nvPr/>
        </p:nvSpPr>
        <p:spPr>
          <a:xfrm>
            <a:off x="2606040" y="4636008"/>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Tech X 최종 발표 예정</a:t>
            </a:r>
          </a:p>
        </p:txBody>
      </p:sp>
      <p:sp>
        <p:nvSpPr>
          <p:cNvPr id="18" name="TextBox 17"/>
          <p:cNvSpPr txBox="1"/>
          <p:nvPr/>
        </p:nvSpPr>
        <p:spPr>
          <a:xfrm>
            <a:off x="6272784" y="4636008"/>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프로젝트 완료·시상일로 확정된 날짜가 아님</a:t>
            </a:r>
          </a:p>
        </p:txBody>
      </p:sp>
      <p:sp>
        <p:nvSpPr>
          <p:cNvPr id="19" name="TextBox 18"/>
          <p:cNvSpPr txBox="1"/>
          <p:nvPr/>
        </p:nvSpPr>
        <p:spPr>
          <a:xfrm>
            <a:off x="685800" y="5157216"/>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19일</a:t>
            </a:r>
          </a:p>
        </p:txBody>
      </p:sp>
      <p:sp>
        <p:nvSpPr>
          <p:cNvPr id="20" name="TextBox 19"/>
          <p:cNvSpPr txBox="1"/>
          <p:nvPr/>
        </p:nvSpPr>
        <p:spPr>
          <a:xfrm>
            <a:off x="2606040" y="5157216"/>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영상 촬영</a:t>
            </a:r>
          </a:p>
        </p:txBody>
      </p:sp>
      <p:sp>
        <p:nvSpPr>
          <p:cNvPr id="21" name="TextBox 20"/>
          <p:cNvSpPr txBox="1"/>
          <p:nvPr/>
        </p:nvSpPr>
        <p:spPr>
          <a:xfrm>
            <a:off x="6272784" y="5157216"/>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같은 버전의 대본·PPT·자료 큐 사용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우리 팀 성장 월드컵</dc:title>
  <dc:subject/>
  <dc:creator>Data Center팀 교육담당 이관우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