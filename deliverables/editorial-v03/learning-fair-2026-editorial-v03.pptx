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00:20–00:55</a:t>
            </a:r>
          </a:p>
          <a:p>
            <a:r>
              <a:t>원본 버전: editorial-v0.3 / 2026-10-11</a:t>
            </a:r>
          </a:p>
          <a:p>
            <a:r>
              <a:t>자료 큐는 발화 기준. 타임코드는 최종 편집 목표이며 실측 발화 시점이 아니다.</a:t>
            </a:r>
          </a:p>
          <a:p>
            <a:r>
              <a:t>자료 등장: 저희 교육문화의 핵심은</a:t>
            </a:r>
          </a:p>
          <a:p>
            <a:r>
              <a:t>팀 역할 설명은 팀장 미디엄샷. 교육담당이 핵심을 말할 때 P01 전체 표시. 아래 세 동사는 발화에 맞춰 한 번씩 강조하고 화면을 유지.</a:t>
            </a:r>
          </a:p>
          <a:p>
            <a:r>
              <a:t>촬영: 2인 미디엄샷으로 시작한 뒤 팀장 단독 미디엄샷. 이름·직함 자막. 교육담당의 핵심 설명에서 P01로 전환.</a:t>
            </a:r>
          </a:p>
          <a:p>
            <a:r>
              <a:t>원본: 편집 가능한 키워드·도식</a:t>
            </a:r>
          </a:p>
          <a:p>
            <a:r>
              <a:t>스크립트:</a:t>
            </a:r>
          </a:p>
          <a:p>
            <a:r>
              <a:t>류경동 팀장: 안녕하세요. Data Center팀은 DS부문의 모든 인프라를 책임지고 있습니다. AI를 위한 인프라를 제공하면서, 저희도 AI를 활용해 운영을 효율화하고 있습니다.</a:t>
            </a:r>
          </a:p>
          <a:p>
            <a:r>
              <a:t>이관우 교육담당: [P01 등장] 저희 교육문화의 핵심은 교류하며 함께 성장하는 것입니다. 외부 전문가와 동료에게 배우고, 부서를 넘어 함께 해본 경험을 다시 나눕니다.</a:t>
            </a:r>
          </a:p>
          <a:p>
            <a:r>
              <a:t>프로그램명을 소개하기 전에 팀 역할과 교류·성장의 핵심을 먼저 전달한다. 세 동사의 연결은 교육문화의 설명 구조이며 개별 활동의 발생 순서나 직접 인과가 아니다. 160명 규모는 강조하지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00:55–01:29</a:t>
            </a:r>
          </a:p>
          <a:p>
            <a:r>
              <a:t>원본 버전: editorial-v0.3 / 2026-10-11</a:t>
            </a:r>
          </a:p>
          <a:p>
            <a:r>
              <a:t>자료 큐는 발화 기준. 타임코드는 최종 편집 목표이며 실측 발화 시점이 아니다.</a:t>
            </a:r>
          </a:p>
          <a:p>
            <a:r>
              <a:t>자료 등장: AI 4 AI 세미나에서</a:t>
            </a:r>
          </a:p>
          <a:p>
            <a:r>
              <a:t>P02의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IMG02, IMG03</a:t>
            </a:r>
          </a:p>
          <a:p>
            <a:r>
              <a:t>스크립트:</a:t>
            </a:r>
          </a:p>
          <a:p>
            <a:r>
              <a:t>이관우 교육담당: 먼저, 팀 밖의 지식을 배우는 자리입니다. [P02 등장] AI 4 AI 세미나에서 매달 외부 전문가를 만납니다. AI를 위한 첨단 인프라라는 뜻입니다.</a:t>
            </a:r>
          </a:p>
          <a:p>
            <a:r>
              <a:t>류경동 팀장: 운영에 AI를 쓰는 AIOps와 국가슈퍼컴퓨터의 기술 흐름처럼, AI를 위한 인프라와 운영 방법을 함께 다룹니다. 센터원에게도 열려 있는 세미나입니다.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**IMG03 — AI 4 AI</a:t>
            </a:r>
          </a:p>
          <a:p>
            <a:r>
              <a:t>대표 세미나 포스터**: Cisco AIOps 또는 KISTI 슈퍼컴퓨터 세미나의 실제 포스터. 행사 사진 IMG02로 교체 가능. 10월 자료는 개최 확인 뒤 사용.</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01:29–01:59</a:t>
            </a:r>
          </a:p>
          <a:p>
            <a:r>
              <a:t>원본 버전: editorial-v0.3 / 2026-10-11</a:t>
            </a:r>
          </a:p>
          <a:p>
            <a:r>
              <a:t>자료 큐는 발화 기준. 타임코드는 최종 편집 목표이며 실측 발화 시점이 아니다.</a:t>
            </a:r>
          </a:p>
          <a:p>
            <a:r>
              <a:t>자료 등장: 11개 부서가</a:t>
            </a:r>
          </a:p>
          <a:p>
            <a:r>
              <a:t>P03의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IMG04, IMG05</a:t>
            </a:r>
          </a:p>
          <a:p>
            <a:r>
              <a:t>스크립트:</a:t>
            </a:r>
          </a:p>
          <a:p>
            <a:r>
              <a:t>이관우 교육담당: 새로운 관점은 동료에게도 배웁니다. 8월 Job Fair에는 [P03 등장] 11개 부서가 부스를 열고, 맡은 일을 A0 판넬로 소개했습니다. 평소 함께 일하는 부서에 궁금했던 일을 물어보는 자리였습니다.</a:t>
            </a:r>
          </a:p>
          <a:p>
            <a:r>
              <a:t>류경동 팀장: 저는 이런 교류가 결속력과 사기를 높이고, 원팀으로 일하는 문화를 만드는 데 도움이 된다고 봅니다.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**IMG04 — Job Fair</a:t>
            </a:r>
          </a:p>
          <a:p>
            <a:r>
              <a:t>부스 전경**: 11개 부서가 서로 설명을 듣는 실제 행사 사진 1장. 일반 전시 사진은 사용하지 않음.</a:t>
            </a:r>
          </a:p>
          <a:p>
            <a:r>
              <a:t>- **IMG05 — 업무 소개</a:t>
            </a:r>
          </a:p>
          <a:p>
            <a:r>
              <a:t>A0 판넬**: 실제 판넬 1종. 부서명·업무 제목이 읽히도록 필요한 부분을 확대.</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01:59–02:13</a:t>
            </a:r>
          </a:p>
          <a:p>
            <a:r>
              <a:t>원본 버전: editorial-v0.3 / 2026-10-11</a:t>
            </a:r>
          </a:p>
          <a:p>
            <a:r>
              <a:t>자료 큐는 발화 기준. 타임코드는 최종 편집 목표이며 실측 발화 시점이 아니다.</a:t>
            </a:r>
          </a:p>
          <a:p>
            <a:r>
              <a:t>자료 등장: 매달 DCIS에서는</a:t>
            </a:r>
          </a:p>
          <a:p>
            <a:r>
              <a:t>P04의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IMG06</a:t>
            </a:r>
          </a:p>
          <a:p>
            <a:r>
              <a:t>스크립트:</a:t>
            </a:r>
          </a:p>
          <a:p>
            <a:r>
              <a:t>류경동 팀장: [P04 등장] 매달 DCIS에서는 주요 과제와 서비스, 연구 중인 기술을 나누며 이런 교류를 이어갑니다.</a:t>
            </a:r>
          </a:p>
          <a:p>
            <a:r>
              <a:t>업무·서비스·연구의 글자 전체를 함께 표시한다. 별도의 DCIS 코너 오프닝은 없이 앞 장면과 같은 톤으로 이어간다.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**IMG06 — DCIS 대표 세션</a:t>
            </a:r>
          </a:p>
          <a:p>
            <a:r>
              <a:t>표지 또는 공지**: 주요 과제·서비스·연구 중 하나가 드러나는 실제 발표 표지나 공지 1장.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02:13–02:46</a:t>
            </a:r>
          </a:p>
          <a:p>
            <a:r>
              <a:t>원본 버전: editorial-v0.3 / 2026-10-11</a:t>
            </a:r>
          </a:p>
          <a:p>
            <a:r>
              <a:t>자료 큐는 발화 기준. 타임코드는 최종 편집 목표이며 실측 발화 시점이 아니다.</a:t>
            </a:r>
          </a:p>
          <a:p>
            <a:r>
              <a:t>자료 등장: Tech X는 3월에</a:t>
            </a:r>
          </a:p>
          <a:p>
            <a:r>
              <a:t>P05의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IMG07</a:t>
            </a:r>
          </a:p>
          <a:p>
            <a:r>
              <a:t>스크립트:</a:t>
            </a:r>
          </a:p>
          <a:p>
            <a:r>
              <a:t>이관우 교육담당: 동료의 일을 알아봤다면, 함께 해볼 기회도 필요합니다. [P05 등장] Tech X는 3월에 참가자를 모집했습니다. 파트별로 과제를 제시하고 지원자를 선발했죠. 4월에 시작했고, 참여 규모는 6개 과제, 44명입니다.</a:t>
            </a:r>
          </a:p>
          <a:p>
            <a:r>
              <a:t>류경동 팀장: 동료의 관점에서 보면, 평소 생각하지 못한 방법으로 문제를 풀 수도 있겠죠.</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**IMG07 — Tech X</a:t>
            </a:r>
          </a:p>
          <a:p>
            <a:r>
              <a:t>3월 모집 공고**: 파트별 과제 주제와 지원 안내를 확인할 수 있는 실제 모집 공고. 참여 집계는 촬영 시점에 확인.</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02:46–03:21</a:t>
            </a:r>
          </a:p>
          <a:p>
            <a:r>
              <a:t>원본 버전: editorial-v0.3 / 2026-10-11</a:t>
            </a:r>
          </a:p>
          <a:p>
            <a:r>
              <a:t>자료 큐는 발화 기준. 타임코드는 최종 편집 목표이며 실측 발화 시점이 아니다.</a:t>
            </a:r>
          </a:p>
          <a:p>
            <a:r>
              <a:t>자료 등장: 저는 k8s에서 GPU 자원을</a:t>
            </a:r>
          </a:p>
          <a:p>
            <a:r>
              <a:t>P06의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IMG15</a:t>
            </a:r>
          </a:p>
          <a:p>
            <a:r>
              <a:t>스크립트:</a:t>
            </a:r>
          </a:p>
          <a:p>
            <a:r>
              <a:t>류경동 팀장: 이관우 님도 직접 참여하셨죠.</a:t>
            </a:r>
          </a:p>
          <a:p>
            <a:r>
              <a:t>이관우 교육담당: 네. [P06 등장] 저는 k8s에서 GPU 자원을 효율적으로 쓰는 프로젝트에 참여했습니다. 관심이 있어서 지원했는데, 함께 이야기하면서 다른 부서가 문제에 접근하는 관점을 알게 됐습니다. 동료와 교류하는 과정 자체가 제게는 배움이었습니다.</a:t>
            </a:r>
          </a:p>
          <a:p>
            <a:r>
              <a:t>류경동 팀장: 다른 과제 중에는 실제 운영에 적용된 사례도 있습니다.</a:t>
            </a:r>
          </a:p>
          <a:p>
            <a:r>
              <a:t>이관우의 실제 참여 경험을 충분히 듣는다. 팀장은 처음 듣는 듯 놀라거나 구체적인 현장 기억을 덧붙이지 않는다. 과제 자료 제목을 확인할 여유를 둔다. 마지막에 다른 과제라고 명시한 뒤 S07의 IAP로 전환한다.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**IMG15 — k8s GPU 과제</a:t>
            </a:r>
          </a:p>
          <a:p>
            <a:r>
              <a:t>표지 또는 논의 자료**: 이관우가 참여한 실제 과제의 제목·논의 내용이 드러나는 자료 1장. 성과 그래프나 가상 회의 사진을 만들지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03:21–03:56</a:t>
            </a:r>
          </a:p>
          <a:p>
            <a:r>
              <a:t>원본 버전: editorial-v0.3 / 2026-10-11</a:t>
            </a:r>
          </a:p>
          <a:p>
            <a:r>
              <a:t>자료 큐는 발화 기준. 타임코드는 최종 편집 목표이며 실측 발화 시점이 아니다.</a:t>
            </a:r>
          </a:p>
          <a:p>
            <a:r>
              <a:t>자료 등장: IAP가 그 사례입니다</a:t>
            </a:r>
          </a:p>
          <a:p>
            <a:r>
              <a:t>P07의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IMG08, IMG09, IMG10</a:t>
            </a:r>
          </a:p>
          <a:p>
            <a:r>
              <a:t>스크립트:</a:t>
            </a:r>
          </a:p>
          <a:p>
            <a:r>
              <a:t>류경동 팀장: [P07 등장] IAP가 그 사례입니다. 서버 로그의 특정 패턴을 감지해, 정해진 형식으로 메신저에 동보합니다. 이 알림 수작업을 대신합니다. 사용할 담당자가 직접 익히는 시간도 필요하겠죠.</a:t>
            </a:r>
          </a:p>
          <a:p>
            <a:r>
              <a:t>이관우 교육담당: [P07 소개·실습 자료 강조] 6월에는 팀 소개 세미나를, 7월에는 에이전트를 등록할 실무 담당자 25명을 대상으로 실습을 진행했습니다.</a:t>
            </a:r>
          </a:p>
          <a:p>
            <a:r>
              <a:t>추가 큐: 6월에는 팀 소개 세미나를 / P07 소개·실습 자료 강조 / 로그 알림 기능 설명 뒤 6월 소개·7월 실습 내용과 IMG10 영역으로 시선을 옮긴다. 소개 사진 IMG09는 필요할 때 같은 장면 안에서 교체한다.</a:t>
            </a:r>
          </a:p>
          <a:p>
            <a:r>
              <a:t>IAP는 개인 GPU 과제와 별개인 대표 사례다. 기능 설명과 활용을 위한 소개·실습까지 이 장면에서 완결한다. 소개·실습은 이어질 다시 나누기의 구체적 사례이기도 하다.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**IMG08 — 로그 알림</a:t>
            </a:r>
          </a:p>
          <a:p>
            <a:r>
              <a:t>실제 기능 화면**: 민감정보를 가린 실제 로그 패턴 감지·메신저 동보 화면. 가상 로그를 실적으로 제시하지 않음.</a:t>
            </a:r>
          </a:p>
          <a:p>
            <a:r>
              <a:t>- **IMG10 — 실무 담당자</a:t>
            </a:r>
          </a:p>
          <a:p>
            <a:r>
              <a:t>실습 사진·교안**: 7월 실무 담당자 대상 실습의 실제 사진이나 교안. 6월 소개 자료 IMG09는 같은 장면 내 교체 가능.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03:56–04:16</a:t>
            </a:r>
          </a:p>
          <a:p>
            <a:r>
              <a:t>원본 버전: editorial-v0.3 / 2026-10-11</a:t>
            </a:r>
          </a:p>
          <a:p>
            <a:r>
              <a:t>자료 큐는 발화 기준. 타임코드는 최종 편집 목표이며 실측 발화 시점이 아니다.</a:t>
            </a:r>
          </a:p>
          <a:p>
            <a:r>
              <a:t>자료 등장: 녹화해 교육 플랫폼에</a:t>
            </a:r>
          </a:p>
          <a:p>
            <a:r>
              <a:t>P08의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IMG13</a:t>
            </a:r>
          </a:p>
          <a:p>
            <a:r>
              <a:t>스크립트:</a:t>
            </a:r>
          </a:p>
          <a:p>
            <a:r>
              <a:t>류경동 팀장: 함께 해본 경험에 더해, 외부에서 배운 지식도 나눕니다. AI 4 AI 세미나는 [P08 등장] 녹화해 교육 플랫폼에 올립니다. [P08 교육 플랫폼 공유 강조] 참석하지 못한 센터원도 다시 볼 수 있게 합니다.</a:t>
            </a:r>
          </a:p>
          <a:p>
            <a:r>
              <a:t>추가 큐: 참석하지 못한 센터원도 / P08 교육 플랫폼 공유 강조 / 교육 플랫폼의 센터원 공유 문구에 얇은 밑줄을 표시한다. 실제 플랫폼을 확보하면 동일 큐에서 IMG13을 보여준다.</a:t>
            </a:r>
          </a:p>
          <a:p>
            <a:r>
              <a:t>앞 장면의 소개·실습에 이어 녹화 공유도 경험을 다시 나누는 방법으로 설명한다. 발화 뒤 실제 녹화 목록을 읽을 짧은 여유를 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**IMG13 — 교육 플랫폼</a:t>
            </a:r>
          </a:p>
          <a:p>
            <a:r>
              <a:t>녹화 목록·재생 화면**: 실제 AI 4 AI 녹화 항목이 보이는 화면. 계정 등 가림 처리. 시청 수·만족도는 추가하지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04:16–04:41</a:t>
            </a:r>
          </a:p>
          <a:p>
            <a:r>
              <a:t>원본 버전: editorial-v0.3 / 2026-10-11</a:t>
            </a:r>
          </a:p>
          <a:p>
            <a:r>
              <a:t>자료 큐는 발화 기준. 타임코드는 최종 편집 목표이며 실측 발화 시점이 아니다.</a:t>
            </a:r>
          </a:p>
          <a:p>
            <a:r>
              <a:t>자료 등장: 이런 교류를 이어가려면</a:t>
            </a:r>
          </a:p>
          <a:p>
            <a:r>
              <a:t>P09을 0.25초 디졸브로 표시. 핵심 문장이 보이면 정지 화면으로 유지.</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[P09 등장] 이런 교류를 이어가려면 참여할 기회가 필요합니다. Tech X 참가자는 시간 일부를 내어 참여하고, 우수 프로젝트는 시상해 성과에 반영합니다.</a:t>
            </a:r>
          </a:p>
          <a:p>
            <a:r>
              <a:t>류경동 팀장: 다른 조직에서도 참여할 기회와 그 시도를 인정하는 방법을 함께 마련해 보면 좋겠습니다.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04:41–04:55</a:t>
            </a:r>
          </a:p>
          <a:p>
            <a:r>
              <a:t>원본 버전: editorial-v0.3 / 2026-10-11</a:t>
            </a:r>
          </a:p>
          <a:p>
            <a:r>
              <a:t>자료 큐는 발화 기준. 타임코드는 최종 편집 목표이며 실측 발화 시점이 아니다.</a:t>
            </a:r>
          </a:p>
          <a:p>
            <a:r>
              <a:t>자료 등장: AI 4 AI. 그 일</a:t>
            </a:r>
          </a:p>
          <a:p>
            <a:r>
              <a:t>P10을 0.25초 디졸브로 표시. 핵심 문장이 보이면 정지 화면으로 유지.</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서로에게 배우고, 함께 해보고, 다시 나누는 문화.</a:t>
            </a:r>
          </a:p>
          <a:p>
            <a:r>
              <a:t>류경동 팀장: [P10 등장] AI 4 AI. 그 일, 같이 해볼까요? Data Center팀이었습니다.</a:t>
            </a:r>
          </a:p>
          <a:p>
            <a:r>
              <a:t>처음 제시한 교육문화의 핵심을 짧게 회수한 뒤 두 사람의 인사로 마친다.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 추가 사용자 지시: 도입에 DS부문 모든 인프라를 책임지고 AI로 운영도 효율화하는 팀 역할과 교류·성장의 교육문화 핵심을 먼저 제시한다. 인원 규모는 도입에서 강조하지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숨김 제작 부록 / 2026-10-11</a:t>
            </a:r>
          </a:p>
          <a:p>
            <a:r>
              <a:t>사용자가 나중에 붙일 실제 자료</a:t>
            </a:r>
          </a:p>
          <a:p>
            <a:r>
              <a:t>본편 점선 영역에 자료명과 IMG ID를 적었습니다. 삽입 후 점선·안내 글자를 제거합니다.</a:t>
            </a:r>
          </a:p>
          <a:p/>
          <a:p>
            <a:r>
              <a:t>P02–P04 / 외부·동료의 지식 / IMG03: AI 4 AI / IMG04·05: Job Fair / IMG06: DCIS</a:t>
            </a:r>
          </a:p>
          <a:p>
            <a:r>
              <a:t>P05–P07 / 모집·참여·실제 적용 / IMG07: 모집 / IMG15: GPU 과제 / IMG08·10: IAP</a:t>
            </a:r>
          </a:p>
          <a:p>
            <a:r>
              <a:t>P08 / 다시 나누는 배움 / IMG13: 교육 플랫폼 녹화 목록·재생 화면</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숨김 제작 부록 / 2026-10-11</a:t>
            </a:r>
          </a:p>
          <a:p>
            <a:r>
              <a:t>확인된 경험과 표현 범위</a:t>
            </a:r>
          </a:p>
          <a:p>
            <a:r>
              <a:t>실제 경험을 반영하되 미제공 성과를 만들지 않습니다. 자세한 삽입·효과 지시는 노트에 있습니다.</a:t>
            </a:r>
          </a:p>
          <a:p>
            <a:r>
              <a:t>도입은 교류·성장의 핵심을 먼저 설명한다. 팀은 DS부문의 모든 인프라를 책임지고 AI를 활용해 운영도 효율화한다. 팀 규모는 소개하지 않는다.</a:t>
            </a:r>
          </a:p>
          <a:p>
            <a:r>
              <a:t>이관우 / k8s GPU 과제 참여 / 다양한 부서의 관점을 접한 본인 경험. 효율 향상 수치는 없음.</a:t>
            </a:r>
          </a:p>
          <a:p>
            <a:r>
              <a:t>팀장 관점 / 결속·사기·원팀 문화 / 교류를 중요하게 보는 이유. 측정된 효과나 과거 발언 인용 아님.</a:t>
            </a:r>
          </a:p>
          <a:p>
            <a:r>
              <a:t>IAP / 별도 과제의 적용 사례 / 로그 알림 수작업 대체. GPU 과제와 별개이며 35초 한 장면.</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숨김 제작 부록 / 2026-10-11</a:t>
            </a:r>
          </a:p>
          <a:p>
            <a:r>
              <a:t>10월 14일 제출 · 19일 촬영</a:t>
            </a:r>
          </a:p>
          <a:p>
            <a:r>
              <a:t>현재 기준일 10월 11일. 일정이 지났다는 이유만으로 개최·발표·시상 완료로 바꾸지 않습니다.</a:t>
            </a:r>
          </a:p>
          <a:p/>
          <a:p>
            <a:r>
              <a:t>10월 12일 / OutSystems 예정 / 실제 개최 확인 후 포스터·사진과 필요한 문구 갱신.</a:t>
            </a:r>
          </a:p>
          <a:p>
            <a:r>
              <a:t>10월 14일 / 자료 제출 → 영상팀 편집 / 16일 최종 발표 결과를 미리 완료형으로 넣지 않음.</a:t>
            </a:r>
          </a:p>
          <a:p>
            <a:r>
              <a:t>10월 16일 / 19일 / 최종 발표 예정 / 촬영 / 발표·결과를 확인한 부분만 교체. 시상일은 아직 미확인.</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 Data Center팀의 교육문화</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교류하며 배우고,</a:t>
            </a:r>
          </a:p>
          <a:p>
            <a:pPr algn="l">
              <a:spcAft>
                <a:spcPts val="400"/>
              </a:spcAft>
            </a:pPr>
            <a:r>
              <a:rPr sz="4000" b="1">
                <a:solidFill>
                  <a:srgbClr val="202522"/>
                </a:solidFill>
                <a:latin typeface="맑은 고딕"/>
                <a:ea typeface="맑은 고딕"/>
              </a:rPr>
              <a:t>함께 성장합니다</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P01</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063240"/>
            <a:ext cx="10789920" cy="640080"/>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DS부문 모든 인프라 책임 · AI로 운영 효율화</a:t>
            </a:r>
          </a:p>
        </p:txBody>
      </p:sp>
      <p:sp>
        <p:nvSpPr>
          <p:cNvPr id="9" name="TextBox 8"/>
          <p:cNvSpPr txBox="1"/>
          <p:nvPr/>
        </p:nvSpPr>
        <p:spPr>
          <a:xfrm>
            <a:off x="685800" y="3675887"/>
            <a:ext cx="3246120"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외부와 동료에게</a:t>
            </a:r>
          </a:p>
        </p:txBody>
      </p:sp>
      <p:sp>
        <p:nvSpPr>
          <p:cNvPr id="10" name="TextBox 9"/>
          <p:cNvSpPr txBox="1"/>
          <p:nvPr/>
        </p:nvSpPr>
        <p:spPr>
          <a:xfrm>
            <a:off x="685800" y="4279392"/>
            <a:ext cx="3246120" cy="731520"/>
          </a:xfrm>
          <a:prstGeom prst="rect">
            <a:avLst/>
          </a:prstGeom>
          <a:noFill/>
        </p:spPr>
        <p:txBody>
          <a:bodyPr wrap="square" lIns="0" rIns="0" tIns="0" bIns="0">
            <a:spAutoFit/>
          </a:bodyPr>
          <a:lstStyle/>
          <a:p>
            <a:pPr algn="l">
              <a:spcAft>
                <a:spcPts val="400"/>
              </a:spcAft>
            </a:pPr>
            <a:r>
              <a:rPr sz="3400" b="1">
                <a:solidFill>
                  <a:srgbClr val="202522"/>
                </a:solidFill>
                <a:latin typeface="맑은 고딕"/>
                <a:ea typeface="맑은 고딕"/>
              </a:rPr>
              <a:t>배우다</a:t>
            </a:r>
          </a:p>
        </p:txBody>
      </p:sp>
      <p:sp>
        <p:nvSpPr>
          <p:cNvPr id="11" name="TextBox 10"/>
          <p:cNvSpPr txBox="1"/>
          <p:nvPr/>
        </p:nvSpPr>
        <p:spPr>
          <a:xfrm>
            <a:off x="685800" y="5193792"/>
            <a:ext cx="3246120" cy="594360"/>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새로운 지식과 관점</a:t>
            </a:r>
          </a:p>
        </p:txBody>
      </p:sp>
      <p:cxnSp>
        <p:nvCxnSpPr>
          <p:cNvPr id="12" name="Connector 11"/>
          <p:cNvCxnSpPr/>
          <p:nvPr/>
        </p:nvCxnSpPr>
        <p:spPr>
          <a:xfrm>
            <a:off x="3721608" y="4599432"/>
            <a:ext cx="512064" cy="0"/>
          </a:xfrm>
          <a:prstGeom prst="line">
            <a:avLst/>
          </a:prstGeom>
          <a:ln w="19050">
            <a:solidFill>
              <a:srgbClr val="176B5B"/>
            </a:solidFill>
            <a:tailEnd type="triangle"/>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434840" y="3675887"/>
            <a:ext cx="3246120"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부서를 넘어</a:t>
            </a:r>
          </a:p>
        </p:txBody>
      </p:sp>
      <p:sp>
        <p:nvSpPr>
          <p:cNvPr id="14" name="TextBox 13"/>
          <p:cNvSpPr txBox="1"/>
          <p:nvPr/>
        </p:nvSpPr>
        <p:spPr>
          <a:xfrm>
            <a:off x="4434840" y="4279392"/>
            <a:ext cx="3246120" cy="731520"/>
          </a:xfrm>
          <a:prstGeom prst="rect">
            <a:avLst/>
          </a:prstGeom>
          <a:noFill/>
        </p:spPr>
        <p:txBody>
          <a:bodyPr wrap="square" lIns="0" rIns="0" tIns="0" bIns="0">
            <a:spAutoFit/>
          </a:bodyPr>
          <a:lstStyle/>
          <a:p>
            <a:pPr algn="l">
              <a:spcAft>
                <a:spcPts val="400"/>
              </a:spcAft>
            </a:pPr>
            <a:r>
              <a:rPr sz="3400" b="1">
                <a:solidFill>
                  <a:srgbClr val="202522"/>
                </a:solidFill>
                <a:latin typeface="맑은 고딕"/>
                <a:ea typeface="맑은 고딕"/>
              </a:rPr>
              <a:t>함께 해보다</a:t>
            </a:r>
          </a:p>
        </p:txBody>
      </p:sp>
      <p:sp>
        <p:nvSpPr>
          <p:cNvPr id="15" name="TextBox 14"/>
          <p:cNvSpPr txBox="1"/>
          <p:nvPr/>
        </p:nvSpPr>
        <p:spPr>
          <a:xfrm>
            <a:off x="4434840" y="5193792"/>
            <a:ext cx="3246120" cy="594360"/>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관심 있는 과제에 참여</a:t>
            </a:r>
          </a:p>
        </p:txBody>
      </p:sp>
      <p:cxnSp>
        <p:nvCxnSpPr>
          <p:cNvPr id="16" name="Connector 15"/>
          <p:cNvCxnSpPr/>
          <p:nvPr/>
        </p:nvCxnSpPr>
        <p:spPr>
          <a:xfrm>
            <a:off x="7470648" y="4599432"/>
            <a:ext cx="512064" cy="0"/>
          </a:xfrm>
          <a:prstGeom prst="line">
            <a:avLst/>
          </a:prstGeom>
          <a:ln w="19050">
            <a:solidFill>
              <a:srgbClr val="176B5B"/>
            </a:solidFill>
            <a:tailEnd type="triangle"/>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8183879" y="3675887"/>
            <a:ext cx="3246120"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다음 동료에게</a:t>
            </a:r>
          </a:p>
        </p:txBody>
      </p:sp>
      <p:sp>
        <p:nvSpPr>
          <p:cNvPr id="18" name="TextBox 17"/>
          <p:cNvSpPr txBox="1"/>
          <p:nvPr/>
        </p:nvSpPr>
        <p:spPr>
          <a:xfrm>
            <a:off x="8183879" y="4279392"/>
            <a:ext cx="3246120" cy="731520"/>
          </a:xfrm>
          <a:prstGeom prst="rect">
            <a:avLst/>
          </a:prstGeom>
          <a:noFill/>
        </p:spPr>
        <p:txBody>
          <a:bodyPr wrap="square" lIns="0" rIns="0" tIns="0" bIns="0">
            <a:spAutoFit/>
          </a:bodyPr>
          <a:lstStyle/>
          <a:p>
            <a:pPr algn="l">
              <a:spcAft>
                <a:spcPts val="400"/>
              </a:spcAft>
            </a:pPr>
            <a:r>
              <a:rPr sz="3400" b="1">
                <a:solidFill>
                  <a:srgbClr val="202522"/>
                </a:solidFill>
                <a:latin typeface="맑은 고딕"/>
                <a:ea typeface="맑은 고딕"/>
              </a:rPr>
              <a:t>다시 나누다</a:t>
            </a:r>
          </a:p>
        </p:txBody>
      </p:sp>
      <p:sp>
        <p:nvSpPr>
          <p:cNvPr id="19" name="TextBox 18"/>
          <p:cNvSpPr txBox="1"/>
          <p:nvPr/>
        </p:nvSpPr>
        <p:spPr>
          <a:xfrm>
            <a:off x="8183879" y="5193792"/>
            <a:ext cx="3246120" cy="594360"/>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경험과 활용법 공유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배우다 · 외부 전문가와 AI 4 AI</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AI를 위한 인프라를 만들고,</a:t>
            </a:r>
          </a:p>
          <a:p>
            <a:pPr algn="l">
              <a:spcAft>
                <a:spcPts val="400"/>
              </a:spcAft>
            </a:pPr>
            <a:r>
              <a:rPr sz="4000" b="1">
                <a:solidFill>
                  <a:srgbClr val="202522"/>
                </a:solidFill>
                <a:latin typeface="맑은 고딕"/>
                <a:ea typeface="맑은 고딕"/>
              </a:rPr>
              <a:t>운영에도 AI를 활용하도록</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P02</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월 1회  ·  센터원 대상</a:t>
            </a:r>
          </a:p>
        </p:txBody>
      </p:sp>
      <p:sp>
        <p:nvSpPr>
          <p:cNvPr id="9" name="TextBox 8"/>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활용 운영</a:t>
            </a:r>
          </a:p>
        </p:txBody>
      </p:sp>
      <p:sp>
        <p:nvSpPr>
          <p:cNvPr id="10" name="TextBox 9"/>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AIOps</a:t>
            </a:r>
          </a:p>
        </p:txBody>
      </p:sp>
      <p:sp>
        <p:nvSpPr>
          <p:cNvPr id="11" name="TextBox 10"/>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Cisco 초청 · 3월</a:t>
            </a:r>
          </a:p>
        </p:txBody>
      </p:sp>
      <p:cxnSp>
        <p:nvCxnSpPr>
          <p:cNvPr id="12" name="Connector 11"/>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인프라</a:t>
            </a:r>
          </a:p>
        </p:txBody>
      </p:sp>
      <p:sp>
        <p:nvSpPr>
          <p:cNvPr id="14" name="TextBox 13"/>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국가슈퍼컴퓨터 6호기</a:t>
            </a:r>
          </a:p>
        </p:txBody>
      </p:sp>
      <p:sp>
        <p:nvSpPr>
          <p:cNvPr id="15" name="TextBox 14"/>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KISTI 초청 · 5월</a:t>
            </a:r>
          </a:p>
        </p:txBody>
      </p:sp>
      <p:sp>
        <p:nvSpPr>
          <p:cNvPr id="16" name="P02-asset-frame-IMG0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P02-asset-instruction-IMG0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8" name="P02-asset-label-IMG0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AI 4 AI</a:t>
            </a:r>
          </a:p>
          <a:p>
            <a:pPr algn="ctr">
              <a:spcAft>
                <a:spcPts val="400"/>
              </a:spcAft>
            </a:pPr>
            <a:r>
              <a:rPr sz="2200" b="1">
                <a:solidFill>
                  <a:srgbClr val="202522"/>
                </a:solidFill>
                <a:latin typeface="맑은 고딕"/>
                <a:ea typeface="맑은 고딕"/>
              </a:rPr>
              <a:t>대표 세미나 포스터</a:t>
            </a:r>
          </a:p>
        </p:txBody>
      </p:sp>
      <p:sp>
        <p:nvSpPr>
          <p:cNvPr id="19" name="P02-asset-id-IMG0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배우다 · 서로의 일을 만나는 Job Fair</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우리 부서는 이런 일을 합니다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각 부서의 업무를</a:t>
            </a:r>
          </a:p>
          <a:p>
            <a:pPr algn="l">
              <a:spcAft>
                <a:spcPts val="400"/>
              </a:spcAft>
            </a:pPr>
            <a:r>
              <a:rPr sz="2500" b="0">
                <a:solidFill>
                  <a:srgbClr val="202522"/>
                </a:solidFill>
                <a:latin typeface="맑은 고딕"/>
                <a:ea typeface="맑은 고딕"/>
              </a:rPr>
              <a:t>A0 판넬로 직접 소개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소개 부서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11개</a:t>
            </a:r>
          </a:p>
        </p:txBody>
      </p:sp>
      <p:sp>
        <p:nvSpPr>
          <p:cNvPr id="10" name="TextBox 9"/>
          <p:cNvSpPr txBox="1"/>
          <p:nvPr/>
        </p:nvSpPr>
        <p:spPr>
          <a:xfrm>
            <a:off x="2432304" y="4471416"/>
            <a:ext cx="3739896" cy="59436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부스에서 듣고, 궁금한 일을 묻는 자리</a:t>
            </a:r>
          </a:p>
        </p:txBody>
      </p:sp>
      <p:sp>
        <p:nvSpPr>
          <p:cNvPr id="11" name="P03-asset-frame-IMG04"/>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03-asset-instruction-IMG04"/>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3" name="P03-asset-label-IMG04"/>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Job Fair</a:t>
            </a:r>
          </a:p>
          <a:p>
            <a:pPr algn="ctr">
              <a:spcAft>
                <a:spcPts val="400"/>
              </a:spcAft>
            </a:pPr>
            <a:r>
              <a:rPr sz="2000" b="1">
                <a:solidFill>
                  <a:srgbClr val="202522"/>
                </a:solidFill>
                <a:latin typeface="맑은 고딕"/>
                <a:ea typeface="맑은 고딕"/>
              </a:rPr>
              <a:t>부스 전경</a:t>
            </a:r>
          </a:p>
        </p:txBody>
      </p:sp>
      <p:sp>
        <p:nvSpPr>
          <p:cNvPr id="14" name="P03-asset-id-IMG04"/>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IMG04</a:t>
            </a:r>
          </a:p>
        </p:txBody>
      </p:sp>
      <p:sp>
        <p:nvSpPr>
          <p:cNvPr id="15" name="P03-asset-frame-IMG05"/>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3-asset-instruction-IMG05"/>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3-asset-label-IMG05"/>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업무 소개</a:t>
            </a:r>
          </a:p>
          <a:p>
            <a:pPr algn="ctr">
              <a:spcAft>
                <a:spcPts val="400"/>
              </a:spcAft>
            </a:pPr>
            <a:r>
              <a:rPr sz="2000" b="1">
                <a:solidFill>
                  <a:srgbClr val="202522"/>
                </a:solidFill>
                <a:latin typeface="맑은 고딕"/>
                <a:ea typeface="맑은 고딕"/>
              </a:rPr>
              <a:t>A0 판넬</a:t>
            </a:r>
          </a:p>
        </p:txBody>
      </p:sp>
      <p:sp>
        <p:nvSpPr>
          <p:cNvPr id="18" name="P03-asset-id-IMG05"/>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배우다 · 매달 이어지는 DCIS</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요즘 우리 부서가</a:t>
            </a:r>
          </a:p>
          <a:p>
            <a:pPr algn="l">
              <a:spcAft>
                <a:spcPts val="400"/>
              </a:spcAft>
            </a:pPr>
            <a:r>
              <a:rPr sz="4000" b="1">
                <a:solidFill>
                  <a:srgbClr val="202522"/>
                </a:solidFill>
                <a:latin typeface="맑은 고딕"/>
                <a:ea typeface="맑은 고딕"/>
              </a:rPr>
              <a:t>하고 있는 일</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Data Center Idea Sync</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P04</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주요 과제 · 서비스</a:t>
            </a:r>
          </a:p>
          <a:p>
            <a:pPr algn="l">
              <a:spcAft>
                <a:spcPts val="400"/>
              </a:spcAft>
            </a:pPr>
            <a:r>
              <a:rPr sz="2500" b="0">
                <a:solidFill>
                  <a:srgbClr val="202522"/>
                </a:solidFill>
                <a:latin typeface="맑은 고딕"/>
                <a:ea typeface="맑은 고딕"/>
              </a:rPr>
              <a:t>연구 중인 기술</a:t>
            </a:r>
          </a:p>
        </p:txBody>
      </p:sp>
      <p:sp>
        <p:nvSpPr>
          <p:cNvPr id="9" name="P04-asset-frame-IMG06"/>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4-asset-instruction-IMG06"/>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1" name="P04-asset-label-IMG06"/>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DCIS 대표 세션</a:t>
            </a:r>
          </a:p>
          <a:p>
            <a:pPr algn="ctr">
              <a:spcAft>
                <a:spcPts val="400"/>
              </a:spcAft>
            </a:pPr>
            <a:r>
              <a:rPr sz="2200" b="1">
                <a:solidFill>
                  <a:srgbClr val="202522"/>
                </a:solidFill>
                <a:latin typeface="맑은 고딕"/>
                <a:ea typeface="맑은 고딕"/>
              </a:rPr>
              <a:t>표지 또는 공지</a:t>
            </a:r>
          </a:p>
        </p:txBody>
      </p:sp>
      <p:sp>
        <p:nvSpPr>
          <p:cNvPr id="12" name="P04-asset-id-IMG06"/>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함께 해보다 · Tech X 모집과 참여</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3월에 모집하고,</a:t>
            </a:r>
          </a:p>
          <a:p>
            <a:pPr algn="l">
              <a:spcAft>
                <a:spcPts val="400"/>
              </a:spcAft>
            </a:pPr>
            <a:r>
              <a:rPr sz="4000" b="1">
                <a:solidFill>
                  <a:srgbClr val="202522"/>
                </a:solidFill>
                <a:latin typeface="맑은 고딕"/>
                <a:ea typeface="맑은 고딕"/>
              </a:rPr>
              <a:t>4월에 시작했습니다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P05</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파트별로 프로젝트 주제 제시</a:t>
            </a:r>
          </a:p>
          <a:p>
            <a:pPr algn="l">
              <a:spcAft>
                <a:spcPts val="400"/>
              </a:spcAft>
            </a:pPr>
            <a:r>
              <a:rPr sz="2500" b="0">
                <a:solidFill>
                  <a:srgbClr val="202522"/>
                </a:solidFill>
                <a:latin typeface="맑은 고딕"/>
                <a:ea typeface="맑은 고딕"/>
              </a:rPr>
              <a:t>지원자 중 필요한 인원 선발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과제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6개 프로젝트</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각 파트에서 주제 하나씩 제시</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인원</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44명</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4월부터 프로젝트 진행</a:t>
            </a:r>
          </a:p>
        </p:txBody>
      </p:sp>
      <p:sp>
        <p:nvSpPr>
          <p:cNvPr id="15" name="P05-asset-frame-IMG07"/>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5-asset-instruction-IMG07"/>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5-asset-label-IMG07"/>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Tech X</a:t>
            </a:r>
          </a:p>
          <a:p>
            <a:pPr algn="ctr">
              <a:spcAft>
                <a:spcPts val="400"/>
              </a:spcAft>
            </a:pPr>
            <a:r>
              <a:rPr sz="2200" b="1">
                <a:solidFill>
                  <a:srgbClr val="202522"/>
                </a:solidFill>
                <a:latin typeface="맑은 고딕"/>
                <a:ea typeface="맑은 고딕"/>
              </a:rPr>
              <a:t>3월 모집 공고</a:t>
            </a:r>
          </a:p>
        </p:txBody>
      </p:sp>
      <p:sp>
        <p:nvSpPr>
          <p:cNvPr id="18" name="P05-asset-id-IMG07"/>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함께 해보다 · 이관우의 참여 경험</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저도 이 프로젝트에</a:t>
            </a:r>
          </a:p>
          <a:p>
            <a:pPr algn="l">
              <a:spcAft>
                <a:spcPts val="400"/>
              </a:spcAft>
            </a:pPr>
            <a:r>
              <a:rPr sz="4000" b="1">
                <a:solidFill>
                  <a:srgbClr val="202522"/>
                </a:solidFill>
                <a:latin typeface="맑은 고딕"/>
                <a:ea typeface="맑은 고딕"/>
              </a:rPr>
              <a:t>참여했습니다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P06</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관심이 있어서 지원한 과제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과제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GPU 자원 효율화</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쿠버네티스(k8s) 환경</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알게 된 것</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다른 부서의 관점</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함께 이야기하며 배우는 경험</a:t>
            </a:r>
          </a:p>
        </p:txBody>
      </p:sp>
      <p:sp>
        <p:nvSpPr>
          <p:cNvPr id="15" name="P06-asset-frame-IMG15"/>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6-asset-instruction-IMG15"/>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6-asset-label-IMG15"/>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k8s GPU 과제</a:t>
            </a:r>
          </a:p>
          <a:p>
            <a:pPr algn="ctr">
              <a:spcAft>
                <a:spcPts val="400"/>
              </a:spcAft>
            </a:pPr>
            <a:r>
              <a:rPr sz="2200" b="1">
                <a:solidFill>
                  <a:srgbClr val="202522"/>
                </a:solidFill>
                <a:latin typeface="맑은 고딕"/>
                <a:ea typeface="맑은 고딕"/>
              </a:rPr>
              <a:t>표지 또는 논의 자료</a:t>
            </a:r>
          </a:p>
        </p:txBody>
      </p:sp>
      <p:sp>
        <p:nvSpPr>
          <p:cNvPr id="18" name="P06-asset-id-IMG15"/>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함께 해보다 · Tech X의 대표 사례 IAP</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로그 알림 업무를</a:t>
            </a:r>
          </a:p>
          <a:p>
            <a:pPr algn="l">
              <a:spcAft>
                <a:spcPts val="400"/>
              </a:spcAft>
            </a:pPr>
            <a:r>
              <a:rPr sz="4000" b="1">
                <a:solidFill>
                  <a:srgbClr val="202522"/>
                </a:solidFill>
                <a:latin typeface="맑은 고딕"/>
                <a:ea typeface="맑은 고딕"/>
              </a:rPr>
              <a:t>자동화했습니다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P07</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로그 패턴 감지 → 메신저 동보</a:t>
            </a:r>
          </a:p>
          <a:p>
            <a:pPr algn="l">
              <a:spcAft>
                <a:spcPts val="400"/>
              </a:spcAft>
            </a:pPr>
            <a:r>
              <a:rPr sz="2500" b="0">
                <a:solidFill>
                  <a:srgbClr val="202522"/>
                </a:solidFill>
                <a:latin typeface="맑은 고딕"/>
                <a:ea typeface="맑은 고딕"/>
              </a:rPr>
              <a:t>해당 알림 수작업 대체</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6월</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팀 소개 세미나</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개발한 내용 소개</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7월</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실무 담당자 실습</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에이전트 등록 담당자 25명 대상</a:t>
            </a:r>
          </a:p>
        </p:txBody>
      </p:sp>
      <p:sp>
        <p:nvSpPr>
          <p:cNvPr id="15" name="P07-asset-frame-IMG08"/>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7-asset-instruction-IMG08"/>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7-asset-label-IMG08"/>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로그 알림</a:t>
            </a:r>
          </a:p>
          <a:p>
            <a:pPr algn="ctr">
              <a:spcAft>
                <a:spcPts val="400"/>
              </a:spcAft>
            </a:pPr>
            <a:r>
              <a:rPr sz="2000" b="1">
                <a:solidFill>
                  <a:srgbClr val="202522"/>
                </a:solidFill>
                <a:latin typeface="맑은 고딕"/>
                <a:ea typeface="맑은 고딕"/>
              </a:rPr>
              <a:t>실제 기능 화면</a:t>
            </a:r>
          </a:p>
        </p:txBody>
      </p:sp>
      <p:sp>
        <p:nvSpPr>
          <p:cNvPr id="18" name="P07-asset-id-IMG08"/>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IMG08</a:t>
            </a:r>
          </a:p>
        </p:txBody>
      </p:sp>
      <p:sp>
        <p:nvSpPr>
          <p:cNvPr id="19" name="P07-asset-frame-IMG10"/>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P07-asset-instruction-IMG10"/>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21" name="P07-asset-label-IMG10"/>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실무 담당자</a:t>
            </a:r>
          </a:p>
          <a:p>
            <a:pPr algn="ctr">
              <a:spcAft>
                <a:spcPts val="400"/>
              </a:spcAft>
            </a:pPr>
            <a:r>
              <a:rPr sz="2000" b="1">
                <a:solidFill>
                  <a:srgbClr val="202522"/>
                </a:solidFill>
                <a:latin typeface="맑은 고딕"/>
                <a:ea typeface="맑은 고딕"/>
              </a:rPr>
              <a:t>실습 사진·교안</a:t>
            </a:r>
          </a:p>
        </p:txBody>
      </p:sp>
      <p:sp>
        <p:nvSpPr>
          <p:cNvPr id="22" name="P07-asset-id-IMG10"/>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다시 나누다 · AI 4 AI 녹화 공유</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그날 못 들은 동료도</a:t>
            </a:r>
          </a:p>
          <a:p>
            <a:pPr algn="l">
              <a:spcAft>
                <a:spcPts val="400"/>
              </a:spcAft>
            </a:pPr>
            <a:r>
              <a:rPr sz="4000" b="1">
                <a:solidFill>
                  <a:srgbClr val="202522"/>
                </a:solidFill>
                <a:latin typeface="맑은 고딕"/>
                <a:ea typeface="맑은 고딕"/>
              </a:rPr>
              <a:t>다시 볼 수 있게</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P08</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세미나를 녹화해 교육 플랫폼에 공유</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자료</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세미나 녹화본</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그날 참석하지 못했어도</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공유 대상</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센터원</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나중에 다시 찾아볼 수 있게</a:t>
            </a:r>
          </a:p>
        </p:txBody>
      </p:sp>
      <p:sp>
        <p:nvSpPr>
          <p:cNvPr id="15" name="P08-asset-frame-IMG1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8-asset-instruction-IMG1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8-asset-label-IMG1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교육 플랫폼</a:t>
            </a:r>
          </a:p>
          <a:p>
            <a:pPr algn="ctr">
              <a:spcAft>
                <a:spcPts val="400"/>
              </a:spcAft>
            </a:pPr>
            <a:r>
              <a:rPr sz="2200" b="1">
                <a:solidFill>
                  <a:srgbClr val="202522"/>
                </a:solidFill>
                <a:latin typeface="맑은 고딕"/>
                <a:ea typeface="맑은 고딕"/>
              </a:rPr>
              <a:t>녹화 목록·재생 화면</a:t>
            </a:r>
          </a:p>
        </p:txBody>
      </p:sp>
      <p:sp>
        <p:nvSpPr>
          <p:cNvPr id="18" name="P08-asset-id-IMG1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교류를 이어가는 방법 · 다른 조직에서도</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참여할 기회와</a:t>
            </a:r>
          </a:p>
          <a:p>
            <a:pPr algn="l">
              <a:spcAft>
                <a:spcPts val="400"/>
              </a:spcAft>
            </a:pPr>
            <a:r>
              <a:rPr sz="4000" b="1">
                <a:solidFill>
                  <a:srgbClr val="202522"/>
                </a:solidFill>
                <a:latin typeface="맑은 고딕"/>
                <a:ea typeface="맑은 고딕"/>
              </a:rPr>
              <a:t>시도를 인정하는 방법</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P09</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063240"/>
            <a:ext cx="10789920" cy="640080"/>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
            </a:r>
          </a:p>
        </p:txBody>
      </p:sp>
      <p:sp>
        <p:nvSpPr>
          <p:cNvPr id="8" name="TextBox 7"/>
          <p:cNvSpPr txBox="1"/>
          <p:nvPr/>
        </p:nvSpPr>
        <p:spPr>
          <a:xfrm>
            <a:off x="685800"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참여</a:t>
            </a:r>
          </a:p>
        </p:txBody>
      </p:sp>
      <p:sp>
        <p:nvSpPr>
          <p:cNvPr id="9" name="TextBox 8"/>
          <p:cNvSpPr txBox="1"/>
          <p:nvPr/>
        </p:nvSpPr>
        <p:spPr>
          <a:xfrm>
            <a:off x="685800"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각자 시간 일부를 할애</a:t>
            </a:r>
          </a:p>
        </p:txBody>
      </p:sp>
      <p:sp>
        <p:nvSpPr>
          <p:cNvPr id="10" name="TextBox 9"/>
          <p:cNvSpPr txBox="1"/>
          <p:nvPr/>
        </p:nvSpPr>
        <p:spPr>
          <a:xfrm>
            <a:off x="685800"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관심 있는 프로젝트에 지원</a:t>
            </a:r>
          </a:p>
        </p:txBody>
      </p:sp>
      <p:cxnSp>
        <p:nvCxnSpPr>
          <p:cNvPr id="11" name="Connector 10"/>
          <p:cNvCxnSpPr/>
          <p:nvPr/>
        </p:nvCxnSpPr>
        <p:spPr>
          <a:xfrm>
            <a:off x="6094476" y="3877056"/>
            <a:ext cx="0" cy="2048256"/>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300216"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인정</a:t>
            </a:r>
          </a:p>
        </p:txBody>
      </p:sp>
      <p:sp>
        <p:nvSpPr>
          <p:cNvPr id="13" name="TextBox 12"/>
          <p:cNvSpPr txBox="1"/>
          <p:nvPr/>
        </p:nvSpPr>
        <p:spPr>
          <a:xfrm>
            <a:off x="6300216"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우수 프로젝트 시상</a:t>
            </a:r>
          </a:p>
        </p:txBody>
      </p:sp>
      <p:sp>
        <p:nvSpPr>
          <p:cNvPr id="14" name="TextBox 13"/>
          <p:cNvSpPr txBox="1"/>
          <p:nvPr/>
        </p:nvSpPr>
        <p:spPr>
          <a:xfrm>
            <a:off x="6300216"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성과에 반영하는 운영 방식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2026 Learning Fair  ·  Data Center팀</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400" b="1">
                <a:solidFill>
                  <a:srgbClr val="202522"/>
                </a:solidFill>
                <a:latin typeface="맑은 고딕"/>
                <a:ea typeface="맑은 고딕"/>
              </a:rPr>
              <a:t>AI 4 AI</a:t>
            </a:r>
          </a:p>
          <a:p>
            <a:pPr algn="l">
              <a:spcAft>
                <a:spcPts val="400"/>
              </a:spcAft>
            </a:pPr>
            <a:r>
              <a:rPr sz="4400" b="1">
                <a:solidFill>
                  <a:srgbClr val="202522"/>
                </a:solidFill>
                <a:latin typeface="맑은 고딕"/>
                <a:ea typeface="맑은 고딕"/>
              </a:rPr>
              <a:t>그 일, 같이 해볼까요?</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P10</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337560"/>
            <a:ext cx="10789920" cy="859536"/>
          </a:xfrm>
          <a:prstGeom prst="rect">
            <a:avLst/>
          </a:prstGeom>
          <a:noFill/>
        </p:spPr>
        <p:txBody>
          <a:bodyPr wrap="square" lIns="0" rIns="0" tIns="0" bIns="0">
            <a:spAutoFit/>
          </a:bodyPr>
          <a:lstStyle/>
          <a:p>
            <a:pPr algn="l">
              <a:spcAft>
                <a:spcPts val="400"/>
              </a:spcAft>
            </a:pPr>
            <a:r>
              <a:rPr sz="2900" b="0">
                <a:solidFill>
                  <a:srgbClr val="202522"/>
                </a:solidFill>
                <a:latin typeface="맑은 고딕"/>
                <a:ea typeface="맑은 고딕"/>
              </a:rPr>
              <a:t>서로에게 배우고 · 함께 해보고 · 다시 나누고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사용자가 나중에 붙일 실제 자료</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A01</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본편 점선 영역에 자료명과 IMG ID를 적었습니다. 삽입 후 점선·안내 글자를 제거합니다.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P02–P04</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외부·동료의 지식</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IMG03: AI 4 AI / IMG04·05: Job Fair / IMG06: DCIS</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P05–P07</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모집·참여·실제 적용</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IMG07: 모집 / IMG15: GPU 과제 / IMG08·10: IAP</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P08</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다시 나누는 배움</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IMG13: 교육 플랫폼 녹화 목록·재생 화면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확인된 경험과 표현 범위</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A02</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실제 경험을 반영하되 미제공 성과를 만들지 않습니다. 자세한 삽입·효과 지시는 노트에 있습니다.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이관우</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k8s GPU 과제 참여</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다양한 부서의 관점을 접한 본인 경험. 효율 향상 수치는 없음.</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팀장 관점</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결속·사기·원팀 문화</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교류를 중요하게 보는 이유. 측정된 효과나 과거 발언 인용 아님.</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IAP</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별도 과제의 적용 사례</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로그 알림 수작업 대체. GPU 과제와 별개이며 35초 한 장면.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10월 14일 제출 · 19일 촬영</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현재 기준일 10월 11일. 일정이 지났다는 이유만으로 개최·발표·시상 완료로 바꾸지 않습니다.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12일</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OutSystems 예정</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실제 개최 확인 후 포스터·사진과 필요한 문구 갱신.</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14일</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자료 제출 → 영상팀 편집</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16일 최종 발표 결과를 미리 완료형으로 넣지 않음.</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16일 / 19일</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최종 발표 예정 / 촬영</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발표·결과를 확인한 부분만 교체. 시상일은 아직 미확인.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그 일, 같이 해볼까요?</dc:title>
  <dc:subject/>
  <dc:creator>Data Center팀</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