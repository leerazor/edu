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P01 / S01 / 최종 00:20–00:51</a:t>
            </a:r>
          </a:p>
          <a:p>
            <a:r>
              <a:t>원본 버전: story-v0.2 / 2026-10-11</a:t>
            </a:r>
          </a:p>
          <a:p>
            <a:r>
              <a:t>자료 큐는 발화 기준. 타임코드는 최종 편집 목표이며 실측 발화 시점이 아니다.</a:t>
            </a:r>
          </a:p>
          <a:p>
            <a:r>
              <a:t>자료 등장: DS부문 임직원</a:t>
            </a:r>
          </a:p>
          <a:p>
            <a:r>
              <a:t>P01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편집 가능한 키워드·도식</a:t>
            </a:r>
          </a:p>
          <a:p>
            <a:r>
              <a:t>스크립트:</a:t>
            </a:r>
          </a:p>
          <a:p>
            <a:r>
              <a:t>류경동 팀장: 안녕하세요. Data Center팀입니다. 저희는 [P01 등장] DS부문 임직원 7만 명 이상이 사용하는 모든 IT 인프라를 제공하고 운영합니다. 32개 데이터센터와 100만 코어 이상의 컴퓨팅 자원, 회사 시스템 대부분이 운영되는 클라우드, AI를 위한 GPU 인프라까지 맡고 있습니다.</a:t>
            </a:r>
          </a:p>
          <a:p>
            <a:r>
              <a:t>규모 카드는 한 화면에 완성형으로 표시한다. 숫자 카운트업이나 별도 인원 규모 장표는 만들지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 / S02 / 최종 00:51–01:23</a:t>
            </a:r>
          </a:p>
          <a:p>
            <a:r>
              <a:t>원본 버전: story-v0.2 / 2026-10-11</a:t>
            </a:r>
          </a:p>
          <a:p>
            <a:r>
              <a:t>자료 큐는 발화 기준. 타임코드는 최종 편집 목표이며 실측 발화 시점이 아니다.</a:t>
            </a:r>
          </a:p>
          <a:p>
            <a:r>
              <a:t>자료 등장: AI 4 AI,</a:t>
            </a:r>
          </a:p>
          <a:p>
            <a:r>
              <a:t>P02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편집 가능한 키워드·도식</a:t>
            </a:r>
          </a:p>
          <a:p>
            <a:r>
              <a:t>스크립트:</a:t>
            </a:r>
          </a:p>
          <a:p>
            <a:r>
              <a:t>류경동 팀장: AI 인프라의 중요성이 커지면서, 우리 팀의 미션도 넓어지고 있습니다. [P02 등장] AI 4 AI, AI를 위한 첨단 인프라를 제공하는 것이 저희의 비전입니다. 이 많은 일을 안정적으로 해내려면, 우리도 함께 성장해야겠죠.</a:t>
            </a:r>
          </a:p>
          <a:p>
            <a:r>
              <a:t>이관우 교육담당: 그래서 외부의 경험을 배우고 남기며, 서로의 경험을 나누는 문화를 만들고 있습니다.</a:t>
            </a:r>
          </a:p>
          <a:p>
            <a:r>
              <a:t>팀 비전과 AI 운영의 두 방향, 그 일을 준비하는 학습문화의 관계를 보여준다. AI 운영이 전 영역에서 자동화됐다는 뜻은 아니다.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 / S03 / 최종 01:23–02:00</a:t>
            </a:r>
          </a:p>
          <a:p>
            <a:r>
              <a:t>원본 버전: story-v0.2 / 2026-10-11</a:t>
            </a:r>
          </a:p>
          <a:p>
            <a:r>
              <a:t>자료 큐는 발화 기준. 타임코드는 최종 편집 목표이며 실측 발화 시점이 아니다.</a:t>
            </a:r>
          </a:p>
          <a:p>
            <a:r>
              <a:t>자료 등장: AI 4 AI 세미나입니다</a:t>
            </a:r>
          </a:p>
          <a:p>
            <a:r>
              <a:t>P03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IMG02, IMG03, IMG13</a:t>
            </a:r>
          </a:p>
          <a:p>
            <a:r>
              <a:t>스크립트:</a:t>
            </a:r>
          </a:p>
          <a:p>
            <a:r>
              <a:t>이관우 교육담당: 그 첫 번째가 [P03 등장] AI 4 AI 세미나입니다. 매달 외부 전문가를 만나 최신 기술과 경험을 배웁니다. AIOps부터 슈퍼컴퓨터, AI 데이터와 스토리지까지, 필요한 인프라와 운영의 변화를 살펴봅니다.</a:t>
            </a:r>
          </a:p>
          <a:p>
            <a:r>
              <a:t>류경동 팀장: [P03 녹화 공유 화면] 세미나는 녹화해 센터원들과 공유합니다. 배운 지식을 언제든 다시 찾아볼 수 있게 남기는 거죠.</a:t>
            </a:r>
          </a:p>
          <a:p>
            <a:r>
              <a:t>추가 큐: 세미나는 녹화해 / P03 녹화 공유 화면 / IMG13 교육 플랫폼 녹화 화면으로 같은 장면 안에서 교체. 조회수·만족도는 추가하지 않는다.</a:t>
            </a:r>
          </a:p>
          <a:p>
            <a:r>
              <a:t>설명 중에는 자료를 멈춰 읽을 시간을 준다. 새 코너 음악·과장된 반응은 추가하지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r>
              <a:t>IMG03 / AI 4 AI</a:t>
            </a:r>
          </a:p>
          <a:p>
            <a:r>
              <a:t>세미나 포스터 / Cisco AIOps 또는 KISTI 세미나 실제 포스터. IMG02 행사 사진으로 대체 가능. 녹화·플랫폼 화면 IMG13은 같은 장면 안에서 교체 가능.</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 / S04 / 최종 02:00–02:36</a:t>
            </a:r>
          </a:p>
          <a:p>
            <a:r>
              <a:t>원본 버전: story-v0.2 / 2026-10-11</a:t>
            </a:r>
          </a:p>
          <a:p>
            <a:r>
              <a:t>자료 큐는 발화 기준. 타임코드는 최종 편집 목표이며 실측 발화 시점이 아니다.</a:t>
            </a:r>
          </a:p>
          <a:p>
            <a:r>
              <a:t>자료 등장: 우리 팀의 Tech X입니다</a:t>
            </a:r>
          </a:p>
          <a:p>
            <a:r>
              <a:t>P04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IMG07</a:t>
            </a:r>
          </a:p>
          <a:p>
            <a:r>
              <a:t>스크립트:</a:t>
            </a:r>
          </a:p>
          <a:p>
            <a:r>
              <a:t>이관우 교육담당: 외부에서 배운 기술에, 동료의 경험을 더하는 기회도 있습니다. [P04 등장] 우리 팀의 Tech X입니다. 각 파트가 과제를 제시하면 관심 있는 동료가 지원합니다. 필요한 인원을 선발해 다른 부서의 과제를 함께 진행하죠.</a:t>
            </a:r>
          </a:p>
          <a:p>
            <a:r>
              <a:t>류경동 팀장: 자기 부서의 업무를 넘어 새로운 일을 해보는 겁니다. 6개 과제에 44명이 참여하고 있습니다.</a:t>
            </a:r>
          </a:p>
          <a:p>
            <a:r>
              <a:t>설명 중에는 자료를 멈춰 읽을 시간을 준다. 새 코너 음악·과장된 반응은 추가하지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r>
              <a:t>IMG07 / Tech X</a:t>
            </a:r>
          </a:p>
          <a:p>
            <a:r>
              <a:t>모집 공고 / 3월 모집 공고. 파트별 과제와 지원·선발 내용을 확인할 수 있는 원본.</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 / S05 / 최종 02:36–03:10</a:t>
            </a:r>
          </a:p>
          <a:p>
            <a:r>
              <a:t>원본 버전: story-v0.2 / 2026-10-11</a:t>
            </a:r>
          </a:p>
          <a:p>
            <a:r>
              <a:t>자료 큐는 발화 기준. 타임코드는 최종 편집 목표이며 실측 발화 시점이 아니다.</a:t>
            </a:r>
          </a:p>
          <a:p>
            <a:r>
              <a:t>자료 등장: 저는 k8s의 GPU 자원을</a:t>
            </a:r>
          </a:p>
          <a:p>
            <a:r>
              <a:t>P05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IMG15, IMG16, IMG17</a:t>
            </a:r>
          </a:p>
          <a:p>
            <a:r>
              <a:t>스크립트:</a:t>
            </a:r>
          </a:p>
          <a:p>
            <a:r>
              <a:t>류경동 팀장: 이관우 님도 직접 참여하셨죠.</a:t>
            </a:r>
          </a:p>
          <a:p>
            <a:r>
              <a:t>이관우 교육담당: 네. [P05 등장] 저는 k8s의 GPU 자원을 효율적으로 쓰는 과제에 참여했습니다. 관심이 있어서 지원했는데, [P05 사진 2 강조] 다른 부서 동료들과 이야기하며 문제를 보는 여러 관점을 배웠습니다. 교육을 운영하는 저도, 이렇게 함께 배우며 성장하고 있습니다.</a:t>
            </a:r>
          </a:p>
          <a:p>
            <a:r>
              <a:t>추가 큐: 다른 부서 동료들과 이야기하며 / P05 사진 2 강조 / IMG17 사진 2를 크게 보여준다. IMG16 사진 1은 앞선 과제 소개 발화에서 사용.</a:t>
            </a:r>
          </a:p>
          <a:p>
            <a:r>
              <a:t>참여 사진 1·2는 사용자가 제공할 원본을 나중에 삽입한다. 실제 경험 대사 위에 사진을 겹쳐 쓰고, 사진 홀드를 별도 시간으로 추가하지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r>
              <a:t>IMG16 / 참여 사진 1 / 사용자가 제공할 이관우의 k8s GPU 과제 참여 사진 1. 아직 원본 파일 미수급. 과제·참여 맥락이 보이는 부분을 사용.</a:t>
            </a:r>
          </a:p>
          <a:p>
            <a:r>
              <a:t>IMG17 / 참여 사진 2 / 사용자가 제공할 이관우의 같은 과제 참여 사진 2. 다른 부서와 함께 배우는 경험을 설명할 때 사용. 특정 대화·개선 수치는 만들지 않음.</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 / S06 / 최종 03:10–03:28</a:t>
            </a:r>
          </a:p>
          <a:p>
            <a:r>
              <a:t>원본 버전: story-v0.2 / 2026-10-11</a:t>
            </a:r>
          </a:p>
          <a:p>
            <a:r>
              <a:t>자료 큐는 발화 기준. 타임코드는 최종 편집 목표이며 실측 발화 시점이 아니다.</a:t>
            </a:r>
          </a:p>
          <a:p>
            <a:r>
              <a:t>자료 등장: 대표 과제인 IAP는</a:t>
            </a:r>
          </a:p>
          <a:p>
            <a:r>
              <a:t>P06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IMG08</a:t>
            </a:r>
          </a:p>
          <a:p>
            <a:r>
              <a:t>스크립트:</a:t>
            </a:r>
          </a:p>
          <a:p>
            <a:r>
              <a:t>류경동 팀장: [P06 등장] 대표 과제인 IAP는 서버 로그의 특정 패턴을 감지해 정해진 형식으로 메신저에 알립니다. 사람이 하던 알림 업무를 대신합니다.</a:t>
            </a:r>
          </a:p>
          <a:p>
            <a:r>
              <a:t>IAP는 이 장면의 짧은 대표 사례다. 기능 단계는 발화와 겹쳐 강조하고 소개·실습·구조 해설을 더하지 않는다. IMG08 실제 화면을 넣으면 같은 도식을 대체한다.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P07 / S07 / 최종 03:28–03:55</a:t>
            </a:r>
          </a:p>
          <a:p>
            <a:r>
              <a:t>원본 버전: story-v0.2 / 2026-10-11</a:t>
            </a:r>
          </a:p>
          <a:p>
            <a:r>
              <a:t>자료 큐는 발화 기준. 타임코드는 최종 편집 목표이며 실측 발화 시점이 아니다.</a:t>
            </a:r>
          </a:p>
          <a:p>
            <a:r>
              <a:t>자료 등장: Job Fair에서는</a:t>
            </a:r>
          </a:p>
          <a:p>
            <a:r>
              <a:t>P07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IMG04, IMG05</a:t>
            </a:r>
          </a:p>
          <a:p>
            <a:r>
              <a:t>스크립트:</a:t>
            </a:r>
          </a:p>
          <a:p>
            <a:r>
              <a:t>류경동 팀장: 함께 일하려면, 서로 어떤 일을 맡고 있는지도 알아야 합니다.</a:t>
            </a:r>
          </a:p>
          <a:p>
            <a:r>
              <a:t>이관우 교육담당: 8월 [P07 등장] Job Fair에서는 11개 부서가 부스를 열고, A0 패널로 각자의 업무를 소개했습니다. 평소 협업하던 동료에게 궁금했던 일을 직접 듣는 자리였습니다.</a:t>
            </a:r>
          </a:p>
          <a:p>
            <a:r>
              <a:t>설명 중에는 자료를 멈춰 읽을 시간을 준다. 새 코너 음악·과장된 반응은 추가하지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r>
              <a:t>IMG04 / Job Fair</a:t>
            </a:r>
          </a:p>
          <a:p>
            <a:r>
              <a:t>부스 전경 / 11개 부서가 업무를 소개한 실제 행사 사진. IMG05 실제 A0 패널로 같은 장면 안에서 대체 가능.</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P08 / S08 / 최종 03:55–04:16</a:t>
            </a:r>
          </a:p>
          <a:p>
            <a:r>
              <a:t>원본 버전: story-v0.2 / 2026-10-11</a:t>
            </a:r>
          </a:p>
          <a:p>
            <a:r>
              <a:t>자료 큐는 발화 기준. 타임코드는 최종 편집 목표이며 실측 발화 시점이 아니다.</a:t>
            </a:r>
          </a:p>
          <a:p>
            <a:r>
              <a:t>자료 등장: DCIS에서는 매달</a:t>
            </a:r>
          </a:p>
          <a:p>
            <a:r>
              <a:t>P08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IMG06</a:t>
            </a:r>
          </a:p>
          <a:p>
            <a:r>
              <a:t>스크립트:</a:t>
            </a:r>
          </a:p>
          <a:p>
            <a:r>
              <a:t>류경동 팀장: [P08 등장] DCIS에서는 매달 주요 과제와 서비스, 연구 중인 기술을 소개합니다. 서로의 일을 이해하고 다른 관점을 배우면서, 하나의 팀으로 일할 기반을 쌓는 겁니다.</a:t>
            </a:r>
          </a:p>
          <a:p>
            <a:r>
              <a:t>Job Fair와 같은 업무 이해 구간으로 이어간다. 새 코너 오프닝 없이 정기 공유라는 차이를 보여준다. 원팀은 방향과 목적이며 측정된 개선율로 표현하지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r>
              <a:t>IMG06 / DCIS</a:t>
            </a:r>
          </a:p>
          <a:p>
            <a:r>
              <a:t>발표 자료 / 부서 주요 과제·서비스·연구가 보이는 실제 세션 표지나 공지.</a:t>
            </a:r>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P09 / S09 / 최종 04:16–04:40</a:t>
            </a:r>
          </a:p>
          <a:p>
            <a:r>
              <a:t>원본 버전: story-v0.2 / 2026-10-11</a:t>
            </a:r>
          </a:p>
          <a:p>
            <a:r>
              <a:t>자료 큐는 발화 기준. 타임코드는 최종 편집 목표이며 실측 발화 시점이 아니다.</a:t>
            </a:r>
          </a:p>
          <a:p>
            <a:r>
              <a:t>자료 등장: 새로운 기술은 밖에서 배우고</a:t>
            </a:r>
          </a:p>
          <a:p>
            <a:r>
              <a:t>P09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편집 가능한 키워드·도식</a:t>
            </a:r>
          </a:p>
          <a:p>
            <a:r>
              <a:t>스크립트:</a:t>
            </a:r>
          </a:p>
          <a:p>
            <a:r>
              <a:t>이관우 교육담당: [P09 등장] 새로운 기술은 밖에서 배우고, 경험은 동료와 함께 쌓고, 서로의 업무를 알아갑니다. 배운 것은 다시 나누고요.</a:t>
            </a:r>
          </a:p>
          <a:p>
            <a:r>
              <a:t>류경동 팀장: 이 교류가 더 큰 인프라 미션을 준비하는 저희의 성장 방식입니다.</a:t>
            </a:r>
          </a:p>
          <a:p>
            <a:r>
              <a:t>설명 중에는 자료를 멈춰 읽을 시간을 준다. 새 코너 음악·과장된 반응은 추가하지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P10 / S10 / 최종 04:40–04:55</a:t>
            </a:r>
          </a:p>
          <a:p>
            <a:r>
              <a:t>원본 버전: story-v0.2 / 2026-10-11</a:t>
            </a:r>
          </a:p>
          <a:p>
            <a:r>
              <a:t>자료 큐는 발화 기준. 타임코드는 최종 편집 목표이며 실측 발화 시점이 아니다.</a:t>
            </a:r>
          </a:p>
          <a:p>
            <a:r>
              <a:t>자료 등장: 인프라를 움직이는 힘은</a:t>
            </a:r>
          </a:p>
          <a:p>
            <a:r>
              <a:t>P10 표시. 설명하는 관계와 실제 자료만 발화에 맞춰 강조한다. 전환·사진 홀드는 장면 시간 안에 포함한다.</a:t>
            </a:r>
          </a:p>
          <a:p>
            <a:r>
              <a:t>촬영: 발화자 미디엄샷 → 자료 큐에서 장표 또는 인물·자료 분할 → 의미를 받는 대사에서 2인 화면. 첫 개인 화면에는 이름·직함 표시.</a:t>
            </a:r>
          </a:p>
          <a:p>
            <a:r>
              <a:t>원본: 편집 가능한 키워드·도식</a:t>
            </a:r>
          </a:p>
          <a:p>
            <a:r>
              <a:t>스크립트:</a:t>
            </a:r>
          </a:p>
          <a:p>
            <a:r>
              <a:t>류경동 팀장: [P10 등장] 인프라를 움직이는 힘은, 함께 성장하는 사람입니다.</a:t>
            </a:r>
          </a:p>
          <a:p>
            <a:r>
              <a:t>이관우 교육담당: AI 4 AI. 연결이 성장의 인프라가 됩니다. 감사합니다.</a:t>
            </a:r>
          </a:p>
          <a:p>
            <a:r>
              <a:t>설명 중에는 자료를 멈춰 읽을 시간을 준다. 새 코너 음악·과장된 반응은 추가하지 않는다.</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PPTX에는 실제 애니메이션이 없다. 효과와 자료 전환은 영상팀 편집 지시다.</a:t>
            </a:r>
          </a:p>
          <a:p>
            <a:r>
              <a:t>내부 행사 사진·화면 원본은 현재 미수급이다. 범용 외부 사진으로 실제 행사를 대체하지 않는다.</a:t>
            </a:r>
          </a:p>
          <a:p>
            <a:r>
              <a:t>출처: 사용자 브리프·추가 확인. 사실과 원본 ID 기준: docs/03-facts-and-assets.md.</a:t>
            </a:r>
          </a:p>
          <a:p/>
          <a:p>
            <a:r>
              <a:t>Microsoft FY26 Q4 실적 설명: https://www.microsoft.com/en-us/investor/events/fy-2026/earnings-fy-2026-q4</a:t>
            </a:r>
          </a:p>
          <a:p>
            <a:r>
              <a:t>Alphabet Q2 실적 발표 SEC 공시: https://www.sec.gov/Archives/edgar/data/1652044/000165204426000066/googexhibit991q22026.htm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"A01", "title": "실제 자료 삽입 안내", "body": "사용자가 제공할 사진·화면을 별도 PPTX 사본에 넣고 안내 글자를 제거합니다.", "items": [{"label": "세미나", "value": "IMG03 · IMG13", "detail": "포스터 · 교육 플랫폼 녹화 화면"}, {"label": "Tech X", "value": "IMG07 · IMG16 · IMG17", "detail": "모집 공고 · 이관우 참여 사진 1·2"}, {"label": "업무 이해", "value": "IMG04 · IMG05 · IMG06", "detail": "Job Fair 부스·패널 · DCIS 자료"}, {"label": "IAP", "value": "IMG08", "detail": "실제 알림 화면은 기능 도식과 같은 장면에서 교체"}]}</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"A02", "title": "사실과 외부 참고", "body": "사내 규모는 사용자 확인이며 내부 원본을 나중에 대조합니다. 외부 자료는 배경 참고입니다.", "items": [{"label": "팀 역할", "value": "7만 명 이상 · 32개 DC", "detail": "100만 코어 이상 · 클라우드 · GPU 기반 인프라"}, {"label": "교류 경험", "value": "이관우의 실제 참여", "detail": "다른 부서의 관점 학습. GPU 효율 개선 수치는 미제공"}, {"label": "대표 사례", "value": "IAP 로그 알림 자동화", "detail": "지정 형식 메신저 알림 · 해당 수작업 대체"}, {"label": "외부 배경", "value": "Microsoft · Alphabet", "detail": "2026년 공식 AI 인프라 투자 자료. URL은 노트·전달 문서"}]}</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a:p>
            <a:r>
              <a:t>[{"id": "EXT01", "title": "Microsoft FY26 Q4 실적 설명", "date": "2026-07-29", "url": "https://www.microsoft.com/en-us/investor/events/fy-2026/earnings-fy-2026-q4", "use": "AI 인프라·데이터센터 확장 배경. 투자금액은 본편에서 읽거나 그래프로 만들지 않음."}, {"id": "EXT02", "title": "Alphabet Q2 실적 발표 SEC 공시", "date": "2026-07-22", "url": "https://www.sec.gov/Archives/edgar/data/1652044/000165204426000066/googexhibit991q22026.htm", "use": "AI 인프라·컴퓨팅 투자 배경. 팀 교육 성과의 증거로 사용하지 않음."}]</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"A03", "title": "제출·촬영 일정", "body": "2026-10-11 기준. 예정 행사의 결과는 확인한 뒤 반영합니다.", "items": [{"label": "10월 12일", "value": "OutSystems 세미나 예정", "detail": "개최 확인 후 상태·자료 갱신"}, {"label": "10월 14일", "value": "자료 제출", "detail": "16일 최종 발표 결과를 미리 넣지 않음"}, {"label": "10월 16일", "value": "Tech X 최종 발표 예정", "detail": "프로젝트 완료·시상일로 확정된 날짜가 아님"}, {"label": "10월 19일", "value": "영상 촬영", "detail": "같은 버전의 대본·PPT·자료 큐 사용"}]}</a:t>
            </a:r>
          </a:p>
          <a:p>
            <a:r>
              <a:t>2026-10-11까지 사용자 제공 사실과 이번 추가 지시를 반영한 별도 제작본. 7만 명 이상·32개 DC·100만 코어 이상은 사용자 확인 규모이며 내부 증빙을 독립 검증한 수치는 아니다. 실제 GPU 과제 경험은 본인 진술을 촬영용으로 다듬었다. 발표자의 의견과 선택은 촬영용 제안이며 과거 발언·실제 투표를 뜻하지 않는다. 세미나·프로젝트·업무 교류의 연결은 교육문화의 설명 순서이며 직접 인과나 연대기가 아니다. IAP는 짧은 Tech X 대표 사례다. 미제공 GPU 성과·시간 절감·수상 결과는 주장하지 않는다.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P01</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Data Center팀 · 구축 · 제공 · 운영</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AI를 움직이는 인프라,</a:t>
            </a:r>
          </a:p>
          <a:p>
            <a:pPr algn="l">
              <a:spcAft>
                <a:spcPts val="400"/>
              </a:spcAft>
            </a:pPr>
            <a:r>
              <a:rPr sz="3200" b="1">
                <a:solidFill>
                  <a:srgbClr val="F6F8F9"/>
                </a:solidFill>
                <a:latin typeface="맑은 고딕"/>
                <a:ea typeface="맑은 고딕"/>
              </a:rPr>
              <a:t>인프라를 움직이는 사람.</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Rounded Rectangle 8"/>
          <p:cNvSpPr/>
          <p:nvPr/>
        </p:nvSpPr>
        <p:spPr>
          <a:xfrm>
            <a:off x="685800" y="3063240"/>
            <a:ext cx="3465576" cy="1499616"/>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410712"/>
            <a:ext cx="3044952" cy="548640"/>
          </a:xfrm>
          <a:prstGeom prst="rect">
            <a:avLst/>
          </a:prstGeom>
          <a:noFill/>
        </p:spPr>
        <p:txBody>
          <a:bodyPr wrap="square" lIns="0" rIns="0" tIns="0" bIns="0">
            <a:spAutoFit/>
          </a:bodyPr>
          <a:lstStyle/>
          <a:p>
            <a:pPr algn="l">
              <a:spcAft>
                <a:spcPts val="400"/>
              </a:spcAft>
            </a:pPr>
            <a:r>
              <a:rPr sz="2900" b="1">
                <a:solidFill>
                  <a:srgbClr val="83E8C5"/>
                </a:solidFill>
                <a:latin typeface="맑은 고딕"/>
                <a:ea typeface="맑은 고딕"/>
              </a:rPr>
              <a:t>7만 명 이상</a:t>
            </a:r>
          </a:p>
        </p:txBody>
      </p:sp>
      <p:sp>
        <p:nvSpPr>
          <p:cNvPr id="11" name="TextBox 10"/>
          <p:cNvSpPr txBox="1"/>
          <p:nvPr/>
        </p:nvSpPr>
        <p:spPr>
          <a:xfrm>
            <a:off x="896112" y="4105656"/>
            <a:ext cx="3044952" cy="329184"/>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DS부문 임직원</a:t>
            </a:r>
          </a:p>
        </p:txBody>
      </p:sp>
      <p:sp>
        <p:nvSpPr>
          <p:cNvPr id="12" name="Rounded Rectangle 11"/>
          <p:cNvSpPr/>
          <p:nvPr/>
        </p:nvSpPr>
        <p:spPr>
          <a:xfrm>
            <a:off x="4361688" y="3063240"/>
            <a:ext cx="3465576" cy="1499616"/>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410712"/>
            <a:ext cx="3044952" cy="548640"/>
          </a:xfrm>
          <a:prstGeom prst="rect">
            <a:avLst/>
          </a:prstGeom>
          <a:noFill/>
        </p:spPr>
        <p:txBody>
          <a:bodyPr wrap="square" lIns="0" rIns="0" tIns="0" bIns="0">
            <a:spAutoFit/>
          </a:bodyPr>
          <a:lstStyle/>
          <a:p>
            <a:pPr algn="l">
              <a:spcAft>
                <a:spcPts val="400"/>
              </a:spcAft>
            </a:pPr>
            <a:r>
              <a:rPr sz="2900" b="1">
                <a:solidFill>
                  <a:srgbClr val="83E8C5"/>
                </a:solidFill>
                <a:latin typeface="맑은 고딕"/>
                <a:ea typeface="맑은 고딕"/>
              </a:rPr>
              <a:t>32개 DC</a:t>
            </a:r>
          </a:p>
        </p:txBody>
      </p:sp>
      <p:sp>
        <p:nvSpPr>
          <p:cNvPr id="14" name="TextBox 13"/>
          <p:cNvSpPr txBox="1"/>
          <p:nvPr/>
        </p:nvSpPr>
        <p:spPr>
          <a:xfrm>
            <a:off x="4572000" y="4105656"/>
            <a:ext cx="3044952" cy="329184"/>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데이터센터</a:t>
            </a:r>
          </a:p>
        </p:txBody>
      </p:sp>
      <p:sp>
        <p:nvSpPr>
          <p:cNvPr id="15" name="Rounded Rectangle 14"/>
          <p:cNvSpPr/>
          <p:nvPr/>
        </p:nvSpPr>
        <p:spPr>
          <a:xfrm>
            <a:off x="8037575" y="3063240"/>
            <a:ext cx="3465576" cy="1499616"/>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3410712"/>
            <a:ext cx="3044952" cy="548640"/>
          </a:xfrm>
          <a:prstGeom prst="rect">
            <a:avLst/>
          </a:prstGeom>
          <a:noFill/>
        </p:spPr>
        <p:txBody>
          <a:bodyPr wrap="square" lIns="0" rIns="0" tIns="0" bIns="0">
            <a:spAutoFit/>
          </a:bodyPr>
          <a:lstStyle/>
          <a:p>
            <a:pPr algn="l">
              <a:spcAft>
                <a:spcPts val="400"/>
              </a:spcAft>
            </a:pPr>
            <a:r>
              <a:rPr sz="2500" b="1">
                <a:solidFill>
                  <a:srgbClr val="83E8C5"/>
                </a:solidFill>
                <a:latin typeface="맑은 고딕"/>
                <a:ea typeface="맑은 고딕"/>
              </a:rPr>
              <a:t>100만 코어 이상</a:t>
            </a:r>
          </a:p>
        </p:txBody>
      </p:sp>
      <p:sp>
        <p:nvSpPr>
          <p:cNvPr id="17" name="TextBox 16"/>
          <p:cNvSpPr txBox="1"/>
          <p:nvPr/>
        </p:nvSpPr>
        <p:spPr>
          <a:xfrm>
            <a:off x="8247888" y="4105656"/>
            <a:ext cx="3044952" cy="329184"/>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컴퓨팅 자원</a:t>
            </a:r>
          </a:p>
        </p:txBody>
      </p:sp>
      <p:sp>
        <p:nvSpPr>
          <p:cNvPr id="18" name="TextBox 17"/>
          <p:cNvSpPr txBox="1"/>
          <p:nvPr/>
        </p:nvSpPr>
        <p:spPr>
          <a:xfrm>
            <a:off x="685800" y="4983480"/>
            <a:ext cx="10817352" cy="594360"/>
          </a:xfrm>
          <a:prstGeom prst="rect">
            <a:avLst/>
          </a:prstGeom>
          <a:noFill/>
        </p:spPr>
        <p:txBody>
          <a:bodyPr wrap="square" lIns="0" rIns="0" tIns="0" bIns="0">
            <a:spAutoFit/>
          </a:bodyPr>
          <a:lstStyle/>
          <a:p>
            <a:pPr algn="l">
              <a:spcAft>
                <a:spcPts val="400"/>
              </a:spcAft>
            </a:pPr>
            <a:r>
              <a:rPr sz="2600" b="1">
                <a:solidFill>
                  <a:srgbClr val="F6F8F9"/>
                </a:solidFill>
                <a:latin typeface="맑은 고딕"/>
                <a:ea typeface="맑은 고딕"/>
              </a:rPr>
              <a:t>클라우드 · GPU 기반 인프라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P02</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AI 4 AI · 팀의 비전</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AI를 위한 인프라,</a:t>
            </a:r>
          </a:p>
          <a:p>
            <a:pPr algn="l">
              <a:spcAft>
                <a:spcPts val="400"/>
              </a:spcAft>
            </a:pPr>
            <a:r>
              <a:rPr sz="3200" b="1">
                <a:solidFill>
                  <a:srgbClr val="F6F8F9"/>
                </a:solidFill>
                <a:latin typeface="맑은 고딕"/>
                <a:ea typeface="맑은 고딕"/>
              </a:rPr>
              <a:t>함께 성장하는 사람.</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Rounded Rectangle 8"/>
          <p:cNvSpPr/>
          <p:nvPr/>
        </p:nvSpPr>
        <p:spPr>
          <a:xfrm>
            <a:off x="685800" y="2990088"/>
            <a:ext cx="4910328" cy="124358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64992"/>
            <a:ext cx="4453128" cy="603504"/>
          </a:xfrm>
          <a:prstGeom prst="rect">
            <a:avLst/>
          </a:prstGeom>
          <a:noFill/>
        </p:spPr>
        <p:txBody>
          <a:bodyPr wrap="square" lIns="0" rIns="0" tIns="0" bIns="0">
            <a:spAutoFit/>
          </a:bodyPr>
          <a:lstStyle/>
          <a:p>
            <a:pPr algn="l">
              <a:spcAft>
                <a:spcPts val="400"/>
              </a:spcAft>
            </a:pPr>
            <a:r>
              <a:rPr sz="2500" b="1">
                <a:solidFill>
                  <a:srgbClr val="83E8C5"/>
                </a:solidFill>
                <a:latin typeface="맑은 고딕"/>
                <a:ea typeface="맑은 고딕"/>
              </a:rPr>
              <a:t>AI를 위한 인프라</a:t>
            </a:r>
          </a:p>
        </p:txBody>
      </p:sp>
      <p:sp>
        <p:nvSpPr>
          <p:cNvPr id="11" name="Rounded Rectangle 10"/>
          <p:cNvSpPr/>
          <p:nvPr/>
        </p:nvSpPr>
        <p:spPr>
          <a:xfrm>
            <a:off x="6592824" y="2990088"/>
            <a:ext cx="4910328" cy="1243584"/>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21424" y="3364992"/>
            <a:ext cx="4453128" cy="603504"/>
          </a:xfrm>
          <a:prstGeom prst="rect">
            <a:avLst/>
          </a:prstGeom>
          <a:noFill/>
        </p:spPr>
        <p:txBody>
          <a:bodyPr wrap="square" lIns="0" rIns="0" tIns="0" bIns="0">
            <a:spAutoFit/>
          </a:bodyPr>
          <a:lstStyle/>
          <a:p>
            <a:pPr algn="l">
              <a:spcAft>
                <a:spcPts val="400"/>
              </a:spcAft>
            </a:pPr>
            <a:r>
              <a:rPr sz="2500" b="1">
                <a:solidFill>
                  <a:srgbClr val="C1B3F4"/>
                </a:solidFill>
                <a:latin typeface="맑은 고딕"/>
                <a:ea typeface="맑은 고딕"/>
              </a:rPr>
              <a:t>AI를 활용하는 운영</a:t>
            </a:r>
          </a:p>
        </p:txBody>
      </p:sp>
      <p:cxnSp>
        <p:nvCxnSpPr>
          <p:cNvPr id="13" name="Connector 12"/>
          <p:cNvCxnSpPr/>
          <p:nvPr/>
        </p:nvCxnSpPr>
        <p:spPr>
          <a:xfrm>
            <a:off x="5715000" y="3337560"/>
            <a:ext cx="722376"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715000" y="3803904"/>
            <a:ext cx="722376" cy="0"/>
          </a:xfrm>
          <a:prstGeom prst="line">
            <a:avLst/>
          </a:prstGeom>
          <a:ln w="25400">
            <a:solidFill>
              <a:srgbClr val="C1B3F4"/>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4526280"/>
            <a:ext cx="10817352" cy="914400"/>
          </a:xfrm>
          <a:prstGeom prst="rect">
            <a:avLst/>
          </a:prstGeom>
          <a:noFill/>
        </p:spPr>
        <p:txBody>
          <a:bodyPr wrap="square" lIns="0" rIns="0" tIns="0" bIns="0">
            <a:spAutoFit/>
          </a:bodyPr>
          <a:lstStyle/>
          <a:p>
            <a:pPr algn="l">
              <a:spcAft>
                <a:spcPts val="400"/>
              </a:spcAft>
            </a:pPr>
            <a:r>
              <a:rPr sz="2400" b="1">
                <a:solidFill>
                  <a:srgbClr val="F6F8F9"/>
                </a:solidFill>
                <a:latin typeface="맑은 고딕"/>
                <a:ea typeface="맑은 고딕"/>
              </a:rPr>
              <a:t>늘어나는 미션, 안정적인 운영</a:t>
            </a:r>
          </a:p>
          <a:p>
            <a:pPr algn="l">
              <a:spcAft>
                <a:spcPts val="400"/>
              </a:spcAft>
            </a:pPr>
            <a:r>
              <a:rPr sz="2400" b="1">
                <a:solidFill>
                  <a:srgbClr val="F6F8F9"/>
                </a:solidFill>
                <a:latin typeface="맑은 고딕"/>
                <a:ea typeface="맑은 고딕"/>
              </a:rPr>
              <a:t>함께 배우며 준비합니다.</a:t>
            </a:r>
          </a:p>
        </p:txBody>
      </p:sp>
      <p:sp>
        <p:nvSpPr>
          <p:cNvPr id="16" name="TextBox 15"/>
          <p:cNvSpPr txBox="1"/>
          <p:nvPr/>
        </p:nvSpPr>
        <p:spPr>
          <a:xfrm>
            <a:off x="685800" y="5605272"/>
            <a:ext cx="10817352" cy="274320"/>
          </a:xfrm>
          <a:prstGeom prst="rect">
            <a:avLst/>
          </a:prstGeom>
          <a:noFill/>
        </p:spPr>
        <p:txBody>
          <a:bodyPr wrap="square" lIns="0" rIns="0" tIns="0" bIns="0">
            <a:spAutoFit/>
          </a:bodyPr>
          <a:lstStyle/>
          <a:p>
            <a:pPr algn="l">
              <a:spcAft>
                <a:spcPts val="400"/>
              </a:spcAft>
            </a:pPr>
            <a:r>
              <a:rPr sz="1300" b="0">
                <a:solidFill>
                  <a:srgbClr val="B4C6D4"/>
                </a:solidFill>
                <a:latin typeface="맑은 고딕"/>
                <a:ea typeface="맑은 고딕"/>
              </a:rPr>
              <a:t>Advanced Infrastructure for Artificial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P03</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AI 4 AI 세미나</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밖의 경험을,</a:t>
            </a:r>
          </a:p>
          <a:p>
            <a:pPr algn="l">
              <a:spcAft>
                <a:spcPts val="400"/>
              </a:spcAft>
            </a:pPr>
            <a:r>
              <a:rPr sz="3200" b="1">
                <a:solidFill>
                  <a:srgbClr val="F6F8F9"/>
                </a:solidFill>
                <a:latin typeface="맑은 고딕"/>
                <a:ea typeface="맑은 고딕"/>
              </a:rPr>
              <a:t>우리의 지식으로.</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3017520"/>
            <a:ext cx="4846320" cy="82296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외부 전문가 · 월 1회</a:t>
            </a:r>
          </a:p>
        </p:txBody>
      </p:sp>
      <p:sp>
        <p:nvSpPr>
          <p:cNvPr id="17" name="TextBox 16"/>
          <p:cNvSpPr txBox="1"/>
          <p:nvPr/>
        </p:nvSpPr>
        <p:spPr>
          <a:xfrm>
            <a:off x="685800" y="3977639"/>
            <a:ext cx="4846320" cy="393192"/>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최신 기술과 경험</a:t>
            </a:r>
          </a:p>
        </p:txBody>
      </p:sp>
      <p:sp>
        <p:nvSpPr>
          <p:cNvPr id="18" name="TextBox 17"/>
          <p:cNvSpPr txBox="1"/>
          <p:nvPr/>
        </p:nvSpPr>
        <p:spPr>
          <a:xfrm>
            <a:off x="685800" y="4379976"/>
            <a:ext cx="4846320" cy="274320"/>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AI · 인프라 · 운영</a:t>
            </a:r>
          </a:p>
        </p:txBody>
      </p:sp>
      <p:sp>
        <p:nvSpPr>
          <p:cNvPr id="19" name="TextBox 18"/>
          <p:cNvSpPr txBox="1"/>
          <p:nvPr/>
        </p:nvSpPr>
        <p:spPr>
          <a:xfrm>
            <a:off x="685800" y="4782312"/>
            <a:ext cx="4846320" cy="393192"/>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녹화 → 교육 플랫폼</a:t>
            </a:r>
          </a:p>
        </p:txBody>
      </p:sp>
      <p:sp>
        <p:nvSpPr>
          <p:cNvPr id="20" name="TextBox 19"/>
          <p:cNvSpPr txBox="1"/>
          <p:nvPr/>
        </p:nvSpPr>
        <p:spPr>
          <a:xfrm>
            <a:off x="685800" y="5184648"/>
            <a:ext cx="4846320" cy="274320"/>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센터원에게 다시 공유</a:t>
            </a:r>
          </a:p>
        </p:txBody>
      </p:sp>
      <p:sp>
        <p:nvSpPr>
          <p:cNvPr id="21" name="P03-asset-frame-IMG03"/>
          <p:cNvSpPr/>
          <p:nvPr/>
        </p:nvSpPr>
        <p:spPr>
          <a:xfrm>
            <a:off x="5897880" y="2999232"/>
            <a:ext cx="5605272" cy="2670048"/>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3-asset-instruction-IMG03"/>
          <p:cNvSpPr txBox="1"/>
          <p:nvPr/>
        </p:nvSpPr>
        <p:spPr>
          <a:xfrm>
            <a:off x="6080760" y="3108960"/>
            <a:ext cx="5239512" cy="228600"/>
          </a:xfrm>
          <a:prstGeom prst="rect">
            <a:avLst/>
          </a:prstGeom>
          <a:noFill/>
        </p:spPr>
        <p:txBody>
          <a:bodyPr wrap="square" lIns="0" rIns="0" tIns="0" bIns="0">
            <a:spAutoFit/>
          </a:bodyPr>
          <a:lstStyle/>
          <a:p>
            <a:pPr algn="l">
              <a:spcAft>
                <a:spcPts val="400"/>
              </a:spcAft>
            </a:pPr>
            <a:r>
              <a:rPr sz="1200" b="1">
                <a:solidFill>
                  <a:srgbClr val="83E8C5"/>
                </a:solidFill>
                <a:latin typeface="맑은 고딕"/>
                <a:ea typeface="맑은 고딕"/>
              </a:rPr>
              <a:t>실제 자료 삽입</a:t>
            </a:r>
          </a:p>
        </p:txBody>
      </p:sp>
      <p:sp>
        <p:nvSpPr>
          <p:cNvPr id="23" name="P03-asset-label-IMG03"/>
          <p:cNvSpPr txBox="1"/>
          <p:nvPr/>
        </p:nvSpPr>
        <p:spPr>
          <a:xfrm>
            <a:off x="6080760" y="3657600"/>
            <a:ext cx="5239512" cy="896112"/>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AI 4 AI</a:t>
            </a:r>
          </a:p>
          <a:p>
            <a:pPr algn="l">
              <a:spcAft>
                <a:spcPts val="400"/>
              </a:spcAft>
            </a:pPr>
            <a:r>
              <a:rPr sz="2200" b="1">
                <a:solidFill>
                  <a:srgbClr val="F6F8F9"/>
                </a:solidFill>
                <a:latin typeface="맑은 고딕"/>
                <a:ea typeface="맑은 고딕"/>
              </a:rPr>
              <a:t>세미나 포스터</a:t>
            </a:r>
          </a:p>
        </p:txBody>
      </p:sp>
      <p:sp>
        <p:nvSpPr>
          <p:cNvPr id="24" name="P03-asset-id-IMG03"/>
          <p:cNvSpPr txBox="1"/>
          <p:nvPr/>
        </p:nvSpPr>
        <p:spPr>
          <a:xfrm>
            <a:off x="6080760" y="5404103"/>
            <a:ext cx="5239512" cy="201168"/>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IMG03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P04</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우리 팀의 교류문화 · Tech X</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부서의 경계를 넘어,</a:t>
            </a:r>
          </a:p>
          <a:p>
            <a:pPr algn="l">
              <a:spcAft>
                <a:spcPts val="400"/>
              </a:spcAft>
            </a:pPr>
            <a:r>
              <a:rPr sz="3200" b="1">
                <a:solidFill>
                  <a:srgbClr val="F6F8F9"/>
                </a:solidFill>
                <a:latin typeface="맑은 고딕"/>
                <a:ea typeface="맑은 고딕"/>
              </a:rPr>
              <a:t>함께 해보는 경험으로.</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Rounded Rectangle 15"/>
          <p:cNvSpPr/>
          <p:nvPr/>
        </p:nvSpPr>
        <p:spPr>
          <a:xfrm>
            <a:off x="685800" y="3017520"/>
            <a:ext cx="334975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46120"/>
            <a:ext cx="2983992" cy="56692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과제 제시</a:t>
            </a:r>
          </a:p>
        </p:txBody>
      </p:sp>
      <p:sp>
        <p:nvSpPr>
          <p:cNvPr id="18" name="TextBox 17"/>
          <p:cNvSpPr txBox="1"/>
          <p:nvPr/>
        </p:nvSpPr>
        <p:spPr>
          <a:xfrm>
            <a:off x="868680" y="3813048"/>
            <a:ext cx="298399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파트별 주제</a:t>
            </a:r>
          </a:p>
        </p:txBody>
      </p:sp>
      <p:cxnSp>
        <p:nvCxnSpPr>
          <p:cNvPr id="19" name="Connector 18"/>
          <p:cNvCxnSpPr/>
          <p:nvPr/>
        </p:nvCxnSpPr>
        <p:spPr>
          <a:xfrm>
            <a:off x="4099560" y="3634739"/>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419600" y="3017520"/>
            <a:ext cx="334975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02480" y="3246120"/>
            <a:ext cx="2983992" cy="566928"/>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모집 · 지원</a:t>
            </a:r>
          </a:p>
        </p:txBody>
      </p:sp>
      <p:sp>
        <p:nvSpPr>
          <p:cNvPr id="22" name="TextBox 21"/>
          <p:cNvSpPr txBox="1"/>
          <p:nvPr/>
        </p:nvSpPr>
        <p:spPr>
          <a:xfrm>
            <a:off x="4602480" y="3813048"/>
            <a:ext cx="298399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관심 있는 동료</a:t>
            </a:r>
          </a:p>
        </p:txBody>
      </p:sp>
      <p:cxnSp>
        <p:nvCxnSpPr>
          <p:cNvPr id="23" name="Connector 22"/>
          <p:cNvCxnSpPr/>
          <p:nvPr/>
        </p:nvCxnSpPr>
        <p:spPr>
          <a:xfrm>
            <a:off x="7833360" y="3634739"/>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53400" y="3017520"/>
            <a:ext cx="334975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6280" y="3246120"/>
            <a:ext cx="2983992" cy="56692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선발 · 함께 실행</a:t>
            </a:r>
          </a:p>
        </p:txBody>
      </p:sp>
      <p:sp>
        <p:nvSpPr>
          <p:cNvPr id="26" name="TextBox 25"/>
          <p:cNvSpPr txBox="1"/>
          <p:nvPr/>
        </p:nvSpPr>
        <p:spPr>
          <a:xfrm>
            <a:off x="8336280" y="3813048"/>
            <a:ext cx="298399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부서 밖의 과제 참여</a:t>
            </a:r>
          </a:p>
        </p:txBody>
      </p:sp>
      <p:sp>
        <p:nvSpPr>
          <p:cNvPr id="27" name="TextBox 26"/>
          <p:cNvSpPr txBox="1"/>
          <p:nvPr/>
        </p:nvSpPr>
        <p:spPr>
          <a:xfrm>
            <a:off x="685800" y="4553712"/>
            <a:ext cx="5650992" cy="548640"/>
          </a:xfrm>
          <a:prstGeom prst="rect">
            <a:avLst/>
          </a:prstGeom>
          <a:noFill/>
        </p:spPr>
        <p:txBody>
          <a:bodyPr wrap="square" lIns="0" rIns="0" tIns="0" bIns="0">
            <a:spAutoFit/>
          </a:bodyPr>
          <a:lstStyle/>
          <a:p>
            <a:pPr algn="l">
              <a:spcAft>
                <a:spcPts val="400"/>
              </a:spcAft>
            </a:pPr>
            <a:r>
              <a:rPr sz="2100" b="1">
                <a:solidFill>
                  <a:srgbClr val="F6F8F9"/>
                </a:solidFill>
                <a:latin typeface="맑은 고딕"/>
                <a:ea typeface="맑은 고딕"/>
              </a:rPr>
              <a:t>본래 부서 밖의 관심 과제에 참여</a:t>
            </a:r>
          </a:p>
        </p:txBody>
      </p:sp>
      <p:sp>
        <p:nvSpPr>
          <p:cNvPr id="28" name="TextBox 27"/>
          <p:cNvSpPr txBox="1"/>
          <p:nvPr/>
        </p:nvSpPr>
        <p:spPr>
          <a:xfrm>
            <a:off x="685800" y="5202936"/>
            <a:ext cx="5650992" cy="585216"/>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3월 모집 · 4월 착수</a:t>
            </a:r>
          </a:p>
          <a:p>
            <a:pPr algn="l">
              <a:spcAft>
                <a:spcPts val="400"/>
              </a:spcAft>
            </a:pPr>
            <a:r>
              <a:rPr sz="1600" b="0">
                <a:solidFill>
                  <a:srgbClr val="B4C6D4"/>
                </a:solidFill>
                <a:latin typeface="맑은 고딕"/>
                <a:ea typeface="맑은 고딕"/>
              </a:rPr>
              <a:t>6개 과제 · 44명 참여</a:t>
            </a:r>
          </a:p>
        </p:txBody>
      </p:sp>
      <p:sp>
        <p:nvSpPr>
          <p:cNvPr id="29" name="P04-asset-frame-IMG07"/>
          <p:cNvSpPr/>
          <p:nvPr/>
        </p:nvSpPr>
        <p:spPr>
          <a:xfrm>
            <a:off x="6629400" y="4462272"/>
            <a:ext cx="4873752" cy="1280160"/>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4-asset-instruction-IMG07"/>
          <p:cNvSpPr txBox="1"/>
          <p:nvPr/>
        </p:nvSpPr>
        <p:spPr>
          <a:xfrm>
            <a:off x="6812280" y="4572000"/>
            <a:ext cx="4507992" cy="228600"/>
          </a:xfrm>
          <a:prstGeom prst="rect">
            <a:avLst/>
          </a:prstGeom>
          <a:noFill/>
        </p:spPr>
        <p:txBody>
          <a:bodyPr wrap="square" lIns="0" rIns="0" tIns="0" bIns="0">
            <a:spAutoFit/>
          </a:bodyPr>
          <a:lstStyle/>
          <a:p>
            <a:pPr algn="l">
              <a:spcAft>
                <a:spcPts val="400"/>
              </a:spcAft>
            </a:pPr>
            <a:r>
              <a:rPr sz="1200" b="1">
                <a:solidFill>
                  <a:srgbClr val="83E8C5"/>
                </a:solidFill>
                <a:latin typeface="맑은 고딕"/>
                <a:ea typeface="맑은 고딕"/>
              </a:rPr>
              <a:t>실제 자료 삽입</a:t>
            </a:r>
          </a:p>
        </p:txBody>
      </p:sp>
      <p:sp>
        <p:nvSpPr>
          <p:cNvPr id="31" name="P04-asset-label-IMG07"/>
          <p:cNvSpPr txBox="1"/>
          <p:nvPr/>
        </p:nvSpPr>
        <p:spPr>
          <a:xfrm>
            <a:off x="6812280" y="4828032"/>
            <a:ext cx="4507992" cy="594360"/>
          </a:xfrm>
          <a:prstGeom prst="rect">
            <a:avLst/>
          </a:prstGeom>
          <a:noFill/>
        </p:spPr>
        <p:txBody>
          <a:bodyPr wrap="square" lIns="0" rIns="0" tIns="0" bIns="0">
            <a:spAutoFit/>
          </a:bodyPr>
          <a:lstStyle/>
          <a:p>
            <a:pPr algn="l">
              <a:spcAft>
                <a:spcPts val="400"/>
              </a:spcAft>
            </a:pPr>
            <a:r>
              <a:rPr sz="1600" b="1">
                <a:solidFill>
                  <a:srgbClr val="F6F8F9"/>
                </a:solidFill>
                <a:latin typeface="맑은 고딕"/>
                <a:ea typeface="맑은 고딕"/>
              </a:rPr>
              <a:t>Tech X</a:t>
            </a:r>
          </a:p>
          <a:p>
            <a:pPr algn="l">
              <a:spcAft>
                <a:spcPts val="400"/>
              </a:spcAft>
            </a:pPr>
            <a:r>
              <a:rPr sz="1600" b="1">
                <a:solidFill>
                  <a:srgbClr val="F6F8F9"/>
                </a:solidFill>
                <a:latin typeface="맑은 고딕"/>
                <a:ea typeface="맑은 고딕"/>
              </a:rPr>
              <a:t>모집 공고</a:t>
            </a:r>
          </a:p>
        </p:txBody>
      </p:sp>
      <p:sp>
        <p:nvSpPr>
          <p:cNvPr id="32" name="P04-asset-id-IMG07"/>
          <p:cNvSpPr txBox="1"/>
          <p:nvPr/>
        </p:nvSpPr>
        <p:spPr>
          <a:xfrm>
            <a:off x="6812280" y="5477255"/>
            <a:ext cx="4507992" cy="201168"/>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IMG07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P05</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Tech X · 이관우의 참여 경험</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저도, 함께 배우고 있습니다.</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2706624"/>
            <a:ext cx="10817352" cy="393192"/>
          </a:xfrm>
          <a:prstGeom prst="rect">
            <a:avLst/>
          </a:prstGeom>
          <a:noFill/>
        </p:spPr>
        <p:txBody>
          <a:bodyPr wrap="square" lIns="0" rIns="0" tIns="0" bIns="0">
            <a:spAutoFit/>
          </a:bodyPr>
          <a:lstStyle/>
          <a:p>
            <a:pPr algn="l">
              <a:spcAft>
                <a:spcPts val="400"/>
              </a:spcAft>
            </a:pPr>
            <a:r>
              <a:rPr sz="2200" b="1">
                <a:solidFill>
                  <a:srgbClr val="83E8C5"/>
                </a:solidFill>
                <a:latin typeface="맑은 고딕"/>
                <a:ea typeface="맑은 고딕"/>
              </a:rPr>
              <a:t>k8s GPU 자원 효율화 과제</a:t>
            </a:r>
          </a:p>
        </p:txBody>
      </p:sp>
      <p:sp>
        <p:nvSpPr>
          <p:cNvPr id="17" name="P05-asset-frame-IMG16"/>
          <p:cNvSpPr/>
          <p:nvPr/>
        </p:nvSpPr>
        <p:spPr>
          <a:xfrm>
            <a:off x="685800" y="3264408"/>
            <a:ext cx="5285232" cy="1956816"/>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5-asset-instruction-IMG16"/>
          <p:cNvSpPr txBox="1"/>
          <p:nvPr/>
        </p:nvSpPr>
        <p:spPr>
          <a:xfrm>
            <a:off x="868680" y="3374136"/>
            <a:ext cx="4919472" cy="228600"/>
          </a:xfrm>
          <a:prstGeom prst="rect">
            <a:avLst/>
          </a:prstGeom>
          <a:noFill/>
        </p:spPr>
        <p:txBody>
          <a:bodyPr wrap="square" lIns="0" rIns="0" tIns="0" bIns="0">
            <a:spAutoFit/>
          </a:bodyPr>
          <a:lstStyle/>
          <a:p>
            <a:pPr algn="l">
              <a:spcAft>
                <a:spcPts val="400"/>
              </a:spcAft>
            </a:pPr>
            <a:r>
              <a:rPr sz="1200" b="1">
                <a:solidFill>
                  <a:srgbClr val="83E8C5"/>
                </a:solidFill>
                <a:latin typeface="맑은 고딕"/>
                <a:ea typeface="맑은 고딕"/>
              </a:rPr>
              <a:t>실제 자료 삽입</a:t>
            </a:r>
          </a:p>
        </p:txBody>
      </p:sp>
      <p:sp>
        <p:nvSpPr>
          <p:cNvPr id="19" name="P05-asset-label-IMG16"/>
          <p:cNvSpPr txBox="1"/>
          <p:nvPr/>
        </p:nvSpPr>
        <p:spPr>
          <a:xfrm>
            <a:off x="868680" y="3922776"/>
            <a:ext cx="4919472" cy="896112"/>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참여 사진 1</a:t>
            </a:r>
          </a:p>
        </p:txBody>
      </p:sp>
      <p:sp>
        <p:nvSpPr>
          <p:cNvPr id="20" name="P05-asset-id-IMG16"/>
          <p:cNvSpPr txBox="1"/>
          <p:nvPr/>
        </p:nvSpPr>
        <p:spPr>
          <a:xfrm>
            <a:off x="868680" y="4956048"/>
            <a:ext cx="4919472" cy="201168"/>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IMG16</a:t>
            </a:r>
          </a:p>
        </p:txBody>
      </p:sp>
      <p:sp>
        <p:nvSpPr>
          <p:cNvPr id="21" name="P05-asset-frame-IMG17"/>
          <p:cNvSpPr/>
          <p:nvPr/>
        </p:nvSpPr>
        <p:spPr>
          <a:xfrm>
            <a:off x="6217920" y="3264408"/>
            <a:ext cx="5285232" cy="1956816"/>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5-asset-instruction-IMG17"/>
          <p:cNvSpPr txBox="1"/>
          <p:nvPr/>
        </p:nvSpPr>
        <p:spPr>
          <a:xfrm>
            <a:off x="6400800" y="3374136"/>
            <a:ext cx="4919472" cy="228600"/>
          </a:xfrm>
          <a:prstGeom prst="rect">
            <a:avLst/>
          </a:prstGeom>
          <a:noFill/>
        </p:spPr>
        <p:txBody>
          <a:bodyPr wrap="square" lIns="0" rIns="0" tIns="0" bIns="0">
            <a:spAutoFit/>
          </a:bodyPr>
          <a:lstStyle/>
          <a:p>
            <a:pPr algn="l">
              <a:spcAft>
                <a:spcPts val="400"/>
              </a:spcAft>
            </a:pPr>
            <a:r>
              <a:rPr sz="1200" b="1">
                <a:solidFill>
                  <a:srgbClr val="83E8C5"/>
                </a:solidFill>
                <a:latin typeface="맑은 고딕"/>
                <a:ea typeface="맑은 고딕"/>
              </a:rPr>
              <a:t>실제 자료 삽입</a:t>
            </a:r>
          </a:p>
        </p:txBody>
      </p:sp>
      <p:sp>
        <p:nvSpPr>
          <p:cNvPr id="23" name="P05-asset-label-IMG17"/>
          <p:cNvSpPr txBox="1"/>
          <p:nvPr/>
        </p:nvSpPr>
        <p:spPr>
          <a:xfrm>
            <a:off x="6400800" y="3922776"/>
            <a:ext cx="4919472" cy="896112"/>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참여 사진 2</a:t>
            </a:r>
          </a:p>
        </p:txBody>
      </p:sp>
      <p:sp>
        <p:nvSpPr>
          <p:cNvPr id="24" name="P05-asset-id-IMG17"/>
          <p:cNvSpPr txBox="1"/>
          <p:nvPr/>
        </p:nvSpPr>
        <p:spPr>
          <a:xfrm>
            <a:off x="6400800" y="4956048"/>
            <a:ext cx="4919472" cy="201168"/>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IMG17</a:t>
            </a:r>
          </a:p>
        </p:txBody>
      </p:sp>
      <p:sp>
        <p:nvSpPr>
          <p:cNvPr id="25" name="TextBox 24"/>
          <p:cNvSpPr txBox="1"/>
          <p:nvPr/>
        </p:nvSpPr>
        <p:spPr>
          <a:xfrm>
            <a:off x="685800" y="5513832"/>
            <a:ext cx="10817352" cy="365760"/>
          </a:xfrm>
          <a:prstGeom prst="rect">
            <a:avLst/>
          </a:prstGeom>
          <a:noFill/>
        </p:spPr>
        <p:txBody>
          <a:bodyPr wrap="square" lIns="0" rIns="0" tIns="0" bIns="0">
            <a:spAutoFit/>
          </a:bodyPr>
          <a:lstStyle/>
          <a:p>
            <a:pPr algn="l">
              <a:spcAft>
                <a:spcPts val="400"/>
              </a:spcAft>
            </a:pPr>
            <a:r>
              <a:rPr sz="1900" b="0">
                <a:solidFill>
                  <a:srgbClr val="B4C6D4"/>
                </a:solidFill>
                <a:latin typeface="맑은 고딕"/>
                <a:ea typeface="맑은 고딕"/>
              </a:rPr>
              <a:t>관심에서 참여로 · 동료와 다른 관점을 배우다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P06</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Tech X · 대표 프로젝트 IAP</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함께 만든 기술이</a:t>
            </a:r>
          </a:p>
          <a:p>
            <a:pPr algn="l">
              <a:spcAft>
                <a:spcPts val="400"/>
              </a:spcAft>
            </a:pPr>
            <a:r>
              <a:rPr sz="3200" b="1">
                <a:solidFill>
                  <a:srgbClr val="F6F8F9"/>
                </a:solidFill>
                <a:latin typeface="맑은 고딕"/>
                <a:ea typeface="맑은 고딕"/>
              </a:rPr>
              <a:t>운영을 바꿉니다.</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Rounded Rectangle 15"/>
          <p:cNvSpPr/>
          <p:nvPr/>
        </p:nvSpPr>
        <p:spPr>
          <a:xfrm>
            <a:off x="685800" y="3346704"/>
            <a:ext cx="3349752" cy="148132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575304"/>
            <a:ext cx="2983992" cy="56692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로그 패턴 감지</a:t>
            </a:r>
          </a:p>
        </p:txBody>
      </p:sp>
      <p:sp>
        <p:nvSpPr>
          <p:cNvPr id="18" name="TextBox 17"/>
          <p:cNvSpPr txBox="1"/>
          <p:nvPr/>
        </p:nvSpPr>
        <p:spPr>
          <a:xfrm>
            <a:off x="868680" y="4389120"/>
            <a:ext cx="298399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서버 로그</a:t>
            </a:r>
          </a:p>
        </p:txBody>
      </p:sp>
      <p:cxnSp>
        <p:nvCxnSpPr>
          <p:cNvPr id="19" name="Connector 18"/>
          <p:cNvCxnSpPr/>
          <p:nvPr/>
        </p:nvCxnSpPr>
        <p:spPr>
          <a:xfrm>
            <a:off x="4099560" y="4087368"/>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419600" y="3346704"/>
            <a:ext cx="3349752" cy="148132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02480" y="3575304"/>
            <a:ext cx="2983992" cy="566928"/>
          </a:xfrm>
          <a:prstGeom prst="rect">
            <a:avLst/>
          </a:prstGeom>
          <a:noFill/>
        </p:spPr>
        <p:txBody>
          <a:bodyPr wrap="square" lIns="0" rIns="0" tIns="0" bIns="0">
            <a:spAutoFit/>
          </a:bodyPr>
          <a:lstStyle/>
          <a:p>
            <a:pPr algn="l">
              <a:spcAft>
                <a:spcPts val="400"/>
              </a:spcAft>
            </a:pPr>
            <a:r>
              <a:rPr sz="2400" b="1">
                <a:solidFill>
                  <a:srgbClr val="C1B3F4"/>
                </a:solidFill>
                <a:latin typeface="맑은 고딕"/>
                <a:ea typeface="맑은 고딕"/>
              </a:rPr>
              <a:t>지정 형식</a:t>
            </a:r>
          </a:p>
        </p:txBody>
      </p:sp>
      <p:sp>
        <p:nvSpPr>
          <p:cNvPr id="22" name="TextBox 21"/>
          <p:cNvSpPr txBox="1"/>
          <p:nvPr/>
        </p:nvSpPr>
        <p:spPr>
          <a:xfrm>
            <a:off x="4602480" y="4389120"/>
            <a:ext cx="298399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메시지 구성</a:t>
            </a:r>
          </a:p>
        </p:txBody>
      </p:sp>
      <p:cxnSp>
        <p:nvCxnSpPr>
          <p:cNvPr id="23" name="Connector 22"/>
          <p:cNvCxnSpPr/>
          <p:nvPr/>
        </p:nvCxnSpPr>
        <p:spPr>
          <a:xfrm>
            <a:off x="7833360" y="4087368"/>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53400" y="3346704"/>
            <a:ext cx="3349752" cy="1481328"/>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6280" y="3575304"/>
            <a:ext cx="2983992" cy="566928"/>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메신저 알림</a:t>
            </a:r>
          </a:p>
        </p:txBody>
      </p:sp>
      <p:sp>
        <p:nvSpPr>
          <p:cNvPr id="26" name="TextBox 25"/>
          <p:cNvSpPr txBox="1"/>
          <p:nvPr/>
        </p:nvSpPr>
        <p:spPr>
          <a:xfrm>
            <a:off x="8336280" y="4389120"/>
            <a:ext cx="298399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알림 수작업 대체</a:t>
            </a:r>
          </a:p>
        </p:txBody>
      </p:sp>
      <p:sp>
        <p:nvSpPr>
          <p:cNvPr id="27" name="TextBox 26"/>
          <p:cNvSpPr txBox="1"/>
          <p:nvPr/>
        </p:nvSpPr>
        <p:spPr>
          <a:xfrm>
            <a:off x="685800" y="5202936"/>
            <a:ext cx="10817352" cy="45720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Infra Agent Platform · 확인된 운영 적용 사례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P07</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Job Fair · 서로의 업무 이해</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서로의 일을 알면,</a:t>
            </a:r>
          </a:p>
          <a:p>
            <a:pPr algn="l">
              <a:spcAft>
                <a:spcPts val="400"/>
              </a:spcAft>
            </a:pPr>
            <a:r>
              <a:rPr sz="3200" b="1">
                <a:solidFill>
                  <a:srgbClr val="F6F8F9"/>
                </a:solidFill>
                <a:latin typeface="맑은 고딕"/>
                <a:ea typeface="맑은 고딕"/>
              </a:rPr>
              <a:t>함께 일할 길이 보입니다.</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3017520"/>
            <a:ext cx="4846320" cy="82296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8월 · 11개 부서</a:t>
            </a:r>
          </a:p>
          <a:p>
            <a:pPr algn="l">
              <a:spcAft>
                <a:spcPts val="400"/>
              </a:spcAft>
            </a:pPr>
            <a:r>
              <a:rPr sz="2400" b="1">
                <a:solidFill>
                  <a:srgbClr val="83E8C5"/>
                </a:solidFill>
                <a:latin typeface="맑은 고딕"/>
                <a:ea typeface="맑은 고딕"/>
              </a:rPr>
              <a:t>A0 업무 소개 패널</a:t>
            </a:r>
          </a:p>
        </p:txBody>
      </p:sp>
      <p:sp>
        <p:nvSpPr>
          <p:cNvPr id="17" name="TextBox 16"/>
          <p:cNvSpPr txBox="1"/>
          <p:nvPr/>
        </p:nvSpPr>
        <p:spPr>
          <a:xfrm>
            <a:off x="685800" y="4818888"/>
            <a:ext cx="4846320" cy="82296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동료의 일을 직접 듣고</a:t>
            </a:r>
          </a:p>
          <a:p>
            <a:pPr algn="l">
              <a:spcAft>
                <a:spcPts val="400"/>
              </a:spcAft>
            </a:pPr>
            <a:r>
              <a:rPr sz="2200" b="1">
                <a:solidFill>
                  <a:srgbClr val="F6F8F9"/>
                </a:solidFill>
                <a:latin typeface="맑은 고딕"/>
                <a:ea typeface="맑은 고딕"/>
              </a:rPr>
              <a:t>궁금한 점을 묻다</a:t>
            </a:r>
          </a:p>
        </p:txBody>
      </p:sp>
      <p:sp>
        <p:nvSpPr>
          <p:cNvPr id="18" name="P07-asset-frame-IMG04"/>
          <p:cNvSpPr/>
          <p:nvPr/>
        </p:nvSpPr>
        <p:spPr>
          <a:xfrm>
            <a:off x="5897880" y="2999232"/>
            <a:ext cx="5605272" cy="2670048"/>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7-asset-instruction-IMG04"/>
          <p:cNvSpPr txBox="1"/>
          <p:nvPr/>
        </p:nvSpPr>
        <p:spPr>
          <a:xfrm>
            <a:off x="6080760" y="3108960"/>
            <a:ext cx="5239512" cy="228600"/>
          </a:xfrm>
          <a:prstGeom prst="rect">
            <a:avLst/>
          </a:prstGeom>
          <a:noFill/>
        </p:spPr>
        <p:txBody>
          <a:bodyPr wrap="square" lIns="0" rIns="0" tIns="0" bIns="0">
            <a:spAutoFit/>
          </a:bodyPr>
          <a:lstStyle/>
          <a:p>
            <a:pPr algn="l">
              <a:spcAft>
                <a:spcPts val="400"/>
              </a:spcAft>
            </a:pPr>
            <a:r>
              <a:rPr sz="1200" b="1">
                <a:solidFill>
                  <a:srgbClr val="83E8C5"/>
                </a:solidFill>
                <a:latin typeface="맑은 고딕"/>
                <a:ea typeface="맑은 고딕"/>
              </a:rPr>
              <a:t>실제 자료 삽입</a:t>
            </a:r>
          </a:p>
        </p:txBody>
      </p:sp>
      <p:sp>
        <p:nvSpPr>
          <p:cNvPr id="20" name="P07-asset-label-IMG04"/>
          <p:cNvSpPr txBox="1"/>
          <p:nvPr/>
        </p:nvSpPr>
        <p:spPr>
          <a:xfrm>
            <a:off x="6080760" y="3657600"/>
            <a:ext cx="5239512" cy="896112"/>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Job Fair</a:t>
            </a:r>
          </a:p>
          <a:p>
            <a:pPr algn="l">
              <a:spcAft>
                <a:spcPts val="400"/>
              </a:spcAft>
            </a:pPr>
            <a:r>
              <a:rPr sz="2200" b="1">
                <a:solidFill>
                  <a:srgbClr val="F6F8F9"/>
                </a:solidFill>
                <a:latin typeface="맑은 고딕"/>
                <a:ea typeface="맑은 고딕"/>
              </a:rPr>
              <a:t>부스 전경</a:t>
            </a:r>
          </a:p>
        </p:txBody>
      </p:sp>
      <p:sp>
        <p:nvSpPr>
          <p:cNvPr id="21" name="P07-asset-id-IMG04"/>
          <p:cNvSpPr txBox="1"/>
          <p:nvPr/>
        </p:nvSpPr>
        <p:spPr>
          <a:xfrm>
            <a:off x="6080760" y="5404103"/>
            <a:ext cx="5239512" cy="201168"/>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IMG04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P08</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DCIS · 서로의 업무 이해</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업무 공유를 일상으로.</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38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다시 나누다</a:t>
            </a:r>
          </a:p>
        </p:txBody>
      </p:sp>
      <p:sp>
        <p:nvSpPr>
          <p:cNvPr id="16" name="TextBox 15"/>
          <p:cNvSpPr txBox="1"/>
          <p:nvPr/>
        </p:nvSpPr>
        <p:spPr>
          <a:xfrm>
            <a:off x="685800" y="3017520"/>
            <a:ext cx="4846320" cy="822960"/>
          </a:xfrm>
          <a:prstGeom prst="rect">
            <a:avLst/>
          </a:prstGeom>
          <a:noFill/>
        </p:spPr>
        <p:txBody>
          <a:bodyPr wrap="square" lIns="0" rIns="0" tIns="0" bIns="0">
            <a:spAutoFit/>
          </a:bodyPr>
          <a:lstStyle/>
          <a:p>
            <a:pPr algn="l">
              <a:spcAft>
                <a:spcPts val="400"/>
              </a:spcAft>
            </a:pPr>
            <a:r>
              <a:rPr sz="2400" b="1">
                <a:solidFill>
                  <a:srgbClr val="83E8C5"/>
                </a:solidFill>
                <a:latin typeface="맑은 고딕"/>
                <a:ea typeface="맑은 고딕"/>
              </a:rPr>
              <a:t>월 1회</a:t>
            </a:r>
          </a:p>
          <a:p>
            <a:pPr algn="l">
              <a:spcAft>
                <a:spcPts val="400"/>
              </a:spcAft>
            </a:pPr>
            <a:r>
              <a:rPr sz="2400" b="1">
                <a:solidFill>
                  <a:srgbClr val="83E8C5"/>
                </a:solidFill>
                <a:latin typeface="맑은 고딕"/>
                <a:ea typeface="맑은 고딕"/>
              </a:rPr>
              <a:t>주요 과제 · 서비스 · 연구 기술</a:t>
            </a:r>
          </a:p>
        </p:txBody>
      </p:sp>
      <p:sp>
        <p:nvSpPr>
          <p:cNvPr id="17" name="TextBox 16"/>
          <p:cNvSpPr txBox="1"/>
          <p:nvPr/>
        </p:nvSpPr>
        <p:spPr>
          <a:xfrm>
            <a:off x="685800" y="4818888"/>
            <a:ext cx="4846320" cy="822960"/>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서로 이해하며 하나의 팀으로</a:t>
            </a:r>
          </a:p>
        </p:txBody>
      </p:sp>
      <p:sp>
        <p:nvSpPr>
          <p:cNvPr id="18" name="P08-asset-frame-IMG06"/>
          <p:cNvSpPr/>
          <p:nvPr/>
        </p:nvSpPr>
        <p:spPr>
          <a:xfrm>
            <a:off x="5897880" y="2999232"/>
            <a:ext cx="5605272" cy="2670048"/>
          </a:xfrm>
          <a:prstGeom prst="roundRect">
            <a:avLst/>
          </a:prstGeom>
          <a:solidFill>
            <a:srgbClr val="1B2D3E"/>
          </a:solidFill>
          <a:ln w="12700">
            <a:solidFill>
              <a:srgbClr val="38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8-asset-instruction-IMG06"/>
          <p:cNvSpPr txBox="1"/>
          <p:nvPr/>
        </p:nvSpPr>
        <p:spPr>
          <a:xfrm>
            <a:off x="6080760" y="3108960"/>
            <a:ext cx="5239512" cy="228600"/>
          </a:xfrm>
          <a:prstGeom prst="rect">
            <a:avLst/>
          </a:prstGeom>
          <a:noFill/>
        </p:spPr>
        <p:txBody>
          <a:bodyPr wrap="square" lIns="0" rIns="0" tIns="0" bIns="0">
            <a:spAutoFit/>
          </a:bodyPr>
          <a:lstStyle/>
          <a:p>
            <a:pPr algn="l">
              <a:spcAft>
                <a:spcPts val="400"/>
              </a:spcAft>
            </a:pPr>
            <a:r>
              <a:rPr sz="1200" b="1">
                <a:solidFill>
                  <a:srgbClr val="83E8C5"/>
                </a:solidFill>
                <a:latin typeface="맑은 고딕"/>
                <a:ea typeface="맑은 고딕"/>
              </a:rPr>
              <a:t>실제 자료 삽입</a:t>
            </a:r>
          </a:p>
        </p:txBody>
      </p:sp>
      <p:sp>
        <p:nvSpPr>
          <p:cNvPr id="20" name="P08-asset-label-IMG06"/>
          <p:cNvSpPr txBox="1"/>
          <p:nvPr/>
        </p:nvSpPr>
        <p:spPr>
          <a:xfrm>
            <a:off x="6080760" y="3657600"/>
            <a:ext cx="5239512" cy="896112"/>
          </a:xfrm>
          <a:prstGeom prst="rect">
            <a:avLst/>
          </a:prstGeom>
          <a:noFill/>
        </p:spPr>
        <p:txBody>
          <a:bodyPr wrap="square" lIns="0" rIns="0" tIns="0" bIns="0">
            <a:spAutoFit/>
          </a:bodyPr>
          <a:lstStyle/>
          <a:p>
            <a:pPr algn="l">
              <a:spcAft>
                <a:spcPts val="400"/>
              </a:spcAft>
            </a:pPr>
            <a:r>
              <a:rPr sz="2200" b="1">
                <a:solidFill>
                  <a:srgbClr val="F6F8F9"/>
                </a:solidFill>
                <a:latin typeface="맑은 고딕"/>
                <a:ea typeface="맑은 고딕"/>
              </a:rPr>
              <a:t>DCIS</a:t>
            </a:r>
          </a:p>
          <a:p>
            <a:pPr algn="l">
              <a:spcAft>
                <a:spcPts val="400"/>
              </a:spcAft>
            </a:pPr>
            <a:r>
              <a:rPr sz="2200" b="1">
                <a:solidFill>
                  <a:srgbClr val="F6F8F9"/>
                </a:solidFill>
                <a:latin typeface="맑은 고딕"/>
                <a:ea typeface="맑은 고딕"/>
              </a:rPr>
              <a:t>발표 자료</a:t>
            </a:r>
          </a:p>
        </p:txBody>
      </p:sp>
      <p:sp>
        <p:nvSpPr>
          <p:cNvPr id="21" name="P08-asset-id-IMG06"/>
          <p:cNvSpPr txBox="1"/>
          <p:nvPr/>
        </p:nvSpPr>
        <p:spPr>
          <a:xfrm>
            <a:off x="6080760" y="5404103"/>
            <a:ext cx="5239512" cy="201168"/>
          </a:xfrm>
          <a:prstGeom prst="rect">
            <a:avLst/>
          </a:prstGeom>
          <a:noFill/>
        </p:spPr>
        <p:txBody>
          <a:bodyPr wrap="square" lIns="0" rIns="0" tIns="0" bIns="0">
            <a:spAutoFit/>
          </a:bodyPr>
          <a:lstStyle/>
          <a:p>
            <a:pPr algn="l">
              <a:spcAft>
                <a:spcPts val="400"/>
              </a:spcAft>
            </a:pPr>
            <a:r>
              <a:rPr sz="1000" b="0">
                <a:solidFill>
                  <a:srgbClr val="B4C6D4"/>
                </a:solidFill>
                <a:latin typeface="맑은 고딕"/>
                <a:ea typeface="맑은 고딕"/>
              </a:rPr>
              <a:t>IMG06</a:t>
            </a:r>
          </a:p>
        </p:txBody>
      </p:sp>
      <p:sp>
        <p:nvSpPr>
          <p:cNvPr id="22" name="TextBox 21"/>
          <p:cNvSpPr txBox="1"/>
          <p:nvPr/>
        </p:nvSpPr>
        <p:spPr>
          <a:xfrm>
            <a:off x="685800" y="5669280"/>
            <a:ext cx="4846320" cy="256032"/>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Data Center Idea Sync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P09</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전체 교육문화 · 다시 나누다</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개인의 배움에서,</a:t>
            </a:r>
          </a:p>
          <a:p>
            <a:pPr algn="l">
              <a:spcAft>
                <a:spcPts val="400"/>
              </a:spcAft>
            </a:pPr>
            <a:r>
              <a:rPr sz="3200" b="1">
                <a:solidFill>
                  <a:srgbClr val="F6F8F9"/>
                </a:solidFill>
                <a:latin typeface="맑은 고딕"/>
                <a:ea typeface="맑은 고딕"/>
              </a:rPr>
              <a:t>함께 성장하는 팀으로.</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밖에서 배우다</a:t>
            </a:r>
          </a:p>
        </p:txBody>
      </p:sp>
      <p:sp>
        <p:nvSpPr>
          <p:cNvPr id="10" name="Oval 9"/>
          <p:cNvSpPr/>
          <p:nvPr/>
        </p:nvSpPr>
        <p:spPr>
          <a:xfrm>
            <a:off x="3493008"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함께 해보다</a:t>
            </a:r>
          </a:p>
        </p:txBody>
      </p:sp>
      <p:sp>
        <p:nvSpPr>
          <p:cNvPr id="12" name="Oval 11"/>
          <p:cNvSpPr/>
          <p:nvPr/>
        </p:nvSpPr>
        <p:spPr>
          <a:xfrm>
            <a:off x="6254496"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6263640"/>
            <a:ext cx="24231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서로 이해하다</a:t>
            </a:r>
          </a:p>
        </p:txBody>
      </p:sp>
      <p:sp>
        <p:nvSpPr>
          <p:cNvPr id="14" name="Oval 13"/>
          <p:cNvSpPr/>
          <p:nvPr/>
        </p:nvSpPr>
        <p:spPr>
          <a:xfrm>
            <a:off x="9015984" y="6336792"/>
            <a:ext cx="100584" cy="100584"/>
          </a:xfrm>
          <a:prstGeom prst="ellipse">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6263640"/>
            <a:ext cx="2423160" cy="320040"/>
          </a:xfrm>
          <a:prstGeom prst="rect">
            <a:avLst/>
          </a:prstGeom>
          <a:noFill/>
        </p:spPr>
        <p:txBody>
          <a:bodyPr wrap="square" lIns="0" rIns="0" tIns="0" bIns="0">
            <a:spAutoFit/>
          </a:bodyPr>
          <a:lstStyle/>
          <a:p>
            <a:pPr algn="l">
              <a:spcAft>
                <a:spcPts val="400"/>
              </a:spcAft>
            </a:pPr>
            <a:r>
              <a:rPr sz="1200" b="1">
                <a:solidFill>
                  <a:srgbClr val="F6F8F9"/>
                </a:solidFill>
                <a:latin typeface="맑은 고딕"/>
                <a:ea typeface="맑은 고딕"/>
              </a:rPr>
              <a:t>다시 나누다</a:t>
            </a:r>
          </a:p>
        </p:txBody>
      </p:sp>
      <p:sp>
        <p:nvSpPr>
          <p:cNvPr id="16" name="Rounded Rectangle 15"/>
          <p:cNvSpPr/>
          <p:nvPr/>
        </p:nvSpPr>
        <p:spPr>
          <a:xfrm>
            <a:off x="685800" y="3246120"/>
            <a:ext cx="241630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474720"/>
            <a:ext cx="2050542" cy="566928"/>
          </a:xfrm>
          <a:prstGeom prst="rect">
            <a:avLst/>
          </a:prstGeom>
          <a:noFill/>
        </p:spPr>
        <p:txBody>
          <a:bodyPr wrap="square" lIns="0" rIns="0" tIns="0" bIns="0">
            <a:spAutoFit/>
          </a:bodyPr>
          <a:lstStyle/>
          <a:p>
            <a:pPr algn="ctr">
              <a:spcAft>
                <a:spcPts val="400"/>
              </a:spcAft>
            </a:pPr>
            <a:r>
              <a:rPr sz="2700" b="1">
                <a:solidFill>
                  <a:srgbClr val="83E8C5"/>
                </a:solidFill>
                <a:latin typeface="맑은 고딕"/>
                <a:ea typeface="맑은 고딕"/>
              </a:rPr>
              <a:t>기술</a:t>
            </a:r>
          </a:p>
        </p:txBody>
      </p:sp>
      <p:sp>
        <p:nvSpPr>
          <p:cNvPr id="18" name="TextBox 17"/>
          <p:cNvSpPr txBox="1"/>
          <p:nvPr/>
        </p:nvSpPr>
        <p:spPr>
          <a:xfrm>
            <a:off x="868680" y="4041648"/>
            <a:ext cx="205054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밖에서 배우다</a:t>
            </a:r>
          </a:p>
        </p:txBody>
      </p:sp>
      <p:cxnSp>
        <p:nvCxnSpPr>
          <p:cNvPr id="19" name="Connector 18"/>
          <p:cNvCxnSpPr/>
          <p:nvPr/>
        </p:nvCxnSpPr>
        <p:spPr>
          <a:xfrm>
            <a:off x="3166110" y="3863339"/>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486150" y="3246120"/>
            <a:ext cx="241630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9030" y="3474720"/>
            <a:ext cx="2050542" cy="566928"/>
          </a:xfrm>
          <a:prstGeom prst="rect">
            <a:avLst/>
          </a:prstGeom>
          <a:noFill/>
        </p:spPr>
        <p:txBody>
          <a:bodyPr wrap="square" lIns="0" rIns="0" tIns="0" bIns="0">
            <a:spAutoFit/>
          </a:bodyPr>
          <a:lstStyle/>
          <a:p>
            <a:pPr algn="ctr">
              <a:spcAft>
                <a:spcPts val="400"/>
              </a:spcAft>
            </a:pPr>
            <a:r>
              <a:rPr sz="2700" b="1">
                <a:solidFill>
                  <a:srgbClr val="C1B3F4"/>
                </a:solidFill>
                <a:latin typeface="맑은 고딕"/>
                <a:ea typeface="맑은 고딕"/>
              </a:rPr>
              <a:t>경험</a:t>
            </a:r>
          </a:p>
        </p:txBody>
      </p:sp>
      <p:sp>
        <p:nvSpPr>
          <p:cNvPr id="22" name="TextBox 21"/>
          <p:cNvSpPr txBox="1"/>
          <p:nvPr/>
        </p:nvSpPr>
        <p:spPr>
          <a:xfrm>
            <a:off x="3669030" y="4041648"/>
            <a:ext cx="205054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함께 해보다</a:t>
            </a:r>
          </a:p>
        </p:txBody>
      </p:sp>
      <p:cxnSp>
        <p:nvCxnSpPr>
          <p:cNvPr id="23" name="Connector 22"/>
          <p:cNvCxnSpPr/>
          <p:nvPr/>
        </p:nvCxnSpPr>
        <p:spPr>
          <a:xfrm>
            <a:off x="5966460" y="3863339"/>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286500" y="3246120"/>
            <a:ext cx="241630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474720"/>
            <a:ext cx="2050542" cy="566928"/>
          </a:xfrm>
          <a:prstGeom prst="rect">
            <a:avLst/>
          </a:prstGeom>
          <a:noFill/>
        </p:spPr>
        <p:txBody>
          <a:bodyPr wrap="square" lIns="0" rIns="0" tIns="0" bIns="0">
            <a:spAutoFit/>
          </a:bodyPr>
          <a:lstStyle/>
          <a:p>
            <a:pPr algn="ctr">
              <a:spcAft>
                <a:spcPts val="400"/>
              </a:spcAft>
            </a:pPr>
            <a:r>
              <a:rPr sz="2700" b="1">
                <a:solidFill>
                  <a:srgbClr val="83E8C5"/>
                </a:solidFill>
                <a:latin typeface="맑은 고딕"/>
                <a:ea typeface="맑은 고딕"/>
              </a:rPr>
              <a:t>이해</a:t>
            </a:r>
          </a:p>
        </p:txBody>
      </p:sp>
      <p:sp>
        <p:nvSpPr>
          <p:cNvPr id="26" name="TextBox 25"/>
          <p:cNvSpPr txBox="1"/>
          <p:nvPr/>
        </p:nvSpPr>
        <p:spPr>
          <a:xfrm>
            <a:off x="6469380" y="4041648"/>
            <a:ext cx="205054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동료의 일을 알다</a:t>
            </a:r>
          </a:p>
        </p:txBody>
      </p:sp>
      <p:cxnSp>
        <p:nvCxnSpPr>
          <p:cNvPr id="27" name="Connector 26"/>
          <p:cNvCxnSpPr/>
          <p:nvPr/>
        </p:nvCxnSpPr>
        <p:spPr>
          <a:xfrm>
            <a:off x="8766810" y="3863339"/>
            <a:ext cx="256032" cy="0"/>
          </a:xfrm>
          <a:prstGeom prst="line">
            <a:avLst/>
          </a:prstGeom>
          <a:ln w="25400">
            <a:solidFill>
              <a:srgbClr val="83E8C5"/>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86850" y="3246120"/>
            <a:ext cx="2416302" cy="1234440"/>
          </a:xfrm>
          <a:prstGeom prst="roundRect">
            <a:avLst/>
          </a:prstGeom>
          <a:solidFill>
            <a:srgbClr val="1B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69730" y="3474720"/>
            <a:ext cx="2050542" cy="566928"/>
          </a:xfrm>
          <a:prstGeom prst="rect">
            <a:avLst/>
          </a:prstGeom>
          <a:noFill/>
        </p:spPr>
        <p:txBody>
          <a:bodyPr wrap="square" lIns="0" rIns="0" tIns="0" bIns="0">
            <a:spAutoFit/>
          </a:bodyPr>
          <a:lstStyle/>
          <a:p>
            <a:pPr algn="ctr">
              <a:spcAft>
                <a:spcPts val="400"/>
              </a:spcAft>
            </a:pPr>
            <a:r>
              <a:rPr sz="2700" b="1">
                <a:solidFill>
                  <a:srgbClr val="83E8C5"/>
                </a:solidFill>
                <a:latin typeface="맑은 고딕"/>
                <a:ea typeface="맑은 고딕"/>
              </a:rPr>
              <a:t>공유</a:t>
            </a:r>
          </a:p>
        </p:txBody>
      </p:sp>
      <p:sp>
        <p:nvSpPr>
          <p:cNvPr id="30" name="TextBox 29"/>
          <p:cNvSpPr txBox="1"/>
          <p:nvPr/>
        </p:nvSpPr>
        <p:spPr>
          <a:xfrm>
            <a:off x="9269730" y="4041648"/>
            <a:ext cx="2050542" cy="310896"/>
          </a:xfrm>
          <a:prstGeom prst="rect">
            <a:avLst/>
          </a:prstGeom>
          <a:noFill/>
        </p:spPr>
        <p:txBody>
          <a:bodyPr wrap="square" lIns="0" rIns="0" tIns="0" bIns="0">
            <a:spAutoFit/>
          </a:bodyPr>
          <a:lstStyle/>
          <a:p>
            <a:pPr algn="l">
              <a:spcAft>
                <a:spcPts val="400"/>
              </a:spcAft>
            </a:pPr>
            <a:r>
              <a:rPr sz="1500" b="0">
                <a:solidFill>
                  <a:srgbClr val="B4C6D4"/>
                </a:solidFill>
                <a:latin typeface="맑은 고딕"/>
                <a:ea typeface="맑은 고딕"/>
              </a:rPr>
              <a:t>다시 나누다</a:t>
            </a:r>
          </a:p>
        </p:txBody>
      </p:sp>
      <p:cxnSp>
        <p:nvCxnSpPr>
          <p:cNvPr id="31" name="Connector 30"/>
          <p:cNvCxnSpPr/>
          <p:nvPr/>
        </p:nvCxnSpPr>
        <p:spPr>
          <a:xfrm>
            <a:off x="10241280" y="4617720"/>
            <a:ext cx="0" cy="228600"/>
          </a:xfrm>
          <a:prstGeom prst="line">
            <a:avLst/>
          </a:prstGeom>
          <a:ln w="25400">
            <a:solidFill>
              <a:srgbClr val="C1B3F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874519" y="4846320"/>
            <a:ext cx="8366761" cy="0"/>
          </a:xfrm>
          <a:prstGeom prst="line">
            <a:avLst/>
          </a:prstGeom>
          <a:ln w="25400">
            <a:solidFill>
              <a:srgbClr val="C1B3F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874519" y="4617720"/>
            <a:ext cx="0" cy="228600"/>
          </a:xfrm>
          <a:prstGeom prst="line">
            <a:avLst/>
          </a:prstGeom>
          <a:ln w="25400">
            <a:solidFill>
              <a:srgbClr val="C1B3F4"/>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 y="5266944"/>
            <a:ext cx="10817352" cy="548640"/>
          </a:xfrm>
          <a:prstGeom prst="rect">
            <a:avLst/>
          </a:prstGeom>
          <a:noFill/>
        </p:spPr>
        <p:txBody>
          <a:bodyPr wrap="square" lIns="0" rIns="0" tIns="0" bIns="0">
            <a:spAutoFit/>
          </a:bodyPr>
          <a:lstStyle/>
          <a:p>
            <a:pPr algn="l">
              <a:spcAft>
                <a:spcPts val="400"/>
              </a:spcAft>
            </a:pPr>
            <a:r>
              <a:rPr sz="2400" b="1">
                <a:solidFill>
                  <a:srgbClr val="F6F8F9"/>
                </a:solidFill>
                <a:latin typeface="맑은 고딕"/>
                <a:ea typeface="맑은 고딕"/>
              </a:rPr>
              <a:t>더 큰 AI 인프라 미션을 준비하는 성장의 인프라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P10</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우리의 성장 방식</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5800" b="1">
                <a:solidFill>
                  <a:srgbClr val="F6F8F9"/>
                </a:solidFill>
                <a:latin typeface="맑은 고딕"/>
                <a:ea typeface="맑은 고딕"/>
              </a:rPr>
              <a:t>AI 4 AI</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3191256"/>
            <a:ext cx="10817352" cy="886968"/>
          </a:xfrm>
          <a:prstGeom prst="rect">
            <a:avLst/>
          </a:prstGeom>
          <a:noFill/>
        </p:spPr>
        <p:txBody>
          <a:bodyPr wrap="square" lIns="0" rIns="0" tIns="0" bIns="0">
            <a:spAutoFit/>
          </a:bodyPr>
          <a:lstStyle/>
          <a:p>
            <a:pPr algn="l">
              <a:spcAft>
                <a:spcPts val="400"/>
              </a:spcAft>
            </a:pPr>
            <a:r>
              <a:rPr sz="3500" b="1">
                <a:solidFill>
                  <a:srgbClr val="83E8C5"/>
                </a:solidFill>
                <a:latin typeface="맑은 고딕"/>
                <a:ea typeface="맑은 고딕"/>
              </a:rPr>
              <a:t>연결이 성장의 인프라가 되다</a:t>
            </a:r>
          </a:p>
        </p:txBody>
      </p:sp>
      <p:sp>
        <p:nvSpPr>
          <p:cNvPr id="10" name="TextBox 9"/>
          <p:cNvSpPr txBox="1"/>
          <p:nvPr/>
        </p:nvSpPr>
        <p:spPr>
          <a:xfrm>
            <a:off x="685800" y="4718304"/>
            <a:ext cx="10817352" cy="548640"/>
          </a:xfrm>
          <a:prstGeom prst="rect">
            <a:avLst/>
          </a:prstGeom>
          <a:noFill/>
        </p:spPr>
        <p:txBody>
          <a:bodyPr wrap="square" lIns="0" rIns="0" tIns="0" bIns="0">
            <a:spAutoFit/>
          </a:bodyPr>
          <a:lstStyle/>
          <a:p>
            <a:pPr algn="l">
              <a:spcAft>
                <a:spcPts val="400"/>
              </a:spcAft>
            </a:pPr>
            <a:r>
              <a:rPr sz="2200" b="0">
                <a:solidFill>
                  <a:srgbClr val="F6F8F9"/>
                </a:solidFill>
                <a:latin typeface="맑은 고딕"/>
                <a:ea typeface="맑은 고딕"/>
              </a:rPr>
              <a:t>밖에서 배우고 · 함께 해보고 · 서로 이해하고 · 다시 나눕니다</a:t>
            </a:r>
          </a:p>
        </p:txBody>
      </p:sp>
      <p:sp>
        <p:nvSpPr>
          <p:cNvPr id="11" name="TextBox 10"/>
          <p:cNvSpPr txBox="1"/>
          <p:nvPr/>
        </p:nvSpPr>
        <p:spPr>
          <a:xfrm>
            <a:off x="685800" y="5486400"/>
            <a:ext cx="10817352" cy="320040"/>
          </a:xfrm>
          <a:prstGeom prst="rect">
            <a:avLst/>
          </a:prstGeom>
          <a:noFill/>
        </p:spPr>
        <p:txBody>
          <a:bodyPr wrap="square" lIns="0" rIns="0" tIns="0" bIns="0">
            <a:spAutoFit/>
          </a:bodyPr>
          <a:lstStyle/>
          <a:p>
            <a:pPr algn="l">
              <a:spcAft>
                <a:spcPts val="400"/>
              </a:spcAft>
            </a:pPr>
            <a:r>
              <a:rPr sz="1600" b="0">
                <a:solidFill>
                  <a:srgbClr val="B4C6D4"/>
                </a:solidFill>
                <a:latin typeface="맑은 고딕"/>
                <a:ea typeface="맑은 고딕"/>
              </a:rPr>
              <a:t>류경동 팀장 · 이관우 교육담당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A01</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제작 참고 / 본편 사용 제외</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실제 자료 삽입 안내</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52344"/>
            <a:ext cx="10817352" cy="59436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사용자가 제공할 사진·화면을 별도 PPTX 사본에 넣고 안내 글자를 제거합니다.</a:t>
            </a:r>
          </a:p>
        </p:txBody>
      </p:sp>
      <p:sp>
        <p:nvSpPr>
          <p:cNvPr id="10" name="TextBox 9"/>
          <p:cNvSpPr txBox="1"/>
          <p:nvPr/>
        </p:nvSpPr>
        <p:spPr>
          <a:xfrm>
            <a:off x="685800" y="3593592"/>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세미나</a:t>
            </a:r>
          </a:p>
        </p:txBody>
      </p:sp>
      <p:sp>
        <p:nvSpPr>
          <p:cNvPr id="11" name="TextBox 10"/>
          <p:cNvSpPr txBox="1"/>
          <p:nvPr/>
        </p:nvSpPr>
        <p:spPr>
          <a:xfrm>
            <a:off x="2606040" y="3593592"/>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IMG03 · IMG13</a:t>
            </a:r>
          </a:p>
        </p:txBody>
      </p:sp>
      <p:sp>
        <p:nvSpPr>
          <p:cNvPr id="12" name="TextBox 11"/>
          <p:cNvSpPr txBox="1"/>
          <p:nvPr/>
        </p:nvSpPr>
        <p:spPr>
          <a:xfrm>
            <a:off x="6272784" y="3593592"/>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포스터 · 교육 플랫폼 녹화 화면</a:t>
            </a:r>
          </a:p>
        </p:txBody>
      </p:sp>
      <p:sp>
        <p:nvSpPr>
          <p:cNvPr id="13" name="TextBox 12"/>
          <p:cNvSpPr txBox="1"/>
          <p:nvPr/>
        </p:nvSpPr>
        <p:spPr>
          <a:xfrm>
            <a:off x="685800" y="4114800"/>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Tech X</a:t>
            </a:r>
          </a:p>
        </p:txBody>
      </p:sp>
      <p:sp>
        <p:nvSpPr>
          <p:cNvPr id="14" name="TextBox 13"/>
          <p:cNvSpPr txBox="1"/>
          <p:nvPr/>
        </p:nvSpPr>
        <p:spPr>
          <a:xfrm>
            <a:off x="2606040" y="4114800"/>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IMG07 · IMG16 · IMG17</a:t>
            </a:r>
          </a:p>
        </p:txBody>
      </p:sp>
      <p:sp>
        <p:nvSpPr>
          <p:cNvPr id="15" name="TextBox 14"/>
          <p:cNvSpPr txBox="1"/>
          <p:nvPr/>
        </p:nvSpPr>
        <p:spPr>
          <a:xfrm>
            <a:off x="6272784" y="4114800"/>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모집 공고 · 이관우 참여 사진 1·2</a:t>
            </a:r>
          </a:p>
        </p:txBody>
      </p:sp>
      <p:sp>
        <p:nvSpPr>
          <p:cNvPr id="16" name="TextBox 15"/>
          <p:cNvSpPr txBox="1"/>
          <p:nvPr/>
        </p:nvSpPr>
        <p:spPr>
          <a:xfrm>
            <a:off x="685800" y="4636008"/>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업무 이해</a:t>
            </a:r>
          </a:p>
        </p:txBody>
      </p:sp>
      <p:sp>
        <p:nvSpPr>
          <p:cNvPr id="17" name="TextBox 16"/>
          <p:cNvSpPr txBox="1"/>
          <p:nvPr/>
        </p:nvSpPr>
        <p:spPr>
          <a:xfrm>
            <a:off x="2606040" y="4636008"/>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IMG04 · IMG05 · IMG06</a:t>
            </a:r>
          </a:p>
        </p:txBody>
      </p:sp>
      <p:sp>
        <p:nvSpPr>
          <p:cNvPr id="18" name="TextBox 17"/>
          <p:cNvSpPr txBox="1"/>
          <p:nvPr/>
        </p:nvSpPr>
        <p:spPr>
          <a:xfrm>
            <a:off x="6272784" y="4636008"/>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Job Fair 부스·패널 · DCIS 자료</a:t>
            </a:r>
          </a:p>
        </p:txBody>
      </p:sp>
      <p:sp>
        <p:nvSpPr>
          <p:cNvPr id="19" name="TextBox 18"/>
          <p:cNvSpPr txBox="1"/>
          <p:nvPr/>
        </p:nvSpPr>
        <p:spPr>
          <a:xfrm>
            <a:off x="685800" y="5157216"/>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IAP</a:t>
            </a:r>
          </a:p>
        </p:txBody>
      </p:sp>
      <p:sp>
        <p:nvSpPr>
          <p:cNvPr id="20" name="TextBox 19"/>
          <p:cNvSpPr txBox="1"/>
          <p:nvPr/>
        </p:nvSpPr>
        <p:spPr>
          <a:xfrm>
            <a:off x="2606040" y="5157216"/>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IMG08</a:t>
            </a:r>
          </a:p>
        </p:txBody>
      </p:sp>
      <p:sp>
        <p:nvSpPr>
          <p:cNvPr id="21" name="TextBox 20"/>
          <p:cNvSpPr txBox="1"/>
          <p:nvPr/>
        </p:nvSpPr>
        <p:spPr>
          <a:xfrm>
            <a:off x="6272784" y="5157216"/>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실제 알림 화면은 기능 도식과 같은 장면에서 교체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A02</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제작 참고 / 본편 사용 제외</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사실과 외부 참고</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52344"/>
            <a:ext cx="10817352" cy="59436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사내 규모는 사용자 확인이며 내부 원본을 나중에 대조합니다. 외부 자료는 배경 참고입니다.</a:t>
            </a:r>
          </a:p>
        </p:txBody>
      </p:sp>
      <p:sp>
        <p:nvSpPr>
          <p:cNvPr id="10" name="TextBox 9"/>
          <p:cNvSpPr txBox="1"/>
          <p:nvPr/>
        </p:nvSpPr>
        <p:spPr>
          <a:xfrm>
            <a:off x="685800" y="3593592"/>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팀 역할</a:t>
            </a:r>
          </a:p>
        </p:txBody>
      </p:sp>
      <p:sp>
        <p:nvSpPr>
          <p:cNvPr id="11" name="TextBox 10"/>
          <p:cNvSpPr txBox="1"/>
          <p:nvPr/>
        </p:nvSpPr>
        <p:spPr>
          <a:xfrm>
            <a:off x="2606040" y="3593592"/>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7만 명 이상 · 32개 DC</a:t>
            </a:r>
          </a:p>
        </p:txBody>
      </p:sp>
      <p:sp>
        <p:nvSpPr>
          <p:cNvPr id="12" name="TextBox 11"/>
          <p:cNvSpPr txBox="1"/>
          <p:nvPr/>
        </p:nvSpPr>
        <p:spPr>
          <a:xfrm>
            <a:off x="6272784" y="3593592"/>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100만 코어 이상 · 클라우드 · GPU 기반 인프라</a:t>
            </a:r>
          </a:p>
        </p:txBody>
      </p:sp>
      <p:sp>
        <p:nvSpPr>
          <p:cNvPr id="13" name="TextBox 12"/>
          <p:cNvSpPr txBox="1"/>
          <p:nvPr/>
        </p:nvSpPr>
        <p:spPr>
          <a:xfrm>
            <a:off x="685800" y="4114800"/>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교류 경험</a:t>
            </a:r>
          </a:p>
        </p:txBody>
      </p:sp>
      <p:sp>
        <p:nvSpPr>
          <p:cNvPr id="14" name="TextBox 13"/>
          <p:cNvSpPr txBox="1"/>
          <p:nvPr/>
        </p:nvSpPr>
        <p:spPr>
          <a:xfrm>
            <a:off x="2606040" y="4114800"/>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이관우의 실제 참여</a:t>
            </a:r>
          </a:p>
        </p:txBody>
      </p:sp>
      <p:sp>
        <p:nvSpPr>
          <p:cNvPr id="15" name="TextBox 14"/>
          <p:cNvSpPr txBox="1"/>
          <p:nvPr/>
        </p:nvSpPr>
        <p:spPr>
          <a:xfrm>
            <a:off x="6272784" y="4114800"/>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다른 부서의 관점 학습. GPU 효율 개선 수치는 미제공</a:t>
            </a:r>
          </a:p>
        </p:txBody>
      </p:sp>
      <p:sp>
        <p:nvSpPr>
          <p:cNvPr id="16" name="TextBox 15"/>
          <p:cNvSpPr txBox="1"/>
          <p:nvPr/>
        </p:nvSpPr>
        <p:spPr>
          <a:xfrm>
            <a:off x="685800" y="4636008"/>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대표 사례</a:t>
            </a:r>
          </a:p>
        </p:txBody>
      </p:sp>
      <p:sp>
        <p:nvSpPr>
          <p:cNvPr id="17" name="TextBox 16"/>
          <p:cNvSpPr txBox="1"/>
          <p:nvPr/>
        </p:nvSpPr>
        <p:spPr>
          <a:xfrm>
            <a:off x="2606040" y="4636008"/>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IAP 로그 알림 자동화</a:t>
            </a:r>
          </a:p>
        </p:txBody>
      </p:sp>
      <p:sp>
        <p:nvSpPr>
          <p:cNvPr id="18" name="TextBox 17"/>
          <p:cNvSpPr txBox="1"/>
          <p:nvPr/>
        </p:nvSpPr>
        <p:spPr>
          <a:xfrm>
            <a:off x="6272784" y="4636008"/>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지정 형식 메신저 알림 · 해당 수작업 대체</a:t>
            </a:r>
          </a:p>
        </p:txBody>
      </p:sp>
      <p:sp>
        <p:nvSpPr>
          <p:cNvPr id="19" name="TextBox 18"/>
          <p:cNvSpPr txBox="1"/>
          <p:nvPr/>
        </p:nvSpPr>
        <p:spPr>
          <a:xfrm>
            <a:off x="685800" y="5157216"/>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외부 배경</a:t>
            </a:r>
          </a:p>
        </p:txBody>
      </p:sp>
      <p:sp>
        <p:nvSpPr>
          <p:cNvPr id="20" name="TextBox 19"/>
          <p:cNvSpPr txBox="1"/>
          <p:nvPr/>
        </p:nvSpPr>
        <p:spPr>
          <a:xfrm>
            <a:off x="2606040" y="5157216"/>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Microsoft · Alphabet</a:t>
            </a:r>
          </a:p>
        </p:txBody>
      </p:sp>
      <p:sp>
        <p:nvSpPr>
          <p:cNvPr id="21" name="TextBox 20"/>
          <p:cNvSpPr txBox="1"/>
          <p:nvPr/>
        </p:nvSpPr>
        <p:spPr>
          <a:xfrm>
            <a:off x="6272784" y="5157216"/>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2026년 공식 AI 인프라 투자 자료. URL은 노트·전달 문서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101D2A"/>
        </a:solidFill>
        <a:effectLst/>
      </p:bgPr>
    </p:bg>
    <p:spTree>
      <p:nvGrpSpPr>
        <p:cNvPr id="1" name=""/>
        <p:cNvGrpSpPr/>
        <p:nvPr/>
      </p:nvGrpSpPr>
      <p:grpSpPr/>
      <p:sp>
        <p:nvSpPr>
          <p:cNvPr id="2" name="Rectangle 1"/>
          <p:cNvSpPr/>
          <p:nvPr/>
        </p:nvSpPr>
        <p:spPr>
          <a:xfrm>
            <a:off x="548640" y="484632"/>
            <a:ext cx="73152" cy="274320"/>
          </a:xfrm>
          <a:prstGeom prst="rect">
            <a:avLst/>
          </a:prstGeom>
          <a:solidFill>
            <a:srgbClr val="83E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457200"/>
            <a:ext cx="886968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2026 LEARNING FAIR  /  DATA CENTER</a:t>
            </a:r>
          </a:p>
        </p:txBody>
      </p:sp>
      <p:sp>
        <p:nvSpPr>
          <p:cNvPr id="4" name="TextBox 3"/>
          <p:cNvSpPr txBox="1"/>
          <p:nvPr/>
        </p:nvSpPr>
        <p:spPr>
          <a:xfrm>
            <a:off x="10643616" y="448056"/>
            <a:ext cx="777240" cy="320040"/>
          </a:xfrm>
          <a:prstGeom prst="rect">
            <a:avLst/>
          </a:prstGeom>
          <a:noFill/>
        </p:spPr>
        <p:txBody>
          <a:bodyPr wrap="square" lIns="0" rIns="0" tIns="0" bIns="0">
            <a:spAutoFit/>
          </a:bodyPr>
          <a:lstStyle/>
          <a:p>
            <a:pPr algn="r">
              <a:spcAft>
                <a:spcPts val="400"/>
              </a:spcAft>
            </a:pPr>
            <a:r>
              <a:rPr sz="1300" b="1">
                <a:solidFill>
                  <a:srgbClr val="83E8C5"/>
                </a:solidFill>
                <a:latin typeface="맑은 고딕"/>
                <a:ea typeface="맑은 고딕"/>
              </a:rPr>
              <a:t>A03</a:t>
            </a:r>
          </a:p>
        </p:txBody>
      </p:sp>
      <p:sp>
        <p:nvSpPr>
          <p:cNvPr id="5" name="TextBox 4"/>
          <p:cNvSpPr txBox="1"/>
          <p:nvPr/>
        </p:nvSpPr>
        <p:spPr>
          <a:xfrm>
            <a:off x="685800" y="1033271"/>
            <a:ext cx="10835640" cy="365760"/>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제작 참고 / 본편 사용 제외</a:t>
            </a:r>
          </a:p>
        </p:txBody>
      </p:sp>
      <p:sp>
        <p:nvSpPr>
          <p:cNvPr id="6" name="TextBox 5"/>
          <p:cNvSpPr txBox="1"/>
          <p:nvPr/>
        </p:nvSpPr>
        <p:spPr>
          <a:xfrm>
            <a:off x="685800" y="1527048"/>
            <a:ext cx="10835640" cy="1143000"/>
          </a:xfrm>
          <a:prstGeom prst="rect">
            <a:avLst/>
          </a:prstGeom>
          <a:noFill/>
        </p:spPr>
        <p:txBody>
          <a:bodyPr wrap="square" lIns="0" rIns="0" tIns="0" bIns="0">
            <a:spAutoFit/>
          </a:bodyPr>
          <a:lstStyle/>
          <a:p>
            <a:pPr algn="l">
              <a:spcAft>
                <a:spcPts val="400"/>
              </a:spcAft>
            </a:pPr>
            <a:r>
              <a:rPr sz="3200" b="1">
                <a:solidFill>
                  <a:srgbClr val="F6F8F9"/>
                </a:solidFill>
                <a:latin typeface="맑은 고딕"/>
                <a:ea typeface="맑은 고딕"/>
              </a:rPr>
              <a:t>제출·촬영 일정</a:t>
            </a:r>
          </a:p>
        </p:txBody>
      </p:sp>
      <p:cxnSp>
        <p:nvCxnSpPr>
          <p:cNvPr id="7" name="Connector 6"/>
          <p:cNvCxnSpPr/>
          <p:nvPr/>
        </p:nvCxnSpPr>
        <p:spPr>
          <a:xfrm>
            <a:off x="685800" y="6035040"/>
            <a:ext cx="10817352" cy="0"/>
          </a:xfrm>
          <a:prstGeom prst="line">
            <a:avLst/>
          </a:prstGeom>
          <a:ln w="12700">
            <a:solidFill>
              <a:srgbClr val="3855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272784"/>
            <a:ext cx="10881360" cy="320040"/>
          </a:xfrm>
          <a:prstGeom prst="rect">
            <a:avLst/>
          </a:prstGeom>
          <a:noFill/>
        </p:spPr>
        <p:txBody>
          <a:bodyPr wrap="square" lIns="0" rIns="0" tIns="0" bIns="0">
            <a:spAutoFit/>
          </a:bodyPr>
          <a:lstStyle/>
          <a:p>
            <a:pPr algn="l">
              <a:spcAft>
                <a:spcPts val="400"/>
              </a:spcAft>
            </a:pPr>
            <a:r>
              <a:rPr sz="1200" b="0">
                <a:solidFill>
                  <a:srgbClr val="B4C6D4"/>
                </a:solidFill>
                <a:latin typeface="맑은 고딕"/>
                <a:ea typeface="맑은 고딕"/>
              </a:rPr>
              <a:t>검토용 초안 · 회사 KV/폰트 수급 후 교체</a:t>
            </a:r>
          </a:p>
        </p:txBody>
      </p:sp>
      <p:sp>
        <p:nvSpPr>
          <p:cNvPr id="9" name="TextBox 8"/>
          <p:cNvSpPr txBox="1"/>
          <p:nvPr/>
        </p:nvSpPr>
        <p:spPr>
          <a:xfrm>
            <a:off x="685800" y="2752344"/>
            <a:ext cx="10817352" cy="594360"/>
          </a:xfrm>
          <a:prstGeom prst="rect">
            <a:avLst/>
          </a:prstGeom>
          <a:noFill/>
        </p:spPr>
        <p:txBody>
          <a:bodyPr wrap="square" lIns="0" rIns="0" tIns="0" bIns="0">
            <a:spAutoFit/>
          </a:bodyPr>
          <a:lstStyle/>
          <a:p>
            <a:pPr algn="l">
              <a:spcAft>
                <a:spcPts val="400"/>
              </a:spcAft>
            </a:pPr>
            <a:r>
              <a:rPr sz="1800" b="0">
                <a:solidFill>
                  <a:srgbClr val="B4C6D4"/>
                </a:solidFill>
                <a:latin typeface="맑은 고딕"/>
                <a:ea typeface="맑은 고딕"/>
              </a:rPr>
              <a:t>2026-10-11 기준. 예정 행사의 결과는 확인한 뒤 반영합니다.</a:t>
            </a:r>
          </a:p>
        </p:txBody>
      </p:sp>
      <p:sp>
        <p:nvSpPr>
          <p:cNvPr id="10" name="TextBox 9"/>
          <p:cNvSpPr txBox="1"/>
          <p:nvPr/>
        </p:nvSpPr>
        <p:spPr>
          <a:xfrm>
            <a:off x="685800" y="3593592"/>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10월 12일</a:t>
            </a:r>
          </a:p>
        </p:txBody>
      </p:sp>
      <p:sp>
        <p:nvSpPr>
          <p:cNvPr id="11" name="TextBox 10"/>
          <p:cNvSpPr txBox="1"/>
          <p:nvPr/>
        </p:nvSpPr>
        <p:spPr>
          <a:xfrm>
            <a:off x="2606040" y="3593592"/>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OutSystems 세미나 예정</a:t>
            </a:r>
          </a:p>
        </p:txBody>
      </p:sp>
      <p:sp>
        <p:nvSpPr>
          <p:cNvPr id="12" name="TextBox 11"/>
          <p:cNvSpPr txBox="1"/>
          <p:nvPr/>
        </p:nvSpPr>
        <p:spPr>
          <a:xfrm>
            <a:off x="6272784" y="3593592"/>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개최 확인 후 상태·자료 갱신</a:t>
            </a:r>
          </a:p>
        </p:txBody>
      </p:sp>
      <p:sp>
        <p:nvSpPr>
          <p:cNvPr id="13" name="TextBox 12"/>
          <p:cNvSpPr txBox="1"/>
          <p:nvPr/>
        </p:nvSpPr>
        <p:spPr>
          <a:xfrm>
            <a:off x="685800" y="4114800"/>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10월 14일</a:t>
            </a:r>
          </a:p>
        </p:txBody>
      </p:sp>
      <p:sp>
        <p:nvSpPr>
          <p:cNvPr id="14" name="TextBox 13"/>
          <p:cNvSpPr txBox="1"/>
          <p:nvPr/>
        </p:nvSpPr>
        <p:spPr>
          <a:xfrm>
            <a:off x="2606040" y="4114800"/>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자료 제출</a:t>
            </a:r>
          </a:p>
        </p:txBody>
      </p:sp>
      <p:sp>
        <p:nvSpPr>
          <p:cNvPr id="15" name="TextBox 14"/>
          <p:cNvSpPr txBox="1"/>
          <p:nvPr/>
        </p:nvSpPr>
        <p:spPr>
          <a:xfrm>
            <a:off x="6272784" y="4114800"/>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16일 최종 발표 결과를 미리 넣지 않음</a:t>
            </a:r>
          </a:p>
        </p:txBody>
      </p:sp>
      <p:sp>
        <p:nvSpPr>
          <p:cNvPr id="16" name="TextBox 15"/>
          <p:cNvSpPr txBox="1"/>
          <p:nvPr/>
        </p:nvSpPr>
        <p:spPr>
          <a:xfrm>
            <a:off x="685800" y="4636008"/>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10월 16일</a:t>
            </a:r>
          </a:p>
        </p:txBody>
      </p:sp>
      <p:sp>
        <p:nvSpPr>
          <p:cNvPr id="17" name="TextBox 16"/>
          <p:cNvSpPr txBox="1"/>
          <p:nvPr/>
        </p:nvSpPr>
        <p:spPr>
          <a:xfrm>
            <a:off x="2606040" y="4636008"/>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Tech X 최종 발표 예정</a:t>
            </a:r>
          </a:p>
        </p:txBody>
      </p:sp>
      <p:sp>
        <p:nvSpPr>
          <p:cNvPr id="18" name="TextBox 17"/>
          <p:cNvSpPr txBox="1"/>
          <p:nvPr/>
        </p:nvSpPr>
        <p:spPr>
          <a:xfrm>
            <a:off x="6272784" y="4636008"/>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프로젝트 완료·시상일로 확정된 날짜가 아님</a:t>
            </a:r>
          </a:p>
        </p:txBody>
      </p:sp>
      <p:sp>
        <p:nvSpPr>
          <p:cNvPr id="19" name="TextBox 18"/>
          <p:cNvSpPr txBox="1"/>
          <p:nvPr/>
        </p:nvSpPr>
        <p:spPr>
          <a:xfrm>
            <a:off x="685800" y="5157216"/>
            <a:ext cx="1874519" cy="347472"/>
          </a:xfrm>
          <a:prstGeom prst="rect">
            <a:avLst/>
          </a:prstGeom>
          <a:noFill/>
        </p:spPr>
        <p:txBody>
          <a:bodyPr wrap="square" lIns="0" rIns="0" tIns="0" bIns="0">
            <a:spAutoFit/>
          </a:bodyPr>
          <a:lstStyle/>
          <a:p>
            <a:pPr algn="l">
              <a:spcAft>
                <a:spcPts val="400"/>
              </a:spcAft>
            </a:pPr>
            <a:r>
              <a:rPr sz="1600" b="1">
                <a:solidFill>
                  <a:srgbClr val="83E8C5"/>
                </a:solidFill>
                <a:latin typeface="맑은 고딕"/>
                <a:ea typeface="맑은 고딕"/>
              </a:rPr>
              <a:t>10월 19일</a:t>
            </a:r>
          </a:p>
        </p:txBody>
      </p:sp>
      <p:sp>
        <p:nvSpPr>
          <p:cNvPr id="20" name="TextBox 19"/>
          <p:cNvSpPr txBox="1"/>
          <p:nvPr/>
        </p:nvSpPr>
        <p:spPr>
          <a:xfrm>
            <a:off x="2606040" y="5157216"/>
            <a:ext cx="3584448" cy="393192"/>
          </a:xfrm>
          <a:prstGeom prst="rect">
            <a:avLst/>
          </a:prstGeom>
          <a:noFill/>
        </p:spPr>
        <p:txBody>
          <a:bodyPr wrap="square" lIns="0" rIns="0" tIns="0" bIns="0">
            <a:spAutoFit/>
          </a:bodyPr>
          <a:lstStyle/>
          <a:p>
            <a:pPr algn="l">
              <a:spcAft>
                <a:spcPts val="400"/>
              </a:spcAft>
            </a:pPr>
            <a:r>
              <a:rPr sz="1700" b="1">
                <a:solidFill>
                  <a:srgbClr val="F6F8F9"/>
                </a:solidFill>
                <a:latin typeface="맑은 고딕"/>
                <a:ea typeface="맑은 고딕"/>
              </a:rPr>
              <a:t>영상 촬영</a:t>
            </a:r>
          </a:p>
        </p:txBody>
      </p:sp>
      <p:sp>
        <p:nvSpPr>
          <p:cNvPr id="21" name="TextBox 20"/>
          <p:cNvSpPr txBox="1"/>
          <p:nvPr/>
        </p:nvSpPr>
        <p:spPr>
          <a:xfrm>
            <a:off x="6272784" y="5157216"/>
            <a:ext cx="5230368" cy="402336"/>
          </a:xfrm>
          <a:prstGeom prst="rect">
            <a:avLst/>
          </a:prstGeom>
          <a:noFill/>
        </p:spPr>
        <p:txBody>
          <a:bodyPr wrap="square" lIns="0" rIns="0" tIns="0" bIns="0">
            <a:spAutoFit/>
          </a:bodyPr>
          <a:lstStyle/>
          <a:p>
            <a:pPr algn="l">
              <a:spcAft>
                <a:spcPts val="400"/>
              </a:spcAft>
            </a:pPr>
            <a:r>
              <a:rPr sz="1400" b="0">
                <a:solidFill>
                  <a:srgbClr val="B4C6D4"/>
                </a:solidFill>
                <a:latin typeface="맑은 고딕"/>
                <a:ea typeface="맑은 고딕"/>
              </a:rPr>
              <a:t>같은 버전의 대본·PPT·자료 큐 사용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4 AI — 연결이 성장의 인프라가 되다</dc:title>
  <dc:subject/>
  <dc:creator>Data Center팀 교육담당 이관우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