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P01 / S01 / 최종 00:20–00:57</a:t>
            </a:r>
          </a:p>
          <a:p>
            <a:r>
              <a:t>원본 버전: editorial-v0.5 / 2026-10-11</a:t>
            </a:r>
          </a:p>
          <a:p>
            <a:r>
              <a:t>자료 큐는 발화 기준. 타임코드는 최종 편집 목표이며 실측 발화 시점이 아니다.</a:t>
            </a:r>
          </a:p>
          <a:p>
            <a:r>
              <a:t>자료 등장: 외부 전문가에게 기술을 배우고</a:t>
            </a:r>
          </a:p>
          <a:p>
            <a:r>
              <a:t>P01을 짧은 디졸브로 표시한다. 제목은 한 번에 보여주며 단어별로 등장시키지 않는다.</a:t>
            </a:r>
          </a:p>
          <a:p>
            <a:r>
              <a:t>촬영: 팀장 미디엄샷으로 팀 역할 소개. 첫 개인 화면에 이름·직함 자막. 교육담당 대사에서 2인 화면과 P01을 번갈아 사용.</a:t>
            </a:r>
          </a:p>
          <a:p>
            <a:r>
              <a:t>원본: 편집 가능한 키워드·도식</a:t>
            </a:r>
          </a:p>
          <a:p>
            <a:r>
              <a:t>스크립트:</a:t>
            </a:r>
          </a:p>
          <a:p>
            <a:r>
              <a:t>류경동 팀장: 안녕하세요. Data Center팀은 DS부문의 모든 인프라를 책임지고 있습니다. AI를 위한 인프라를 제공하고, AI로 운영 업무도 효율화하고 있습니다.</a:t>
            </a:r>
          </a:p>
          <a:p>
            <a:r>
              <a:t>이관우 교육담당: 그래서 [P01 등장] 외부 전문가에게 기술을 배우고, 다른 부서 동료들과 경험을 나눕니다. 관심 있는 과제를 함께 해보고, 배운 내용을 다시 공유하죠. 이런 교류를 통해 함께 성장하는 게 저희 교육문화입니다.</a:t>
            </a:r>
          </a:p>
          <a:p>
            <a:r>
              <a:t>팀의 역할은 팀장 화면으로 소개한다. 교육담당의 설명에서 P01을 보여주고 다시 인물 화면으로 돌아온다. 제목 화면을 도입 내내 고정하지 않는다.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 v04는 AI 4 AI의 기술·업무 방향과 교류·성장의 학습 방식을 연결한다. 공식 확장명과 실제 세미나 명칭을 유지하며 다른 프로그램을 AI 4 AI 소속 행사나 AI 전문 교육으로 재분류하지 않는다. 팀 전체의 정량적 역량 향상이나 특정 세미나와 프로젝트의 직접 인과를 주장하지 않는다. v05는 같은 사실과 흐름을 유지하면서 화면은 짧은 제목·핵심어, 대사는 자연스러운 구어로 전면 교정한 버전이다.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P02 / S02 / 최종 00:57–01:30</a:t>
            </a:r>
          </a:p>
          <a:p>
            <a:r>
              <a:t>원본 버전: editorial-v0.5 / 2026-10-11</a:t>
            </a:r>
          </a:p>
          <a:p>
            <a:r>
              <a:t>자료 큐는 발화 기준. 타임코드는 최종 편집 목표이며 실측 발화 시점이 아니다.</a:t>
            </a:r>
          </a:p>
          <a:p>
            <a:r>
              <a:t>자료 등장: AI 4 AI는 매달</a:t>
            </a:r>
          </a:p>
          <a:p>
            <a:r>
              <a:t>P02 표시. 실제 자료를 넣은 뒤 점선과 삽입 안내를 삭제한다. 사진·화면에서 설명하는 부분만 확대한다.</a:t>
            </a:r>
          </a:p>
          <a:p>
            <a:r>
              <a:t>촬영: 발화자 미디엄샷. 자료 큐에서 장표 전체 또는 인물·자료 분할 화면. 상대는 같은 자료를 보고 다음 말을 받는다.</a:t>
            </a:r>
          </a:p>
          <a:p>
            <a:r>
              <a:t>원본: IMG02, IMG03</a:t>
            </a:r>
          </a:p>
          <a:p>
            <a:r>
              <a:t>스크립트:</a:t>
            </a:r>
          </a:p>
          <a:p>
            <a:r>
              <a:t>이관우 교육담당: [P02 등장] AI 4 AI는 매달 외부 전문가를 초청하는 기술 세미나입니다. 이름은 AI를 위한 첨단 인프라라는 뜻입니다.</a:t>
            </a:r>
          </a:p>
          <a:p>
            <a:r>
              <a:t>류경동 팀장: Cisco의 AIOps, KISTI의 국가슈퍼컴퓨터 6호기처럼 주제도 다양합니다. AI 인프라와 운영 기술을 센터원들과 함께 배우고 있습니다.</a:t>
            </a:r>
          </a:p>
          <a:p>
            <a:r>
              <a:t>AI 4 AI의 공식 의미를 설명한 뒤 AIOps·국가슈퍼컴퓨터 두 주제와 실제 포스터를 보여준다. 월별 행사 목록을 읽지 않는다.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 v04는 AI 4 AI의 기술·업무 방향과 교류·성장의 학습 방식을 연결한다. 공식 확장명과 실제 세미나 명칭을 유지하며 다른 프로그램을 AI 4 AI 소속 행사나 AI 전문 교육으로 재분류하지 않는다. 팀 전체의 정량적 역량 향상이나 특정 세미나와 프로젝트의 직접 인과를 주장하지 않는다. v05는 같은 사실과 흐름을 유지하면서 화면은 짧은 제목·핵심어, 대사는 자연스러운 구어로 전면 교정한 버전이다.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**IMG03 — AI 4 AI</a:t>
            </a:r>
          </a:p>
          <a:p>
            <a:r>
              <a:t>세미나 포스터**: Cisco AIOps 또는 KISTI 슈퍼컴퓨터 세미나의 실제 포스터. 행사 사진 IMG02로 교체 가능. 10월 자료는 개최 확인 뒤 사용.</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P03 / S03 / 최종 01:30–01:57</a:t>
            </a:r>
          </a:p>
          <a:p>
            <a:r>
              <a:t>원본 버전: editorial-v0.5 / 2026-10-11</a:t>
            </a:r>
          </a:p>
          <a:p>
            <a:r>
              <a:t>자료 큐는 발화 기준. 타임코드는 최종 편집 목표이며 실측 발화 시점이 아니다.</a:t>
            </a:r>
          </a:p>
          <a:p>
            <a:r>
              <a:t>자료 등장: 11개 부서가</a:t>
            </a:r>
          </a:p>
          <a:p>
            <a:r>
              <a:t>P03 표시. 실제 자료를 넣은 뒤 점선과 삽입 안내를 삭제한다. 사진·화면에서 설명하는 부분만 확대한다.</a:t>
            </a:r>
          </a:p>
          <a:p>
            <a:r>
              <a:t>촬영: 발화자 미디엄샷. 자료 큐에서 장표 전체 또는 인물·자료 분할 화면. 상대는 같은 자료를 보고 다음 말을 받는다.</a:t>
            </a:r>
          </a:p>
          <a:p>
            <a:r>
              <a:t>원본: IMG04, IMG05</a:t>
            </a:r>
          </a:p>
          <a:p>
            <a:r>
              <a:t>스크립트:</a:t>
            </a:r>
          </a:p>
          <a:p>
            <a:r>
              <a:t>이관우 교육담당: 동료의 일을 직접 들어보는 자리도 열었습니다. 8월 Job Fair에서는 [P03 등장] 11개 부서가 부스를 열고, A0 패널로 각자의 업무를 소개했습니다.</a:t>
            </a:r>
          </a:p>
          <a:p>
            <a:r>
              <a:t>류경동 팀장: 서로 어떤 일을 하는지 알아가는 게, 한 팀으로 일하는 데도 도움이 된다고 생각합니다.</a:t>
            </a:r>
          </a:p>
          <a:p>
            <a:r>
              <a:t>업무를 소개하고 질문을 주고받는 장면에 집중한다. 실제 부스 사진과 패널에서 발표 대사에 해당하는 부분만 보여준다.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 v04는 AI 4 AI의 기술·업무 방향과 교류·성장의 학습 방식을 연결한다. 공식 확장명과 실제 세미나 명칭을 유지하며 다른 프로그램을 AI 4 AI 소속 행사나 AI 전문 교육으로 재분류하지 않는다. 팀 전체의 정량적 역량 향상이나 특정 세미나와 프로젝트의 직접 인과를 주장하지 않는다. v05는 같은 사실과 흐름을 유지하면서 화면은 짧은 제목·핵심어, 대사는 자연스러운 구어로 전면 교정한 버전이다.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**IMG04 — Job Fair</a:t>
            </a:r>
          </a:p>
          <a:p>
            <a:r>
              <a:t>부스 전경**: 11개 부서가 서로 설명을 듣는 실제 행사 사진 1장. 일반 전시 사진은 사용하지 않음.</a:t>
            </a:r>
          </a:p>
          <a:p>
            <a:r>
              <a:t>- **IMG05 — 업무 소개</a:t>
            </a:r>
          </a:p>
          <a:p>
            <a:r>
              <a:t>A0 패널**: 실제 패널 1종. 부서명·업무 제목이 읽히도록 필요한 부분을 확대.</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P04 / S04 / 최종 01:57–02:11</a:t>
            </a:r>
          </a:p>
          <a:p>
            <a:r>
              <a:t>원본 버전: editorial-v0.5 / 2026-10-11</a:t>
            </a:r>
          </a:p>
          <a:p>
            <a:r>
              <a:t>자료 큐는 발화 기준. 타임코드는 최종 편집 목표이며 실측 발화 시점이 아니다.</a:t>
            </a:r>
          </a:p>
          <a:p>
            <a:r>
              <a:t>자료 등장: 매달 DCIS에서는</a:t>
            </a:r>
          </a:p>
          <a:p>
            <a:r>
              <a:t>P04 표시. 실제 자료를 넣은 뒤 점선과 삽입 안내를 삭제한다. 사진·화면에서 설명하는 부분만 확대한다.</a:t>
            </a:r>
          </a:p>
          <a:p>
            <a:r>
              <a:t>촬영: 발화자 미디엄샷. 자료 큐에서 장표 전체 또는 인물·자료 분할 화면. 상대는 같은 자료를 보고 다음 말을 받는다.</a:t>
            </a:r>
          </a:p>
          <a:p>
            <a:r>
              <a:t>원본: IMG06</a:t>
            </a:r>
          </a:p>
          <a:p>
            <a:r>
              <a:t>스크립트:</a:t>
            </a:r>
          </a:p>
          <a:p>
            <a:r>
              <a:t>류경동 팀장: [P04 등장] 매달 DCIS에서는 각 부서의 주요 과제와 서비스, 연구 중인 기술을 소개합니다. 평소에도 동료의 일을 알아가는 거죠.</a:t>
            </a:r>
          </a:p>
          <a:p>
            <a:r>
              <a:t>앞 장면과 같은 톤으로 짧게 이어간다. 별도의 코너 오프닝 없이 실제 발표 표지나 공지를 보여준다.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 v04는 AI 4 AI의 기술·업무 방향과 교류·성장의 학습 방식을 연결한다. 공식 확장명과 실제 세미나 명칭을 유지하며 다른 프로그램을 AI 4 AI 소속 행사나 AI 전문 교육으로 재분류하지 않는다. 팀 전체의 정량적 역량 향상이나 특정 세미나와 프로젝트의 직접 인과를 주장하지 않는다. v05는 같은 사실과 흐름을 유지하면서 화면은 짧은 제목·핵심어, 대사는 자연스러운 구어로 전면 교정한 버전이다.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**IMG06 — DCIS 대표 세션</a:t>
            </a:r>
          </a:p>
          <a:p>
            <a:r>
              <a:t>표지 또는 공지**: 주요 과제·서비스·연구 중 하나가 드러나는 실제 발표 표지나 공지 1장.</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P05 / S05 / 최종 02:11–02:42</a:t>
            </a:r>
          </a:p>
          <a:p>
            <a:r>
              <a:t>원본 버전: editorial-v0.5 / 2026-10-11</a:t>
            </a:r>
          </a:p>
          <a:p>
            <a:r>
              <a:t>자료 큐는 발화 기준. 타임코드는 최종 편집 목표이며 실측 발화 시점이 아니다.</a:t>
            </a:r>
          </a:p>
          <a:p>
            <a:r>
              <a:t>자료 등장: Tech X에서는</a:t>
            </a:r>
          </a:p>
          <a:p>
            <a:r>
              <a:t>P05 표시. 실제 자료를 넣은 뒤 점선과 삽입 안내를 삭제한다. 사진·화면에서 설명하는 부분만 확대한다.</a:t>
            </a:r>
          </a:p>
          <a:p>
            <a:r>
              <a:t>촬영: 발화자 미디엄샷. 자료 큐에서 장표 전체 또는 인물·자료 분할 화면. 상대는 같은 자료를 보고 다음 말을 받는다.</a:t>
            </a:r>
          </a:p>
          <a:p>
            <a:r>
              <a:t>원본: IMG07</a:t>
            </a:r>
          </a:p>
          <a:p>
            <a:r>
              <a:t>스크립트:</a:t>
            </a:r>
          </a:p>
          <a:p>
            <a:r>
              <a:t>이관우 교육담당: [P05 등장] Tech X에서는 다른 부서의 과제에 직접 참여합니다. 3월에 각 파트가 과제를 내고 참가자를 모집했죠. 지원자 중 필요한 인원을 선발해 4월에 시작했고, 6개 과제에 44명이 참여했습니다.</a:t>
            </a:r>
          </a:p>
          <a:p>
            <a:r>
              <a:t>류경동 팀장: 이관우 님도 GPU 과제에 참여하셨죠.</a:t>
            </a:r>
          </a:p>
          <a:p>
            <a:r>
              <a:t>3월 모집·4월 착수와 참여 방식을 설명한다. 숫자는 화면으로 확인할 수 있게 두고 과장된 강조 효과는 쓰지 않는다.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 v04는 AI 4 AI의 기술·업무 방향과 교류·성장의 학습 방식을 연결한다. 공식 확장명과 실제 세미나 명칭을 유지하며 다른 프로그램을 AI 4 AI 소속 행사나 AI 전문 교육으로 재분류하지 않는다. 팀 전체의 정량적 역량 향상이나 특정 세미나와 프로젝트의 직접 인과를 주장하지 않는다. v05는 같은 사실과 흐름을 유지하면서 화면은 짧은 제목·핵심어, 대사는 자연스러운 구어로 전면 교정한 버전이다.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**IMG07 — Tech X</a:t>
            </a:r>
          </a:p>
          <a:p>
            <a:r>
              <a:t>3월 모집 공고**: 파트별 과제 주제와 지원 안내를 확인할 수 있는 실제 모집 공고. 참여 집계는 촬영 시점에 확인.</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P06 / S06 / 최종 02:42–03:17</a:t>
            </a:r>
          </a:p>
          <a:p>
            <a:r>
              <a:t>원본 버전: editorial-v0.5 / 2026-10-11</a:t>
            </a:r>
          </a:p>
          <a:p>
            <a:r>
              <a:t>자료 큐는 발화 기준. 타임코드는 최종 편집 목표이며 실측 발화 시점이 아니다.</a:t>
            </a:r>
          </a:p>
          <a:p>
            <a:r>
              <a:t>자료 등장: 저는 k8s에서 GPU 자원을</a:t>
            </a:r>
          </a:p>
          <a:p>
            <a:r>
              <a:t>P06 표시. 실제 자료를 넣은 뒤 점선과 삽입 안내를 삭제한다. 사진·화면에서 설명하는 부분만 확대한다.</a:t>
            </a:r>
          </a:p>
          <a:p>
            <a:r>
              <a:t>촬영: 발화자 미디엄샷. 자료 큐에서 장표 전체 또는 인물·자료 분할 화면. 상대는 같은 자료를 보고 다음 말을 받는다.</a:t>
            </a:r>
          </a:p>
          <a:p>
            <a:r>
              <a:t>원본: IMG15</a:t>
            </a:r>
          </a:p>
          <a:p>
            <a:r>
              <a:t>스크립트:</a:t>
            </a:r>
          </a:p>
          <a:p>
            <a:r>
              <a:t>이관우 교육담당: 네. [P06 등장] 저는 k8s에서 GPU 자원을 효율적으로 쓰는 과제에 참여했습니다. 관심이 있어서 지원했는데, 다른 부서 동료들과 이야기하면서 문제에 접근하는 여러 방식을 알게 됐습니다. 제 시야도 넓어졌고요.</a:t>
            </a:r>
          </a:p>
          <a:p>
            <a:r>
              <a:t>류경동 팀장: 다른 과제 중에는 개발한 것을 실제 운영에 쓰는 사례도 있습니다.</a:t>
            </a:r>
          </a:p>
          <a:p>
            <a:r>
              <a:t>본인의 경험을 말할 때는 이관우 화면을 충분히 유지한다. GPU 과제 자료는 제목이 읽힐 정도로 보여준다. 마지막 대사 뒤 S07의 IAP로 전환한다.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 v04는 AI 4 AI의 기술·업무 방향과 교류·성장의 학습 방식을 연결한다. 공식 확장명과 실제 세미나 명칭을 유지하며 다른 프로그램을 AI 4 AI 소속 행사나 AI 전문 교육으로 재분류하지 않는다. 팀 전체의 정량적 역량 향상이나 특정 세미나와 프로젝트의 직접 인과를 주장하지 않는다. v05는 같은 사실과 흐름을 유지하면서 화면은 짧은 제목·핵심어, 대사는 자연스러운 구어로 전면 교정한 버전이다.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**IMG15 — k8s GPU 과제</a:t>
            </a:r>
          </a:p>
          <a:p>
            <a:r>
              <a:t>표지 또는 논의 자료**: 이관우가 참여한 실제 과제의 제목·논의 내용이 드러나는 자료 1장. 성과 그래프나 가상 회의 사진을 만들지 않음.</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P07 / S07 / 최종 03:17–03:52</a:t>
            </a:r>
          </a:p>
          <a:p>
            <a:r>
              <a:t>원본 버전: editorial-v0.5 / 2026-10-11</a:t>
            </a:r>
          </a:p>
          <a:p>
            <a:r>
              <a:t>자료 큐는 발화 기준. 타임코드는 최종 편집 목표이며 실측 발화 시점이 아니다.</a:t>
            </a:r>
          </a:p>
          <a:p>
            <a:r>
              <a:t>자료 등장: AI 에이전트 플랫폼, IAP입니다</a:t>
            </a:r>
          </a:p>
          <a:p>
            <a:r>
              <a:t>P07 표시. 실제 자료를 넣은 뒤 점선과 삽입 안내를 삭제한다. 사진·화면에서 설명하는 부분만 확대한다.</a:t>
            </a:r>
          </a:p>
          <a:p>
            <a:r>
              <a:t>촬영: 발화자 미디엄샷. 자료 큐에서 장표 전체 또는 인물·자료 분할 화면. 상대는 같은 자료를 보고 다음 말을 받는다.</a:t>
            </a:r>
          </a:p>
          <a:p>
            <a:r>
              <a:t>원본: IMG08, IMG09, IMG10</a:t>
            </a:r>
          </a:p>
          <a:p>
            <a:r>
              <a:t>스크립트:</a:t>
            </a:r>
          </a:p>
          <a:p>
            <a:r>
              <a:t>류경동 팀장: [P07 등장] AI 에이전트 플랫폼, IAP입니다. 서버 로그에서 특정 패턴을 감지하면, 정해진 형식으로 메신저에 알림을 자동으로 보냅니다. 사람이 하던 알림 업무를 대신하는 겁니다.</a:t>
            </a:r>
          </a:p>
          <a:p>
            <a:r>
              <a:t>이관우 교육담당: 팀에서 활용할 수 있도록 [P07 소개·실습 자료] 6월에는 소개 세미나를 열었습니다. 7월에는 에이전트를 등록할 실무 담당자 25명을 대상으로 실습도 진행했고요.</a:t>
            </a:r>
          </a:p>
          <a:p>
            <a:r>
              <a:t>추가 큐: 6월에는 소개 세미나를 / P07 소개·실습 자료 / 기능 설명 뒤 IMG10의 실습 자료를 보여준다. 6월 소개 자료 IMG09는 같은 장면 안에서 교체할 수 있다.</a:t>
            </a:r>
          </a:p>
          <a:p>
            <a:r>
              <a:t>로그 알림 기능을 먼저 설명하고 소개·실습으로 이어간다. 다른 Tech X 과제인 IAP를 GPU 과제와 섞지 않는다.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 v04는 AI 4 AI의 기술·업무 방향과 교류·성장의 학습 방식을 연결한다. 공식 확장명과 실제 세미나 명칭을 유지하며 다른 프로그램을 AI 4 AI 소속 행사나 AI 전문 교육으로 재분류하지 않는다. 팀 전체의 정량적 역량 향상이나 특정 세미나와 프로젝트의 직접 인과를 주장하지 않는다. v05는 같은 사실과 흐름을 유지하면서 화면은 짧은 제목·핵심어, 대사는 자연스러운 구어로 전면 교정한 버전이다.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**IMG08 — 실제 IAP</a:t>
            </a:r>
          </a:p>
          <a:p>
            <a:r>
              <a:t>알림 화면**: 민감정보를 가린 실제 로그 패턴 감지·메신저 동보 화면. 가상 로그를 실적으로 제시하지 않음.</a:t>
            </a:r>
          </a:p>
          <a:p>
            <a:r>
              <a:t>- **IMG10 — 7월 실습</a:t>
            </a:r>
          </a:p>
          <a:p>
            <a:r>
              <a:t>사진 또는 교안**: 7월 실무 담당자 대상 실습의 실제 사진이나 교안. 6월 소개 자료 IMG09는 같은 장면 내 교체 가능.</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P08 / S08 / 최종 03:52–04:12</a:t>
            </a:r>
          </a:p>
          <a:p>
            <a:r>
              <a:t>원본 버전: editorial-v0.5 / 2026-10-11</a:t>
            </a:r>
          </a:p>
          <a:p>
            <a:r>
              <a:t>자료 큐는 발화 기준. 타임코드는 최종 편집 목표이며 실측 발화 시점이 아니다.</a:t>
            </a:r>
          </a:p>
          <a:p>
            <a:r>
              <a:t>자료 등장: 녹화해서 교육 플랫폼에</a:t>
            </a:r>
          </a:p>
          <a:p>
            <a:r>
              <a:t>P08 표시. 실제 자료를 넣은 뒤 점선과 삽입 안내를 삭제한다. 사진·화면에서 설명하는 부분만 확대한다.</a:t>
            </a:r>
          </a:p>
          <a:p>
            <a:r>
              <a:t>촬영: 발화자 미디엄샷. 자료 큐에서 장표 전체 또는 인물·자료 분할 화면. 상대는 같은 자료를 보고 다음 말을 받는다.</a:t>
            </a:r>
          </a:p>
          <a:p>
            <a:r>
              <a:t>원본: IMG13</a:t>
            </a:r>
          </a:p>
          <a:p>
            <a:r>
              <a:t>스크립트:</a:t>
            </a:r>
          </a:p>
          <a:p>
            <a:r>
              <a:t>류경동 팀장: AI 4 AI 세미나는 [P08 등장] 녹화해서 교육 플랫폼에 올립니다. [P08 녹화 영상 화면] 그날 못 들은 센터원도, 나중에 다시 듣고 싶은 센터원도 찾아볼 수 있도록요.</a:t>
            </a:r>
          </a:p>
          <a:p>
            <a:r>
              <a:t>추가 큐: 그날 못 들은 센터원도 / P08 녹화 영상 화면 / IMG13에서 녹화 목록이나 재생 화면을 보여준다. 시청 수 등 미제공 지표는 추가하지 않는다.</a:t>
            </a:r>
          </a:p>
          <a:p>
            <a:r>
              <a:t>교육 플랫폼의 실제 녹화 목록을 보여준다. 다시 볼 수 있다는 설명을 두 번 반복하지 않는다.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 v04는 AI 4 AI의 기술·업무 방향과 교류·성장의 학습 방식을 연결한다. 공식 확장명과 실제 세미나 명칭을 유지하며 다른 프로그램을 AI 4 AI 소속 행사나 AI 전문 교육으로 재분류하지 않는다. 팀 전체의 정량적 역량 향상이나 특정 세미나와 프로젝트의 직접 인과를 주장하지 않는다. v05는 같은 사실과 흐름을 유지하면서 화면은 짧은 제목·핵심어, 대사는 자연스러운 구어로 전면 교정한 버전이다.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**IMG13 — 교육 플랫폼</a:t>
            </a:r>
          </a:p>
          <a:p>
            <a:r>
              <a:t>녹화 영상 화면**: 실제 AI 4 AI 녹화 항목이 보이는 화면. 계정 등 가림 처리. 시청 수·만족도는 추가하지 않음.</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P09 / S09 / 최종 04:12–04:38</a:t>
            </a:r>
          </a:p>
          <a:p>
            <a:r>
              <a:t>원본 버전: editorial-v0.5 / 2026-10-11</a:t>
            </a:r>
          </a:p>
          <a:p>
            <a:r>
              <a:t>자료 큐는 발화 기준. 타임코드는 최종 편집 목표이며 실측 발화 시점이 아니다.</a:t>
            </a:r>
          </a:p>
          <a:p>
            <a:r>
              <a:t>자료 등장: Tech X 참가자들은</a:t>
            </a:r>
          </a:p>
          <a:p>
            <a:r>
              <a:t>P09을 짧은 디졸브로 표시한다. 제목은 한 번에 보여주며 단어별로 등장시키지 않는다.</a:t>
            </a:r>
          </a:p>
          <a:p>
            <a:r>
              <a:t>촬영: 발화자 미디엄샷. 자료 큐에서 장표 전체 또는 인물·자료 분할 화면. 상대는 같은 자료를 보고 다음 말을 받는다.</a:t>
            </a:r>
          </a:p>
          <a:p>
            <a:r>
              <a:t>원본: 편집 가능한 키워드·도식</a:t>
            </a:r>
          </a:p>
          <a:p>
            <a:r>
              <a:t>스크립트:</a:t>
            </a:r>
          </a:p>
          <a:p>
            <a:r>
              <a:t>이관우 교육담당: [P09 등장] Tech X 참가자들은 각자 시간 일부를 내서 과제를 진행합니다. 우수 프로젝트는 시상하고 성과에 반영합니다.</a:t>
            </a:r>
          </a:p>
          <a:p>
            <a:r>
              <a:t>류경동 팀장: 다른 조직에서도 관심 있는 과제를 함께 해볼 기회를 만들고, 그 노력을 인정하는 방법까지 마련해 보면 좋겠습니다.</a:t>
            </a:r>
          </a:p>
          <a:p>
            <a:r>
              <a:t>시간 할애와 우수 프로젝트 시상을 운영 방식으로 설명한다. 실제 수상팀이나 시상 완료를 암시하는 화면은 넣지 않는다.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 v04는 AI 4 AI의 기술·업무 방향과 교류·성장의 학습 방식을 연결한다. 공식 확장명과 실제 세미나 명칭을 유지하며 다른 프로그램을 AI 4 AI 소속 행사나 AI 전문 교육으로 재분류하지 않는다. 팀 전체의 정량적 역량 향상이나 특정 세미나와 프로젝트의 직접 인과를 주장하지 않는다. v05는 같은 사실과 흐름을 유지하면서 화면은 짧은 제목·핵심어, 대사는 자연스러운 구어로 전면 교정한 버전이다.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P10 / S10 / 최종 04:38–04:55</a:t>
            </a:r>
          </a:p>
          <a:p>
            <a:r>
              <a:t>원본 버전: editorial-v0.5 / 2026-10-11</a:t>
            </a:r>
          </a:p>
          <a:p>
            <a:r>
              <a:t>자료 큐는 발화 기준. 타임코드는 최종 편집 목표이며 실측 발화 시점이 아니다.</a:t>
            </a:r>
          </a:p>
          <a:p>
            <a:r>
              <a:t>자료 등장: 함께 쌓는 전문성</a:t>
            </a:r>
          </a:p>
          <a:p>
            <a:r>
              <a:t>P10을 짧은 디졸브로 표시한다. 제목은 한 번에 보여주며 단어별로 등장시키지 않는다.</a:t>
            </a:r>
          </a:p>
          <a:p>
            <a:r>
              <a:t>촬영: 발화자 미디엄샷. 자료 큐에서 장표 전체 또는 인물·자료 분할 화면. 상대는 같은 자료를 보고 다음 말을 받는다.</a:t>
            </a:r>
          </a:p>
          <a:p>
            <a:r>
              <a:t>원본: 편집 가능한 키워드·도식</a:t>
            </a:r>
          </a:p>
          <a:p>
            <a:r>
              <a:t>스크립트:</a:t>
            </a:r>
          </a:p>
          <a:p>
            <a:r>
              <a:t>이관우 교육담당: 새로운 기술과 동료의 경험을 나누며, AI 인프라를 다루는 전문성도 함께 키워가겠습니다.</a:t>
            </a:r>
          </a:p>
          <a:p>
            <a:r>
              <a:t>류경동 팀장: [P10 등장] 함께 쌓는 전문성. AI 4 AI, Data Center팀입니다.</a:t>
            </a:r>
          </a:p>
          <a:p>
            <a:r>
              <a:t>마지막 문장은 두 사람이 자연스럽게 이어받는다. P10 제목을 짧게 보여준 뒤 회사 클로징으로 전환한다.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 v04는 AI 4 AI의 기술·업무 방향과 교류·성장의 학습 방식을 연결한다. 공식 확장명과 실제 세미나 명칭을 유지하며 다른 프로그램을 AI 4 AI 소속 행사나 AI 전문 교육으로 재분류하지 않는다. 팀 전체의 정량적 역량 향상이나 특정 세미나와 프로젝트의 직접 인과를 주장하지 않는다. v05는 같은 사실과 흐름을 유지하면서 화면은 짧은 제목·핵심어, 대사는 자연스러운 구어로 전면 교정한 버전이다.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 / 숨김 제작 부록 / 2026-10-11</a:t>
            </a:r>
          </a:p>
          <a:p>
            <a:r>
              <a:t>자료 삽입 안내</a:t>
            </a:r>
          </a:p>
          <a:p>
            <a:r>
              <a:t>점선 영역에 실제 자료를 넣고, 자료명·IMG ID·점선을 삭제합니다.</a:t>
            </a:r>
          </a:p>
          <a:p/>
          <a:p>
            <a:r>
              <a:t>P02–P04 / 세미나·업무 소개 / IMG03: AI 4 AI / IMG04·05: Job Fair / IMG06: DCIS</a:t>
            </a:r>
          </a:p>
          <a:p>
            <a:r>
              <a:t>P05–P07 / 모집·참여·실습 / IMG07: 모집 / IMG15: GPU 과제 / IMG08·10: IAP</a:t>
            </a:r>
          </a:p>
          <a:p>
            <a:r>
              <a:t>P08 / 녹화 영상 / IMG13: 교육 플랫폼의 녹화 목록 또는 재생 화면</a:t>
            </a:r>
          </a:p>
          <a:p>
            <a:r>
              <a:t>본편 사용 제외. 검토 PDF·PNG에는 이 숨김 부록도 포함된다.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A02 / 숨김 제작 부록 / 2026-10-11</a:t>
            </a:r>
          </a:p>
          <a:p>
            <a:r>
              <a:t>발표 내용과 확인 범위</a:t>
            </a:r>
          </a:p>
          <a:p>
            <a:r>
              <a:t>본인 경험과 실제 운영 사례를 구분합니다. 제공되지 않은 성과 수치는 넣지 않습니다.</a:t>
            </a:r>
          </a:p>
          <a:p>
            <a:r>
              <a:t>AI 4 AI의 공식 확장명은 Advanced Infrastructure for Artificial Intelligence이다. 영상의 주제와 실제 월례 세미나를 구분한다. 서사는 사용자 사실을 묶은 교육 관점이지 모든 활동의 공식 목표나 프로그램 소속을 새로 정한 것이 아니다.</a:t>
            </a:r>
          </a:p>
          <a:p>
            <a:r>
              <a:t>참여 경험 / GPU 과제 · 다른 관점 / 이관우의 실제 참여 경험. GPU 효율 개선 수치는 미제공.</a:t>
            </a:r>
          </a:p>
          <a:p>
            <a:r>
              <a:t>운영 사례 / IAP · 로그 알림 자동화 / 별도 Tech X 과제. 확인된 로그 알림 기능만 설명.</a:t>
            </a:r>
          </a:p>
          <a:p>
            <a:r>
              <a:t>공유 방식 / 소개·실습 · 세미나 녹화 / IAP 소개·실습과 AI 4 AI 녹화 공유를 각각 설명.</a:t>
            </a:r>
          </a:p>
          <a:p>
            <a:r>
              <a:t>본편 사용 제외. 검토 PDF·PNG에는 이 숨김 부록도 포함된다.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A03 / 숨김 제작 부록 / 2026-10-11</a:t>
            </a:r>
          </a:p>
          <a:p>
            <a:r>
              <a:t>제출·촬영 일정</a:t>
            </a:r>
          </a:p>
          <a:p>
            <a:r>
              <a:t>10월 11일 기준 일정입니다. 행사 결과는 실제 진행을 확인한 뒤 반영합니다.</a:t>
            </a:r>
          </a:p>
          <a:p/>
          <a:p>
            <a:r>
              <a:t>10월 12일 / OutSystems 세미나 예정 / 실제 개최 확인 후 필요한 자료 갱신.</a:t>
            </a:r>
          </a:p>
          <a:p>
            <a:r>
              <a:t>10월 14일 / 자료 제출 / 제출 이후 영상팀 편집. 16일 발표 결과는 미리 넣지 않음.</a:t>
            </a:r>
          </a:p>
          <a:p>
            <a:r>
              <a:t>10월 16일 / Tech X 최종 발표 예정 / 발표일이며 프로젝트 완료·시상일을 뜻하지 않음.</a:t>
            </a:r>
          </a:p>
          <a:p>
            <a:r>
              <a:t>10월 19일 / 촬영 / 최종 대본·장표·자료 큐를 같은 버전으로 사용.</a:t>
            </a:r>
          </a:p>
          <a:p>
            <a:r>
              <a:t>본편 사용 제외. 검토 PDF·PNG에는 이 숨김 부록도 포함된다.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2026 Learning Fair · Data Center팀</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400" b="1">
                <a:solidFill>
                  <a:srgbClr val="202522"/>
                </a:solidFill>
                <a:latin typeface="맑은 고딕"/>
                <a:ea typeface="맑은 고딕"/>
              </a:rPr>
              <a:t>AI 4 AI</a:t>
            </a:r>
          </a:p>
          <a:p>
            <a:pPr algn="l">
              <a:spcAft>
                <a:spcPts val="400"/>
              </a:spcAft>
            </a:pPr>
            <a:r>
              <a:rPr sz="4400" b="1">
                <a:solidFill>
                  <a:srgbClr val="202522"/>
                </a:solidFill>
                <a:latin typeface="맑은 고딕"/>
                <a:ea typeface="맑은 고딕"/>
              </a:rPr>
              <a:t>함께 쌓는 전문성</a:t>
            </a:r>
          </a:p>
        </p:txBody>
      </p:sp>
      <p:sp>
        <p:nvSpPr>
          <p:cNvPr id="4" name="TextBox 3"/>
          <p:cNvSpPr txBox="1"/>
          <p:nvPr/>
        </p:nvSpPr>
        <p:spPr>
          <a:xfrm>
            <a:off x="685800" y="6062472"/>
            <a:ext cx="10789920" cy="301752"/>
          </a:xfrm>
          <a:prstGeom prst="rect">
            <a:avLst/>
          </a:prstGeom>
          <a:noFill/>
        </p:spPr>
        <p:txBody>
          <a:bodyPr wrap="square" lIns="0" rIns="0" tIns="0" bIns="0">
            <a:spAutoFit/>
          </a:bodyPr>
          <a:lstStyle/>
          <a:p>
            <a:pPr algn="l">
              <a:spcAft>
                <a:spcPts val="400"/>
              </a:spcAft>
            </a:pPr>
            <a:r>
              <a:rPr sz="1200" b="0">
                <a:solidFill>
                  <a:srgbClr val="626962"/>
                </a:solidFill>
                <a:latin typeface="맑은 고딕"/>
                <a:ea typeface="맑은 고딕"/>
              </a:rPr>
              <a:t>Advanced Infrastructure for Artificial Intelligence</a:t>
            </a:r>
          </a:p>
        </p:txBody>
      </p:sp>
      <p:cxnSp>
        <p:nvCxnSpPr>
          <p:cNvPr id="5" name="Connector 4"/>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P01</a:t>
            </a:r>
          </a:p>
        </p:txBody>
      </p:sp>
      <p:sp>
        <p:nvSpPr>
          <p:cNvPr id="7" name="TextBox 6"/>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8" name="TextBox 7"/>
          <p:cNvSpPr txBox="1"/>
          <p:nvPr/>
        </p:nvSpPr>
        <p:spPr>
          <a:xfrm>
            <a:off x="685800" y="3337560"/>
            <a:ext cx="10789920" cy="859536"/>
          </a:xfrm>
          <a:prstGeom prst="rect">
            <a:avLst/>
          </a:prstGeom>
          <a:noFill/>
        </p:spPr>
        <p:txBody>
          <a:bodyPr wrap="square" lIns="0" rIns="0" tIns="0" bIns="0">
            <a:spAutoFit/>
          </a:bodyPr>
          <a:lstStyle/>
          <a:p>
            <a:pPr algn="l">
              <a:spcAft>
                <a:spcPts val="400"/>
              </a:spcAft>
            </a:pPr>
            <a:r>
              <a:rPr sz="2900" b="0">
                <a:solidFill>
                  <a:srgbClr val="202522"/>
                </a:solidFill>
                <a:latin typeface="맑은 고딕"/>
                <a:ea typeface="맑은 고딕"/>
              </a:rPr>
              <a:t>기술 교류 · 부서 간 협업 · 경험 공유</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AI 4 AI 세미나</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AI 인프라와 운영</a:t>
            </a:r>
          </a:p>
        </p:txBody>
      </p:sp>
      <p:sp>
        <p:nvSpPr>
          <p:cNvPr id="4" name="TextBox 3"/>
          <p:cNvSpPr txBox="1"/>
          <p:nvPr/>
        </p:nvSpPr>
        <p:spPr>
          <a:xfrm>
            <a:off x="685800" y="6062472"/>
            <a:ext cx="10789920" cy="301752"/>
          </a:xfrm>
          <a:prstGeom prst="rect">
            <a:avLst/>
          </a:prstGeom>
          <a:noFill/>
        </p:spPr>
        <p:txBody>
          <a:bodyPr wrap="square" lIns="0" rIns="0" tIns="0" bIns="0">
            <a:spAutoFit/>
          </a:bodyPr>
          <a:lstStyle/>
          <a:p>
            <a:pPr algn="l">
              <a:spcAft>
                <a:spcPts val="400"/>
              </a:spcAft>
            </a:pPr>
            <a:r>
              <a:rPr sz="1200" b="0">
                <a:solidFill>
                  <a:srgbClr val="626962"/>
                </a:solidFill>
                <a:latin typeface="맑은 고딕"/>
                <a:ea typeface="맑은 고딕"/>
              </a:rPr>
              <a:t>Advanced Infrastructure for Artificial Intelligence</a:t>
            </a:r>
          </a:p>
        </p:txBody>
      </p:sp>
      <p:cxnSp>
        <p:nvCxnSpPr>
          <p:cNvPr id="5" name="Connector 4"/>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P02</a:t>
            </a:r>
          </a:p>
        </p:txBody>
      </p:sp>
      <p:sp>
        <p:nvSpPr>
          <p:cNvPr id="7" name="TextBox 6"/>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8" name="TextBox 7"/>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외부 전문가 초청 · 월 1회</a:t>
            </a:r>
          </a:p>
        </p:txBody>
      </p:sp>
      <p:sp>
        <p:nvSpPr>
          <p:cNvPr id="9" name="TextBox 8"/>
          <p:cNvSpPr txBox="1"/>
          <p:nvPr/>
        </p:nvSpPr>
        <p:spPr>
          <a:xfrm>
            <a:off x="685800" y="4078224"/>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AI 운영</a:t>
            </a:r>
          </a:p>
        </p:txBody>
      </p:sp>
      <p:sp>
        <p:nvSpPr>
          <p:cNvPr id="10" name="TextBox 9"/>
          <p:cNvSpPr txBox="1"/>
          <p:nvPr/>
        </p:nvSpPr>
        <p:spPr>
          <a:xfrm>
            <a:off x="2432304" y="4078224"/>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AIOps</a:t>
            </a:r>
          </a:p>
        </p:txBody>
      </p:sp>
      <p:sp>
        <p:nvSpPr>
          <p:cNvPr id="11" name="TextBox 10"/>
          <p:cNvSpPr txBox="1"/>
          <p:nvPr/>
        </p:nvSpPr>
        <p:spPr>
          <a:xfrm>
            <a:off x="2432304" y="4471416"/>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Cisco · 3월</a:t>
            </a:r>
          </a:p>
        </p:txBody>
      </p:sp>
      <p:cxnSp>
        <p:nvCxnSpPr>
          <p:cNvPr id="12" name="Connector 11"/>
          <p:cNvCxnSpPr/>
          <p:nvPr/>
        </p:nvCxnSpPr>
        <p:spPr>
          <a:xfrm>
            <a:off x="685800" y="4869179"/>
            <a:ext cx="5486400"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685800" y="4928616"/>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AI 인프라</a:t>
            </a:r>
          </a:p>
        </p:txBody>
      </p:sp>
      <p:sp>
        <p:nvSpPr>
          <p:cNvPr id="14" name="TextBox 13"/>
          <p:cNvSpPr txBox="1"/>
          <p:nvPr/>
        </p:nvSpPr>
        <p:spPr>
          <a:xfrm>
            <a:off x="2432304" y="4928616"/>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국가슈퍼컴퓨터 6호기</a:t>
            </a:r>
          </a:p>
        </p:txBody>
      </p:sp>
      <p:sp>
        <p:nvSpPr>
          <p:cNvPr id="15" name="TextBox 14"/>
          <p:cNvSpPr txBox="1"/>
          <p:nvPr/>
        </p:nvSpPr>
        <p:spPr>
          <a:xfrm>
            <a:off x="2432304" y="5321807"/>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KISTI · 5월</a:t>
            </a:r>
          </a:p>
        </p:txBody>
      </p:sp>
      <p:sp>
        <p:nvSpPr>
          <p:cNvPr id="16" name="P02-asset-frame-IMG03"/>
          <p:cNvSpPr/>
          <p:nvPr/>
        </p:nvSpPr>
        <p:spPr>
          <a:xfrm>
            <a:off x="6629400" y="3154680"/>
            <a:ext cx="4846320"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P02-asset-instruction-IMG03"/>
          <p:cNvSpPr txBox="1"/>
          <p:nvPr/>
        </p:nvSpPr>
        <p:spPr>
          <a:xfrm>
            <a:off x="6775704" y="3520440"/>
            <a:ext cx="4553712"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8" name="P02-asset-label-IMG03"/>
          <p:cNvSpPr txBox="1"/>
          <p:nvPr/>
        </p:nvSpPr>
        <p:spPr>
          <a:xfrm>
            <a:off x="6775704" y="4087368"/>
            <a:ext cx="4553712" cy="950976"/>
          </a:xfrm>
          <a:prstGeom prst="rect">
            <a:avLst/>
          </a:prstGeom>
          <a:noFill/>
        </p:spPr>
        <p:txBody>
          <a:bodyPr wrap="square" lIns="0" rIns="0" tIns="0" bIns="0">
            <a:spAutoFit/>
          </a:bodyPr>
          <a:lstStyle/>
          <a:p>
            <a:pPr algn="ctr">
              <a:spcAft>
                <a:spcPts val="400"/>
              </a:spcAft>
            </a:pPr>
            <a:r>
              <a:rPr sz="2200" b="1">
                <a:solidFill>
                  <a:srgbClr val="202522"/>
                </a:solidFill>
                <a:latin typeface="맑은 고딕"/>
                <a:ea typeface="맑은 고딕"/>
              </a:rPr>
              <a:t>AI 4 AI</a:t>
            </a:r>
          </a:p>
          <a:p>
            <a:pPr algn="ctr">
              <a:spcAft>
                <a:spcPts val="400"/>
              </a:spcAft>
            </a:pPr>
            <a:r>
              <a:rPr sz="2200" b="1">
                <a:solidFill>
                  <a:srgbClr val="202522"/>
                </a:solidFill>
                <a:latin typeface="맑은 고딕"/>
                <a:ea typeface="맑은 고딕"/>
              </a:rPr>
              <a:t>세미나 포스터</a:t>
            </a:r>
          </a:p>
        </p:txBody>
      </p:sp>
      <p:sp>
        <p:nvSpPr>
          <p:cNvPr id="19" name="P02-asset-id-IMG03"/>
          <p:cNvSpPr txBox="1"/>
          <p:nvPr/>
        </p:nvSpPr>
        <p:spPr>
          <a:xfrm>
            <a:off x="6775704" y="5340096"/>
            <a:ext cx="4553712"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IMG03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Job Fair</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옆 부서의 일</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P03</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8월 · 11개 부서</a:t>
            </a:r>
          </a:p>
          <a:p>
            <a:pPr algn="l">
              <a:spcAft>
                <a:spcPts val="400"/>
              </a:spcAft>
            </a:pPr>
            <a:r>
              <a:rPr sz="2500" b="0">
                <a:solidFill>
                  <a:srgbClr val="202522"/>
                </a:solidFill>
                <a:latin typeface="맑은 고딕"/>
                <a:ea typeface="맑은 고딕"/>
              </a:rPr>
              <a:t>A0 업무 소개 패널</a:t>
            </a:r>
          </a:p>
        </p:txBody>
      </p:sp>
      <p:sp>
        <p:nvSpPr>
          <p:cNvPr id="8" name="P03-asset-frame-IMG04"/>
          <p:cNvSpPr/>
          <p:nvPr/>
        </p:nvSpPr>
        <p:spPr>
          <a:xfrm>
            <a:off x="6629400" y="3154680"/>
            <a:ext cx="2350008"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03-asset-instruction-IMG04"/>
          <p:cNvSpPr txBox="1"/>
          <p:nvPr/>
        </p:nvSpPr>
        <p:spPr>
          <a:xfrm>
            <a:off x="6775704" y="3520440"/>
            <a:ext cx="2057400"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0" name="P03-asset-label-IMG04"/>
          <p:cNvSpPr txBox="1"/>
          <p:nvPr/>
        </p:nvSpPr>
        <p:spPr>
          <a:xfrm>
            <a:off x="6775704" y="4087368"/>
            <a:ext cx="2057400" cy="950976"/>
          </a:xfrm>
          <a:prstGeom prst="rect">
            <a:avLst/>
          </a:prstGeom>
          <a:noFill/>
        </p:spPr>
        <p:txBody>
          <a:bodyPr wrap="square" lIns="0" rIns="0" tIns="0" bIns="0">
            <a:spAutoFit/>
          </a:bodyPr>
          <a:lstStyle/>
          <a:p>
            <a:pPr algn="ctr">
              <a:spcAft>
                <a:spcPts val="400"/>
              </a:spcAft>
            </a:pPr>
            <a:r>
              <a:rPr sz="2000" b="1">
                <a:solidFill>
                  <a:srgbClr val="202522"/>
                </a:solidFill>
                <a:latin typeface="맑은 고딕"/>
                <a:ea typeface="맑은 고딕"/>
              </a:rPr>
              <a:t>Job Fair</a:t>
            </a:r>
          </a:p>
          <a:p>
            <a:pPr algn="ctr">
              <a:spcAft>
                <a:spcPts val="400"/>
              </a:spcAft>
            </a:pPr>
            <a:r>
              <a:rPr sz="2000" b="1">
                <a:solidFill>
                  <a:srgbClr val="202522"/>
                </a:solidFill>
                <a:latin typeface="맑은 고딕"/>
                <a:ea typeface="맑은 고딕"/>
              </a:rPr>
              <a:t>부스 전경</a:t>
            </a:r>
          </a:p>
        </p:txBody>
      </p:sp>
      <p:sp>
        <p:nvSpPr>
          <p:cNvPr id="11" name="P03-asset-id-IMG04"/>
          <p:cNvSpPr txBox="1"/>
          <p:nvPr/>
        </p:nvSpPr>
        <p:spPr>
          <a:xfrm>
            <a:off x="6775704" y="5340096"/>
            <a:ext cx="2057400"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IMG04</a:t>
            </a:r>
          </a:p>
        </p:txBody>
      </p:sp>
      <p:sp>
        <p:nvSpPr>
          <p:cNvPr id="12" name="P03-asset-frame-IMG05"/>
          <p:cNvSpPr/>
          <p:nvPr/>
        </p:nvSpPr>
        <p:spPr>
          <a:xfrm>
            <a:off x="9125712" y="3154680"/>
            <a:ext cx="2350008"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P03-asset-instruction-IMG05"/>
          <p:cNvSpPr txBox="1"/>
          <p:nvPr/>
        </p:nvSpPr>
        <p:spPr>
          <a:xfrm>
            <a:off x="9272016" y="3520440"/>
            <a:ext cx="2057400"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4" name="P03-asset-label-IMG05"/>
          <p:cNvSpPr txBox="1"/>
          <p:nvPr/>
        </p:nvSpPr>
        <p:spPr>
          <a:xfrm>
            <a:off x="9272016" y="4087368"/>
            <a:ext cx="2057400" cy="950976"/>
          </a:xfrm>
          <a:prstGeom prst="rect">
            <a:avLst/>
          </a:prstGeom>
          <a:noFill/>
        </p:spPr>
        <p:txBody>
          <a:bodyPr wrap="square" lIns="0" rIns="0" tIns="0" bIns="0">
            <a:spAutoFit/>
          </a:bodyPr>
          <a:lstStyle/>
          <a:p>
            <a:pPr algn="ctr">
              <a:spcAft>
                <a:spcPts val="400"/>
              </a:spcAft>
            </a:pPr>
            <a:r>
              <a:rPr sz="2000" b="1">
                <a:solidFill>
                  <a:srgbClr val="202522"/>
                </a:solidFill>
                <a:latin typeface="맑은 고딕"/>
                <a:ea typeface="맑은 고딕"/>
              </a:rPr>
              <a:t>업무 소개</a:t>
            </a:r>
          </a:p>
          <a:p>
            <a:pPr algn="ctr">
              <a:spcAft>
                <a:spcPts val="400"/>
              </a:spcAft>
            </a:pPr>
            <a:r>
              <a:rPr sz="2000" b="1">
                <a:solidFill>
                  <a:srgbClr val="202522"/>
                </a:solidFill>
                <a:latin typeface="맑은 고딕"/>
                <a:ea typeface="맑은 고딕"/>
              </a:rPr>
              <a:t>A0 패널</a:t>
            </a:r>
          </a:p>
        </p:txBody>
      </p:sp>
      <p:sp>
        <p:nvSpPr>
          <p:cNvPr id="15" name="P03-asset-id-IMG05"/>
          <p:cNvSpPr txBox="1"/>
          <p:nvPr/>
        </p:nvSpPr>
        <p:spPr>
          <a:xfrm>
            <a:off x="9272016" y="5340096"/>
            <a:ext cx="2057400"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DCIS · 월 1회</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우리 부서의 요즘</a:t>
            </a:r>
          </a:p>
        </p:txBody>
      </p:sp>
      <p:sp>
        <p:nvSpPr>
          <p:cNvPr id="4" name="TextBox 3"/>
          <p:cNvSpPr txBox="1"/>
          <p:nvPr/>
        </p:nvSpPr>
        <p:spPr>
          <a:xfrm>
            <a:off x="685800" y="6062472"/>
            <a:ext cx="10789920" cy="301752"/>
          </a:xfrm>
          <a:prstGeom prst="rect">
            <a:avLst/>
          </a:prstGeom>
          <a:noFill/>
        </p:spPr>
        <p:txBody>
          <a:bodyPr wrap="square" lIns="0" rIns="0" tIns="0" bIns="0">
            <a:spAutoFit/>
          </a:bodyPr>
          <a:lstStyle/>
          <a:p>
            <a:pPr algn="l">
              <a:spcAft>
                <a:spcPts val="400"/>
              </a:spcAft>
            </a:pPr>
            <a:r>
              <a:rPr sz="1200" b="0">
                <a:solidFill>
                  <a:srgbClr val="626962"/>
                </a:solidFill>
                <a:latin typeface="맑은 고딕"/>
                <a:ea typeface="맑은 고딕"/>
              </a:rPr>
              <a:t>Data Center Idea Sync</a:t>
            </a:r>
          </a:p>
        </p:txBody>
      </p:sp>
      <p:cxnSp>
        <p:nvCxnSpPr>
          <p:cNvPr id="5" name="Connector 4"/>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P04</a:t>
            </a:r>
          </a:p>
        </p:txBody>
      </p:sp>
      <p:sp>
        <p:nvSpPr>
          <p:cNvPr id="7" name="TextBox 6"/>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8" name="TextBox 7"/>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주요 과제 · 서비스 · 연구 기술</a:t>
            </a:r>
          </a:p>
        </p:txBody>
      </p:sp>
      <p:sp>
        <p:nvSpPr>
          <p:cNvPr id="9" name="P04-asset-frame-IMG06"/>
          <p:cNvSpPr/>
          <p:nvPr/>
        </p:nvSpPr>
        <p:spPr>
          <a:xfrm>
            <a:off x="6629400" y="3154680"/>
            <a:ext cx="4846320"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P04-asset-instruction-IMG06"/>
          <p:cNvSpPr txBox="1"/>
          <p:nvPr/>
        </p:nvSpPr>
        <p:spPr>
          <a:xfrm>
            <a:off x="6775704" y="3520440"/>
            <a:ext cx="4553712"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1" name="P04-asset-label-IMG06"/>
          <p:cNvSpPr txBox="1"/>
          <p:nvPr/>
        </p:nvSpPr>
        <p:spPr>
          <a:xfrm>
            <a:off x="6775704" y="4087368"/>
            <a:ext cx="4553712" cy="950976"/>
          </a:xfrm>
          <a:prstGeom prst="rect">
            <a:avLst/>
          </a:prstGeom>
          <a:noFill/>
        </p:spPr>
        <p:txBody>
          <a:bodyPr wrap="square" lIns="0" rIns="0" tIns="0" bIns="0">
            <a:spAutoFit/>
          </a:bodyPr>
          <a:lstStyle/>
          <a:p>
            <a:pPr algn="ctr">
              <a:spcAft>
                <a:spcPts val="400"/>
              </a:spcAft>
            </a:pPr>
            <a:r>
              <a:rPr sz="2200" b="1">
                <a:solidFill>
                  <a:srgbClr val="202522"/>
                </a:solidFill>
                <a:latin typeface="맑은 고딕"/>
                <a:ea typeface="맑은 고딕"/>
              </a:rPr>
              <a:t>DCIS 대표 세션</a:t>
            </a:r>
          </a:p>
          <a:p>
            <a:pPr algn="ctr">
              <a:spcAft>
                <a:spcPts val="400"/>
              </a:spcAft>
            </a:pPr>
            <a:r>
              <a:rPr sz="2200" b="1">
                <a:solidFill>
                  <a:srgbClr val="202522"/>
                </a:solidFill>
                <a:latin typeface="맑은 고딕"/>
                <a:ea typeface="맑은 고딕"/>
              </a:rPr>
              <a:t>표지 또는 공지</a:t>
            </a:r>
          </a:p>
        </p:txBody>
      </p:sp>
      <p:sp>
        <p:nvSpPr>
          <p:cNvPr id="12" name="P04-asset-id-IMG06"/>
          <p:cNvSpPr txBox="1"/>
          <p:nvPr/>
        </p:nvSpPr>
        <p:spPr>
          <a:xfrm>
            <a:off x="6775704" y="5340096"/>
            <a:ext cx="4553712"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IMG06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Tech X</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부서를 넘는 프로젝트</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P05</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3월 모집 · 4월 착수</a:t>
            </a:r>
          </a:p>
        </p:txBody>
      </p:sp>
      <p:sp>
        <p:nvSpPr>
          <p:cNvPr id="8" name="TextBox 7"/>
          <p:cNvSpPr txBox="1"/>
          <p:nvPr/>
        </p:nvSpPr>
        <p:spPr>
          <a:xfrm>
            <a:off x="685800" y="4078224"/>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프로젝트</a:t>
            </a:r>
          </a:p>
        </p:txBody>
      </p:sp>
      <p:sp>
        <p:nvSpPr>
          <p:cNvPr id="9" name="TextBox 8"/>
          <p:cNvSpPr txBox="1"/>
          <p:nvPr/>
        </p:nvSpPr>
        <p:spPr>
          <a:xfrm>
            <a:off x="2432304" y="4078224"/>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6개</a:t>
            </a:r>
          </a:p>
        </p:txBody>
      </p:sp>
      <p:sp>
        <p:nvSpPr>
          <p:cNvPr id="10" name="TextBox 9"/>
          <p:cNvSpPr txBox="1"/>
          <p:nvPr/>
        </p:nvSpPr>
        <p:spPr>
          <a:xfrm>
            <a:off x="2432304" y="4471416"/>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파트별 주제 제안</a:t>
            </a:r>
          </a:p>
        </p:txBody>
      </p:sp>
      <p:cxnSp>
        <p:nvCxnSpPr>
          <p:cNvPr id="11" name="Connector 10"/>
          <p:cNvCxnSpPr/>
          <p:nvPr/>
        </p:nvCxnSpPr>
        <p:spPr>
          <a:xfrm>
            <a:off x="685800" y="4869179"/>
            <a:ext cx="5486400"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4928616"/>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참여자</a:t>
            </a:r>
          </a:p>
        </p:txBody>
      </p:sp>
      <p:sp>
        <p:nvSpPr>
          <p:cNvPr id="13" name="TextBox 12"/>
          <p:cNvSpPr txBox="1"/>
          <p:nvPr/>
        </p:nvSpPr>
        <p:spPr>
          <a:xfrm>
            <a:off x="2432304" y="4928616"/>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44명</a:t>
            </a:r>
          </a:p>
        </p:txBody>
      </p:sp>
      <p:sp>
        <p:nvSpPr>
          <p:cNvPr id="14" name="TextBox 13"/>
          <p:cNvSpPr txBox="1"/>
          <p:nvPr/>
        </p:nvSpPr>
        <p:spPr>
          <a:xfrm>
            <a:off x="2432304" y="5321807"/>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과제별 필요한 인원 선발</a:t>
            </a:r>
          </a:p>
        </p:txBody>
      </p:sp>
      <p:sp>
        <p:nvSpPr>
          <p:cNvPr id="15" name="P05-asset-frame-IMG07"/>
          <p:cNvSpPr/>
          <p:nvPr/>
        </p:nvSpPr>
        <p:spPr>
          <a:xfrm>
            <a:off x="6629400" y="3154680"/>
            <a:ext cx="4846320"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05-asset-instruction-IMG07"/>
          <p:cNvSpPr txBox="1"/>
          <p:nvPr/>
        </p:nvSpPr>
        <p:spPr>
          <a:xfrm>
            <a:off x="6775704" y="3520440"/>
            <a:ext cx="4553712"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7" name="P05-asset-label-IMG07"/>
          <p:cNvSpPr txBox="1"/>
          <p:nvPr/>
        </p:nvSpPr>
        <p:spPr>
          <a:xfrm>
            <a:off x="6775704" y="4087368"/>
            <a:ext cx="4553712" cy="950976"/>
          </a:xfrm>
          <a:prstGeom prst="rect">
            <a:avLst/>
          </a:prstGeom>
          <a:noFill/>
        </p:spPr>
        <p:txBody>
          <a:bodyPr wrap="square" lIns="0" rIns="0" tIns="0" bIns="0">
            <a:spAutoFit/>
          </a:bodyPr>
          <a:lstStyle/>
          <a:p>
            <a:pPr algn="ctr">
              <a:spcAft>
                <a:spcPts val="400"/>
              </a:spcAft>
            </a:pPr>
            <a:r>
              <a:rPr sz="2200" b="1">
                <a:solidFill>
                  <a:srgbClr val="202522"/>
                </a:solidFill>
                <a:latin typeface="맑은 고딕"/>
                <a:ea typeface="맑은 고딕"/>
              </a:rPr>
              <a:t>Tech X</a:t>
            </a:r>
          </a:p>
          <a:p>
            <a:pPr algn="ctr">
              <a:spcAft>
                <a:spcPts val="400"/>
              </a:spcAft>
            </a:pPr>
            <a:r>
              <a:rPr sz="2200" b="1">
                <a:solidFill>
                  <a:srgbClr val="202522"/>
                </a:solidFill>
                <a:latin typeface="맑은 고딕"/>
                <a:ea typeface="맑은 고딕"/>
              </a:rPr>
              <a:t>3월 모집 공고</a:t>
            </a:r>
          </a:p>
        </p:txBody>
      </p:sp>
      <p:sp>
        <p:nvSpPr>
          <p:cNvPr id="18" name="P05-asset-id-IMG07"/>
          <p:cNvSpPr txBox="1"/>
          <p:nvPr/>
        </p:nvSpPr>
        <p:spPr>
          <a:xfrm>
            <a:off x="6775704" y="5340096"/>
            <a:ext cx="4553712"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Tech X · 참여자 이야기</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같은 과제, 다른 관점</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P06</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k8s GPU 자원 효율화</a:t>
            </a:r>
          </a:p>
        </p:txBody>
      </p:sp>
      <p:sp>
        <p:nvSpPr>
          <p:cNvPr id="8" name="TextBox 7"/>
          <p:cNvSpPr txBox="1"/>
          <p:nvPr/>
        </p:nvSpPr>
        <p:spPr>
          <a:xfrm>
            <a:off x="685800" y="4078224"/>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참여자</a:t>
            </a:r>
          </a:p>
        </p:txBody>
      </p:sp>
      <p:sp>
        <p:nvSpPr>
          <p:cNvPr id="9" name="TextBox 8"/>
          <p:cNvSpPr txBox="1"/>
          <p:nvPr/>
        </p:nvSpPr>
        <p:spPr>
          <a:xfrm>
            <a:off x="2432304" y="4078224"/>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이관우 교육담당</a:t>
            </a:r>
          </a:p>
        </p:txBody>
      </p:sp>
      <p:sp>
        <p:nvSpPr>
          <p:cNvPr id="10" name="TextBox 9"/>
          <p:cNvSpPr txBox="1"/>
          <p:nvPr/>
        </p:nvSpPr>
        <p:spPr>
          <a:xfrm>
            <a:off x="2432304" y="4471416"/>
            <a:ext cx="3739896" cy="59436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관심 분야에 직접 지원</a:t>
            </a:r>
          </a:p>
        </p:txBody>
      </p:sp>
      <p:sp>
        <p:nvSpPr>
          <p:cNvPr id="11" name="P06-asset-frame-IMG15"/>
          <p:cNvSpPr/>
          <p:nvPr/>
        </p:nvSpPr>
        <p:spPr>
          <a:xfrm>
            <a:off x="6629400" y="3154680"/>
            <a:ext cx="4846320"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06-asset-instruction-IMG15"/>
          <p:cNvSpPr txBox="1"/>
          <p:nvPr/>
        </p:nvSpPr>
        <p:spPr>
          <a:xfrm>
            <a:off x="6775704" y="3520440"/>
            <a:ext cx="4553712"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3" name="P06-asset-label-IMG15"/>
          <p:cNvSpPr txBox="1"/>
          <p:nvPr/>
        </p:nvSpPr>
        <p:spPr>
          <a:xfrm>
            <a:off x="6775704" y="4087368"/>
            <a:ext cx="4553712" cy="950976"/>
          </a:xfrm>
          <a:prstGeom prst="rect">
            <a:avLst/>
          </a:prstGeom>
          <a:noFill/>
        </p:spPr>
        <p:txBody>
          <a:bodyPr wrap="square" lIns="0" rIns="0" tIns="0" bIns="0">
            <a:spAutoFit/>
          </a:bodyPr>
          <a:lstStyle/>
          <a:p>
            <a:pPr algn="ctr">
              <a:spcAft>
                <a:spcPts val="400"/>
              </a:spcAft>
            </a:pPr>
            <a:r>
              <a:rPr sz="2200" b="1">
                <a:solidFill>
                  <a:srgbClr val="202522"/>
                </a:solidFill>
                <a:latin typeface="맑은 고딕"/>
                <a:ea typeface="맑은 고딕"/>
              </a:rPr>
              <a:t>k8s GPU 과제</a:t>
            </a:r>
          </a:p>
          <a:p>
            <a:pPr algn="ctr">
              <a:spcAft>
                <a:spcPts val="400"/>
              </a:spcAft>
            </a:pPr>
            <a:r>
              <a:rPr sz="2200" b="1">
                <a:solidFill>
                  <a:srgbClr val="202522"/>
                </a:solidFill>
                <a:latin typeface="맑은 고딕"/>
                <a:ea typeface="맑은 고딕"/>
              </a:rPr>
              <a:t>표지 또는 논의 자료</a:t>
            </a:r>
          </a:p>
        </p:txBody>
      </p:sp>
      <p:sp>
        <p:nvSpPr>
          <p:cNvPr id="14" name="P06-asset-id-IMG15"/>
          <p:cNvSpPr txBox="1"/>
          <p:nvPr/>
        </p:nvSpPr>
        <p:spPr>
          <a:xfrm>
            <a:off x="6775704" y="5340096"/>
            <a:ext cx="4553712"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Tech X 적용 사례 · IAP</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로그 알림 자동화</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P07</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패턴 감지 → 메신저 알림</a:t>
            </a:r>
          </a:p>
          <a:p>
            <a:pPr algn="l">
              <a:spcAft>
                <a:spcPts val="400"/>
              </a:spcAft>
            </a:pPr>
            <a:r>
              <a:rPr sz="2500" b="0">
                <a:solidFill>
                  <a:srgbClr val="202522"/>
                </a:solidFill>
                <a:latin typeface="맑은 고딕"/>
                <a:ea typeface="맑은 고딕"/>
              </a:rPr>
              <a:t>지정 형식으로 자동 전송</a:t>
            </a:r>
          </a:p>
        </p:txBody>
      </p:sp>
      <p:sp>
        <p:nvSpPr>
          <p:cNvPr id="8" name="TextBox 7"/>
          <p:cNvSpPr txBox="1"/>
          <p:nvPr/>
        </p:nvSpPr>
        <p:spPr>
          <a:xfrm>
            <a:off x="685800" y="4078224"/>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6월</a:t>
            </a:r>
          </a:p>
        </p:txBody>
      </p:sp>
      <p:sp>
        <p:nvSpPr>
          <p:cNvPr id="9" name="TextBox 8"/>
          <p:cNvSpPr txBox="1"/>
          <p:nvPr/>
        </p:nvSpPr>
        <p:spPr>
          <a:xfrm>
            <a:off x="2432304" y="4078224"/>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IAP 소개 세미나</a:t>
            </a:r>
          </a:p>
        </p:txBody>
      </p:sp>
      <p:sp>
        <p:nvSpPr>
          <p:cNvPr id="10" name="TextBox 9"/>
          <p:cNvSpPr txBox="1"/>
          <p:nvPr/>
        </p:nvSpPr>
        <p:spPr>
          <a:xfrm>
            <a:off x="2432304" y="4471416"/>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개발 내용 공유</a:t>
            </a:r>
          </a:p>
        </p:txBody>
      </p:sp>
      <p:cxnSp>
        <p:nvCxnSpPr>
          <p:cNvPr id="11" name="Connector 10"/>
          <p:cNvCxnSpPr/>
          <p:nvPr/>
        </p:nvCxnSpPr>
        <p:spPr>
          <a:xfrm>
            <a:off x="685800" y="4869179"/>
            <a:ext cx="5486400"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4928616"/>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7월</a:t>
            </a:r>
          </a:p>
        </p:txBody>
      </p:sp>
      <p:sp>
        <p:nvSpPr>
          <p:cNvPr id="13" name="TextBox 12"/>
          <p:cNvSpPr txBox="1"/>
          <p:nvPr/>
        </p:nvSpPr>
        <p:spPr>
          <a:xfrm>
            <a:off x="2432304" y="4928616"/>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에이전트 등록 실습</a:t>
            </a:r>
          </a:p>
        </p:txBody>
      </p:sp>
      <p:sp>
        <p:nvSpPr>
          <p:cNvPr id="14" name="TextBox 13"/>
          <p:cNvSpPr txBox="1"/>
          <p:nvPr/>
        </p:nvSpPr>
        <p:spPr>
          <a:xfrm>
            <a:off x="2432304" y="5321807"/>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실무 담당자 25명 대상</a:t>
            </a:r>
          </a:p>
        </p:txBody>
      </p:sp>
      <p:sp>
        <p:nvSpPr>
          <p:cNvPr id="15" name="P07-asset-frame-IMG08"/>
          <p:cNvSpPr/>
          <p:nvPr/>
        </p:nvSpPr>
        <p:spPr>
          <a:xfrm>
            <a:off x="6629400" y="3154680"/>
            <a:ext cx="2350008"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07-asset-instruction-IMG08"/>
          <p:cNvSpPr txBox="1"/>
          <p:nvPr/>
        </p:nvSpPr>
        <p:spPr>
          <a:xfrm>
            <a:off x="6775704" y="3520440"/>
            <a:ext cx="2057400"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7" name="P07-asset-label-IMG08"/>
          <p:cNvSpPr txBox="1"/>
          <p:nvPr/>
        </p:nvSpPr>
        <p:spPr>
          <a:xfrm>
            <a:off x="6775704" y="4087368"/>
            <a:ext cx="2057400" cy="950976"/>
          </a:xfrm>
          <a:prstGeom prst="rect">
            <a:avLst/>
          </a:prstGeom>
          <a:noFill/>
        </p:spPr>
        <p:txBody>
          <a:bodyPr wrap="square" lIns="0" rIns="0" tIns="0" bIns="0">
            <a:spAutoFit/>
          </a:bodyPr>
          <a:lstStyle/>
          <a:p>
            <a:pPr algn="ctr">
              <a:spcAft>
                <a:spcPts val="400"/>
              </a:spcAft>
            </a:pPr>
            <a:r>
              <a:rPr sz="2000" b="1">
                <a:solidFill>
                  <a:srgbClr val="202522"/>
                </a:solidFill>
                <a:latin typeface="맑은 고딕"/>
                <a:ea typeface="맑은 고딕"/>
              </a:rPr>
              <a:t>실제 IAP</a:t>
            </a:r>
          </a:p>
          <a:p>
            <a:pPr algn="ctr">
              <a:spcAft>
                <a:spcPts val="400"/>
              </a:spcAft>
            </a:pPr>
            <a:r>
              <a:rPr sz="2000" b="1">
                <a:solidFill>
                  <a:srgbClr val="202522"/>
                </a:solidFill>
                <a:latin typeface="맑은 고딕"/>
                <a:ea typeface="맑은 고딕"/>
              </a:rPr>
              <a:t>알림 화면</a:t>
            </a:r>
          </a:p>
        </p:txBody>
      </p:sp>
      <p:sp>
        <p:nvSpPr>
          <p:cNvPr id="18" name="P07-asset-id-IMG08"/>
          <p:cNvSpPr txBox="1"/>
          <p:nvPr/>
        </p:nvSpPr>
        <p:spPr>
          <a:xfrm>
            <a:off x="6775704" y="5340096"/>
            <a:ext cx="2057400"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IMG08</a:t>
            </a:r>
          </a:p>
        </p:txBody>
      </p:sp>
      <p:sp>
        <p:nvSpPr>
          <p:cNvPr id="19" name="P07-asset-frame-IMG10"/>
          <p:cNvSpPr/>
          <p:nvPr/>
        </p:nvSpPr>
        <p:spPr>
          <a:xfrm>
            <a:off x="9125712" y="3154680"/>
            <a:ext cx="2350008"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P07-asset-instruction-IMG10"/>
          <p:cNvSpPr txBox="1"/>
          <p:nvPr/>
        </p:nvSpPr>
        <p:spPr>
          <a:xfrm>
            <a:off x="9272016" y="3520440"/>
            <a:ext cx="2057400"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21" name="P07-asset-label-IMG10"/>
          <p:cNvSpPr txBox="1"/>
          <p:nvPr/>
        </p:nvSpPr>
        <p:spPr>
          <a:xfrm>
            <a:off x="9272016" y="4087368"/>
            <a:ext cx="2057400" cy="950976"/>
          </a:xfrm>
          <a:prstGeom prst="rect">
            <a:avLst/>
          </a:prstGeom>
          <a:noFill/>
        </p:spPr>
        <p:txBody>
          <a:bodyPr wrap="square" lIns="0" rIns="0" tIns="0" bIns="0">
            <a:spAutoFit/>
          </a:bodyPr>
          <a:lstStyle/>
          <a:p>
            <a:pPr algn="ctr">
              <a:spcAft>
                <a:spcPts val="400"/>
              </a:spcAft>
            </a:pPr>
            <a:r>
              <a:rPr sz="2000" b="1">
                <a:solidFill>
                  <a:srgbClr val="202522"/>
                </a:solidFill>
                <a:latin typeface="맑은 고딕"/>
                <a:ea typeface="맑은 고딕"/>
              </a:rPr>
              <a:t>7월 실습</a:t>
            </a:r>
          </a:p>
          <a:p>
            <a:pPr algn="ctr">
              <a:spcAft>
                <a:spcPts val="400"/>
              </a:spcAft>
            </a:pPr>
            <a:r>
              <a:rPr sz="2000" b="1">
                <a:solidFill>
                  <a:srgbClr val="202522"/>
                </a:solidFill>
                <a:latin typeface="맑은 고딕"/>
                <a:ea typeface="맑은 고딕"/>
              </a:rPr>
              <a:t>사진 또는 교안</a:t>
            </a:r>
          </a:p>
        </p:txBody>
      </p:sp>
      <p:sp>
        <p:nvSpPr>
          <p:cNvPr id="22" name="P07-asset-id-IMG10"/>
          <p:cNvSpPr txBox="1"/>
          <p:nvPr/>
        </p:nvSpPr>
        <p:spPr>
          <a:xfrm>
            <a:off x="9272016" y="5340096"/>
            <a:ext cx="2057400"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AI 4 AI · 녹화 공유</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놓친 세미나, 다시 보기</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P08</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교육 플랫폼에 녹화 영상 공유</a:t>
            </a:r>
          </a:p>
          <a:p>
            <a:pPr algn="l">
              <a:spcAft>
                <a:spcPts val="400"/>
              </a:spcAft>
            </a:pPr>
            <a:r>
              <a:rPr sz="2500" b="0">
                <a:solidFill>
                  <a:srgbClr val="202522"/>
                </a:solidFill>
                <a:latin typeface="맑은 고딕"/>
                <a:ea typeface="맑은 고딕"/>
              </a:rPr>
              <a:t>센터원 대상</a:t>
            </a:r>
          </a:p>
        </p:txBody>
      </p:sp>
      <p:sp>
        <p:nvSpPr>
          <p:cNvPr id="8" name="P08-asset-frame-IMG13"/>
          <p:cNvSpPr/>
          <p:nvPr/>
        </p:nvSpPr>
        <p:spPr>
          <a:xfrm>
            <a:off x="6629400" y="3154680"/>
            <a:ext cx="4846320"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08-asset-instruction-IMG13"/>
          <p:cNvSpPr txBox="1"/>
          <p:nvPr/>
        </p:nvSpPr>
        <p:spPr>
          <a:xfrm>
            <a:off x="6775704" y="3520440"/>
            <a:ext cx="4553712"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0" name="P08-asset-label-IMG13"/>
          <p:cNvSpPr txBox="1"/>
          <p:nvPr/>
        </p:nvSpPr>
        <p:spPr>
          <a:xfrm>
            <a:off x="6775704" y="4087368"/>
            <a:ext cx="4553712" cy="950976"/>
          </a:xfrm>
          <a:prstGeom prst="rect">
            <a:avLst/>
          </a:prstGeom>
          <a:noFill/>
        </p:spPr>
        <p:txBody>
          <a:bodyPr wrap="square" lIns="0" rIns="0" tIns="0" bIns="0">
            <a:spAutoFit/>
          </a:bodyPr>
          <a:lstStyle/>
          <a:p>
            <a:pPr algn="ctr">
              <a:spcAft>
                <a:spcPts val="400"/>
              </a:spcAft>
            </a:pPr>
            <a:r>
              <a:rPr sz="2200" b="1">
                <a:solidFill>
                  <a:srgbClr val="202522"/>
                </a:solidFill>
                <a:latin typeface="맑은 고딕"/>
                <a:ea typeface="맑은 고딕"/>
              </a:rPr>
              <a:t>교육 플랫폼</a:t>
            </a:r>
          </a:p>
          <a:p>
            <a:pPr algn="ctr">
              <a:spcAft>
                <a:spcPts val="400"/>
              </a:spcAft>
            </a:pPr>
            <a:r>
              <a:rPr sz="2200" b="1">
                <a:solidFill>
                  <a:srgbClr val="202522"/>
                </a:solidFill>
                <a:latin typeface="맑은 고딕"/>
                <a:ea typeface="맑은 고딕"/>
              </a:rPr>
              <a:t>녹화 영상 화면</a:t>
            </a:r>
          </a:p>
        </p:txBody>
      </p:sp>
      <p:sp>
        <p:nvSpPr>
          <p:cNvPr id="11" name="P08-asset-id-IMG13"/>
          <p:cNvSpPr txBox="1"/>
          <p:nvPr/>
        </p:nvSpPr>
        <p:spPr>
          <a:xfrm>
            <a:off x="6775704" y="5340096"/>
            <a:ext cx="4553712"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Tech X · 운영 방식</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자발적 참여와 성과 인정</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P09</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063240"/>
            <a:ext cx="10789920" cy="640080"/>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
            </a:r>
          </a:p>
        </p:txBody>
      </p:sp>
      <p:sp>
        <p:nvSpPr>
          <p:cNvPr id="8" name="TextBox 7"/>
          <p:cNvSpPr txBox="1"/>
          <p:nvPr/>
        </p:nvSpPr>
        <p:spPr>
          <a:xfrm>
            <a:off x="685800" y="3895344"/>
            <a:ext cx="5202936" cy="457200"/>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참여</a:t>
            </a:r>
          </a:p>
        </p:txBody>
      </p:sp>
      <p:sp>
        <p:nvSpPr>
          <p:cNvPr id="9" name="TextBox 8"/>
          <p:cNvSpPr txBox="1"/>
          <p:nvPr/>
        </p:nvSpPr>
        <p:spPr>
          <a:xfrm>
            <a:off x="685800" y="4453128"/>
            <a:ext cx="5202936" cy="950976"/>
          </a:xfrm>
          <a:prstGeom prst="rect">
            <a:avLst/>
          </a:prstGeom>
          <a:noFill/>
        </p:spPr>
        <p:txBody>
          <a:bodyPr wrap="square" lIns="0" rIns="0" tIns="0" bIns="0">
            <a:spAutoFit/>
          </a:bodyPr>
          <a:lstStyle/>
          <a:p>
            <a:pPr algn="l">
              <a:spcAft>
                <a:spcPts val="400"/>
              </a:spcAft>
            </a:pPr>
            <a:r>
              <a:rPr sz="3000" b="1">
                <a:solidFill>
                  <a:srgbClr val="202522"/>
                </a:solidFill>
                <a:latin typeface="맑은 고딕"/>
                <a:ea typeface="맑은 고딕"/>
              </a:rPr>
              <a:t>관심 과제에 지원</a:t>
            </a:r>
          </a:p>
        </p:txBody>
      </p:sp>
      <p:sp>
        <p:nvSpPr>
          <p:cNvPr id="10" name="TextBox 9"/>
          <p:cNvSpPr txBox="1"/>
          <p:nvPr/>
        </p:nvSpPr>
        <p:spPr>
          <a:xfrm>
            <a:off x="685800" y="5477256"/>
            <a:ext cx="5202936" cy="493776"/>
          </a:xfrm>
          <a:prstGeom prst="rect">
            <a:avLst/>
          </a:prstGeom>
          <a:noFill/>
        </p:spPr>
        <p:txBody>
          <a:bodyPr wrap="square" lIns="0" rIns="0" tIns="0" bIns="0">
            <a:spAutoFit/>
          </a:bodyPr>
          <a:lstStyle/>
          <a:p>
            <a:pPr algn="l">
              <a:spcAft>
                <a:spcPts val="400"/>
              </a:spcAft>
            </a:pPr>
            <a:r>
              <a:rPr sz="2000" b="0">
                <a:solidFill>
                  <a:srgbClr val="626962"/>
                </a:solidFill>
                <a:latin typeface="맑은 고딕"/>
                <a:ea typeface="맑은 고딕"/>
              </a:rPr>
              <a:t>각자 시간 일부를 할애</a:t>
            </a:r>
          </a:p>
        </p:txBody>
      </p:sp>
      <p:cxnSp>
        <p:nvCxnSpPr>
          <p:cNvPr id="11" name="Connector 10"/>
          <p:cNvCxnSpPr/>
          <p:nvPr/>
        </p:nvCxnSpPr>
        <p:spPr>
          <a:xfrm>
            <a:off x="6094476" y="3877056"/>
            <a:ext cx="0" cy="2048256"/>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300216" y="3895344"/>
            <a:ext cx="5202936" cy="457200"/>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인정</a:t>
            </a:r>
          </a:p>
        </p:txBody>
      </p:sp>
      <p:sp>
        <p:nvSpPr>
          <p:cNvPr id="13" name="TextBox 12"/>
          <p:cNvSpPr txBox="1"/>
          <p:nvPr/>
        </p:nvSpPr>
        <p:spPr>
          <a:xfrm>
            <a:off x="6300216" y="4453128"/>
            <a:ext cx="5202936" cy="950976"/>
          </a:xfrm>
          <a:prstGeom prst="rect">
            <a:avLst/>
          </a:prstGeom>
          <a:noFill/>
        </p:spPr>
        <p:txBody>
          <a:bodyPr wrap="square" lIns="0" rIns="0" tIns="0" bIns="0">
            <a:spAutoFit/>
          </a:bodyPr>
          <a:lstStyle/>
          <a:p>
            <a:pPr algn="l">
              <a:spcAft>
                <a:spcPts val="400"/>
              </a:spcAft>
            </a:pPr>
            <a:r>
              <a:rPr sz="3000" b="1">
                <a:solidFill>
                  <a:srgbClr val="202522"/>
                </a:solidFill>
                <a:latin typeface="맑은 고딕"/>
                <a:ea typeface="맑은 고딕"/>
              </a:rPr>
              <a:t>우수 프로젝트 시상</a:t>
            </a:r>
          </a:p>
        </p:txBody>
      </p:sp>
      <p:sp>
        <p:nvSpPr>
          <p:cNvPr id="14" name="TextBox 13"/>
          <p:cNvSpPr txBox="1"/>
          <p:nvPr/>
        </p:nvSpPr>
        <p:spPr>
          <a:xfrm>
            <a:off x="6300216" y="5477256"/>
            <a:ext cx="5202936" cy="493776"/>
          </a:xfrm>
          <a:prstGeom prst="rect">
            <a:avLst/>
          </a:prstGeom>
          <a:noFill/>
        </p:spPr>
        <p:txBody>
          <a:bodyPr wrap="square" lIns="0" rIns="0" tIns="0" bIns="0">
            <a:spAutoFit/>
          </a:bodyPr>
          <a:lstStyle/>
          <a:p>
            <a:pPr algn="l">
              <a:spcAft>
                <a:spcPts val="400"/>
              </a:spcAft>
            </a:pPr>
            <a:r>
              <a:rPr sz="2000" b="0">
                <a:solidFill>
                  <a:srgbClr val="626962"/>
                </a:solidFill>
                <a:latin typeface="맑은 고딕"/>
                <a:ea typeface="맑은 고딕"/>
              </a:rPr>
              <a:t>성과에 반영</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2026 Learning Fair · Data Center팀</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400" b="1">
                <a:solidFill>
                  <a:srgbClr val="202522"/>
                </a:solidFill>
                <a:latin typeface="맑은 고딕"/>
                <a:ea typeface="맑은 고딕"/>
              </a:rPr>
              <a:t>AI 4 AI</a:t>
            </a:r>
          </a:p>
          <a:p>
            <a:pPr algn="l">
              <a:spcAft>
                <a:spcPts val="400"/>
              </a:spcAft>
            </a:pPr>
            <a:r>
              <a:rPr sz="4400" b="1">
                <a:solidFill>
                  <a:srgbClr val="202522"/>
                </a:solidFill>
                <a:latin typeface="맑은 고딕"/>
                <a:ea typeface="맑은 고딕"/>
              </a:rPr>
              <a:t>함께 쌓는 전문성</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P10</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337560"/>
            <a:ext cx="10789920" cy="859536"/>
          </a:xfrm>
          <a:prstGeom prst="rect">
            <a:avLst/>
          </a:prstGeom>
          <a:noFill/>
        </p:spPr>
        <p:txBody>
          <a:bodyPr wrap="square" lIns="0" rIns="0" tIns="0" bIns="0">
            <a:spAutoFit/>
          </a:bodyPr>
          <a:lstStyle/>
          <a:p>
            <a:pPr algn="l">
              <a:spcAft>
                <a:spcPts val="400"/>
              </a:spcAft>
            </a:pPr>
            <a:r>
              <a:rPr sz="2900" b="0">
                <a:solidFill>
                  <a:srgbClr val="202522"/>
                </a:solidFill>
                <a:latin typeface="맑은 고딕"/>
                <a:ea typeface="맑은 고딕"/>
              </a:rPr>
              <a:t>류경동 팀장 · 이관우 교육담당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제작 참고 / 본편 사용 제외</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자료 삽입 안내</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A01</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2990088"/>
            <a:ext cx="10789920" cy="658368"/>
          </a:xfrm>
          <a:prstGeom prst="rect">
            <a:avLst/>
          </a:prstGeom>
          <a:noFill/>
        </p:spPr>
        <p:txBody>
          <a:bodyPr wrap="square" lIns="0" rIns="0" tIns="0" bIns="0">
            <a:spAutoFit/>
          </a:bodyPr>
          <a:lstStyle/>
          <a:p>
            <a:pPr algn="l">
              <a:spcAft>
                <a:spcPts val="400"/>
              </a:spcAft>
            </a:pPr>
            <a:r>
              <a:rPr sz="1900" b="0">
                <a:solidFill>
                  <a:srgbClr val="202522"/>
                </a:solidFill>
                <a:latin typeface="맑은 고딕"/>
                <a:ea typeface="맑은 고딕"/>
              </a:rPr>
              <a:t>점선 영역에 실제 자료를 넣고, 자료명·IMG ID·점선을 삭제합니다.</a:t>
            </a:r>
          </a:p>
        </p:txBody>
      </p:sp>
      <p:sp>
        <p:nvSpPr>
          <p:cNvPr id="8" name="TextBox 7"/>
          <p:cNvSpPr txBox="1"/>
          <p:nvPr/>
        </p:nvSpPr>
        <p:spPr>
          <a:xfrm>
            <a:off x="685800" y="3785615"/>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P02–P04</a:t>
            </a:r>
          </a:p>
        </p:txBody>
      </p:sp>
      <p:sp>
        <p:nvSpPr>
          <p:cNvPr id="9" name="TextBox 8"/>
          <p:cNvSpPr txBox="1"/>
          <p:nvPr/>
        </p:nvSpPr>
        <p:spPr>
          <a:xfrm>
            <a:off x="2706624" y="3785615"/>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세미나·업무 소개</a:t>
            </a:r>
          </a:p>
        </p:txBody>
      </p:sp>
      <p:sp>
        <p:nvSpPr>
          <p:cNvPr id="10" name="TextBox 9"/>
          <p:cNvSpPr txBox="1"/>
          <p:nvPr/>
        </p:nvSpPr>
        <p:spPr>
          <a:xfrm>
            <a:off x="6117336" y="3785615"/>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IMG03: AI 4 AI / IMG04·05: Job Fair / IMG06: DCIS</a:t>
            </a:r>
          </a:p>
        </p:txBody>
      </p:sp>
      <p:cxnSp>
        <p:nvCxnSpPr>
          <p:cNvPr id="11" name="Connector 10"/>
          <p:cNvCxnSpPr/>
          <p:nvPr/>
        </p:nvCxnSpPr>
        <p:spPr>
          <a:xfrm>
            <a:off x="685800" y="4497324"/>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4547615"/>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P05–P07</a:t>
            </a:r>
          </a:p>
        </p:txBody>
      </p:sp>
      <p:sp>
        <p:nvSpPr>
          <p:cNvPr id="13" name="TextBox 12"/>
          <p:cNvSpPr txBox="1"/>
          <p:nvPr/>
        </p:nvSpPr>
        <p:spPr>
          <a:xfrm>
            <a:off x="2706624" y="4547615"/>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모집·참여·실습</a:t>
            </a:r>
          </a:p>
        </p:txBody>
      </p:sp>
      <p:sp>
        <p:nvSpPr>
          <p:cNvPr id="14" name="TextBox 13"/>
          <p:cNvSpPr txBox="1"/>
          <p:nvPr/>
        </p:nvSpPr>
        <p:spPr>
          <a:xfrm>
            <a:off x="6117336" y="4547615"/>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IMG07: 모집 / IMG15: GPU 과제 / IMG08·10: IAP</a:t>
            </a:r>
          </a:p>
        </p:txBody>
      </p:sp>
      <p:cxnSp>
        <p:nvCxnSpPr>
          <p:cNvPr id="15" name="Connector 14"/>
          <p:cNvCxnSpPr/>
          <p:nvPr/>
        </p:nvCxnSpPr>
        <p:spPr>
          <a:xfrm>
            <a:off x="685800" y="5259324"/>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685800" y="5309616"/>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P08</a:t>
            </a:r>
          </a:p>
        </p:txBody>
      </p:sp>
      <p:sp>
        <p:nvSpPr>
          <p:cNvPr id="17" name="TextBox 16"/>
          <p:cNvSpPr txBox="1"/>
          <p:nvPr/>
        </p:nvSpPr>
        <p:spPr>
          <a:xfrm>
            <a:off x="2706624" y="5309616"/>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녹화 영상</a:t>
            </a:r>
          </a:p>
        </p:txBody>
      </p:sp>
      <p:sp>
        <p:nvSpPr>
          <p:cNvPr id="18" name="TextBox 17"/>
          <p:cNvSpPr txBox="1"/>
          <p:nvPr/>
        </p:nvSpPr>
        <p:spPr>
          <a:xfrm>
            <a:off x="6117336" y="5309616"/>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IMG13: 교육 플랫폼의 녹화 목록 또는 재생 화면</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제작 참고 / 본편 사용 제외</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발표 내용과 확인 범위</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A02</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2990088"/>
            <a:ext cx="10789920" cy="658368"/>
          </a:xfrm>
          <a:prstGeom prst="rect">
            <a:avLst/>
          </a:prstGeom>
          <a:noFill/>
        </p:spPr>
        <p:txBody>
          <a:bodyPr wrap="square" lIns="0" rIns="0" tIns="0" bIns="0">
            <a:spAutoFit/>
          </a:bodyPr>
          <a:lstStyle/>
          <a:p>
            <a:pPr algn="l">
              <a:spcAft>
                <a:spcPts val="400"/>
              </a:spcAft>
            </a:pPr>
            <a:r>
              <a:rPr sz="1900" b="0">
                <a:solidFill>
                  <a:srgbClr val="202522"/>
                </a:solidFill>
                <a:latin typeface="맑은 고딕"/>
                <a:ea typeface="맑은 고딕"/>
              </a:rPr>
              <a:t>본인 경험과 실제 운영 사례를 구분합니다. 제공되지 않은 성과 수치는 넣지 않습니다.</a:t>
            </a:r>
          </a:p>
        </p:txBody>
      </p:sp>
      <p:sp>
        <p:nvSpPr>
          <p:cNvPr id="8" name="TextBox 7"/>
          <p:cNvSpPr txBox="1"/>
          <p:nvPr/>
        </p:nvSpPr>
        <p:spPr>
          <a:xfrm>
            <a:off x="685800" y="3785615"/>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참여 경험</a:t>
            </a:r>
          </a:p>
        </p:txBody>
      </p:sp>
      <p:sp>
        <p:nvSpPr>
          <p:cNvPr id="9" name="TextBox 8"/>
          <p:cNvSpPr txBox="1"/>
          <p:nvPr/>
        </p:nvSpPr>
        <p:spPr>
          <a:xfrm>
            <a:off x="2706624" y="3785615"/>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GPU 과제 · 다른 관점</a:t>
            </a:r>
          </a:p>
        </p:txBody>
      </p:sp>
      <p:sp>
        <p:nvSpPr>
          <p:cNvPr id="10" name="TextBox 9"/>
          <p:cNvSpPr txBox="1"/>
          <p:nvPr/>
        </p:nvSpPr>
        <p:spPr>
          <a:xfrm>
            <a:off x="6117336" y="3785615"/>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이관우의 실제 참여 경험. GPU 효율 개선 수치는 미제공.</a:t>
            </a:r>
          </a:p>
        </p:txBody>
      </p:sp>
      <p:cxnSp>
        <p:nvCxnSpPr>
          <p:cNvPr id="11" name="Connector 10"/>
          <p:cNvCxnSpPr/>
          <p:nvPr/>
        </p:nvCxnSpPr>
        <p:spPr>
          <a:xfrm>
            <a:off x="685800" y="4497324"/>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4547615"/>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운영 사례</a:t>
            </a:r>
          </a:p>
        </p:txBody>
      </p:sp>
      <p:sp>
        <p:nvSpPr>
          <p:cNvPr id="13" name="TextBox 12"/>
          <p:cNvSpPr txBox="1"/>
          <p:nvPr/>
        </p:nvSpPr>
        <p:spPr>
          <a:xfrm>
            <a:off x="2706624" y="4547615"/>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IAP · 로그 알림 자동화</a:t>
            </a:r>
          </a:p>
        </p:txBody>
      </p:sp>
      <p:sp>
        <p:nvSpPr>
          <p:cNvPr id="14" name="TextBox 13"/>
          <p:cNvSpPr txBox="1"/>
          <p:nvPr/>
        </p:nvSpPr>
        <p:spPr>
          <a:xfrm>
            <a:off x="6117336" y="4547615"/>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별도 Tech X 과제. 확인된 로그 알림 기능만 설명.</a:t>
            </a:r>
          </a:p>
        </p:txBody>
      </p:sp>
      <p:cxnSp>
        <p:nvCxnSpPr>
          <p:cNvPr id="15" name="Connector 14"/>
          <p:cNvCxnSpPr/>
          <p:nvPr/>
        </p:nvCxnSpPr>
        <p:spPr>
          <a:xfrm>
            <a:off x="685800" y="5259324"/>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685800" y="5309616"/>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공유 방식</a:t>
            </a:r>
          </a:p>
        </p:txBody>
      </p:sp>
      <p:sp>
        <p:nvSpPr>
          <p:cNvPr id="17" name="TextBox 16"/>
          <p:cNvSpPr txBox="1"/>
          <p:nvPr/>
        </p:nvSpPr>
        <p:spPr>
          <a:xfrm>
            <a:off x="2706624" y="5309616"/>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소개·실습 · 세미나 녹화</a:t>
            </a:r>
          </a:p>
        </p:txBody>
      </p:sp>
      <p:sp>
        <p:nvSpPr>
          <p:cNvPr id="18" name="TextBox 17"/>
          <p:cNvSpPr txBox="1"/>
          <p:nvPr/>
        </p:nvSpPr>
        <p:spPr>
          <a:xfrm>
            <a:off x="6117336" y="5309616"/>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IAP 소개·실습과 AI 4 AI 녹화 공유를 각각 설명.</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제작 참고 / 본편 사용 제외</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제출·촬영 일정</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A03</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2990088"/>
            <a:ext cx="10789920" cy="658368"/>
          </a:xfrm>
          <a:prstGeom prst="rect">
            <a:avLst/>
          </a:prstGeom>
          <a:noFill/>
        </p:spPr>
        <p:txBody>
          <a:bodyPr wrap="square" lIns="0" rIns="0" tIns="0" bIns="0">
            <a:spAutoFit/>
          </a:bodyPr>
          <a:lstStyle/>
          <a:p>
            <a:pPr algn="l">
              <a:spcAft>
                <a:spcPts val="400"/>
              </a:spcAft>
            </a:pPr>
            <a:r>
              <a:rPr sz="1900" b="0">
                <a:solidFill>
                  <a:srgbClr val="202522"/>
                </a:solidFill>
                <a:latin typeface="맑은 고딕"/>
                <a:ea typeface="맑은 고딕"/>
              </a:rPr>
              <a:t>10월 11일 기준 일정입니다. 행사 결과는 실제 진행을 확인한 뒤 반영합니다.</a:t>
            </a:r>
          </a:p>
        </p:txBody>
      </p:sp>
      <p:sp>
        <p:nvSpPr>
          <p:cNvPr id="8" name="TextBox 7"/>
          <p:cNvSpPr txBox="1"/>
          <p:nvPr/>
        </p:nvSpPr>
        <p:spPr>
          <a:xfrm>
            <a:off x="685800" y="3785615"/>
            <a:ext cx="1865376" cy="5120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10월 12일</a:t>
            </a:r>
          </a:p>
        </p:txBody>
      </p:sp>
      <p:sp>
        <p:nvSpPr>
          <p:cNvPr id="9" name="TextBox 8"/>
          <p:cNvSpPr txBox="1"/>
          <p:nvPr/>
        </p:nvSpPr>
        <p:spPr>
          <a:xfrm>
            <a:off x="2706624" y="3785615"/>
            <a:ext cx="3236976" cy="5120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OutSystems 세미나 예정</a:t>
            </a:r>
          </a:p>
        </p:txBody>
      </p:sp>
      <p:sp>
        <p:nvSpPr>
          <p:cNvPr id="10" name="TextBox 9"/>
          <p:cNvSpPr txBox="1"/>
          <p:nvPr/>
        </p:nvSpPr>
        <p:spPr>
          <a:xfrm>
            <a:off x="6117336" y="3785615"/>
            <a:ext cx="5385816" cy="5120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실제 개최 확인 후 필요한 자료 갱신.</a:t>
            </a:r>
          </a:p>
        </p:txBody>
      </p:sp>
      <p:cxnSp>
        <p:nvCxnSpPr>
          <p:cNvPr id="11" name="Connector 10"/>
          <p:cNvCxnSpPr/>
          <p:nvPr/>
        </p:nvCxnSpPr>
        <p:spPr>
          <a:xfrm>
            <a:off x="685800" y="4306824"/>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4357116"/>
            <a:ext cx="1865376" cy="5120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10월 14일</a:t>
            </a:r>
          </a:p>
        </p:txBody>
      </p:sp>
      <p:sp>
        <p:nvSpPr>
          <p:cNvPr id="13" name="TextBox 12"/>
          <p:cNvSpPr txBox="1"/>
          <p:nvPr/>
        </p:nvSpPr>
        <p:spPr>
          <a:xfrm>
            <a:off x="2706624" y="4357116"/>
            <a:ext cx="3236976" cy="5120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자료 제출</a:t>
            </a:r>
          </a:p>
        </p:txBody>
      </p:sp>
      <p:sp>
        <p:nvSpPr>
          <p:cNvPr id="14" name="TextBox 13"/>
          <p:cNvSpPr txBox="1"/>
          <p:nvPr/>
        </p:nvSpPr>
        <p:spPr>
          <a:xfrm>
            <a:off x="6117336" y="4357116"/>
            <a:ext cx="5385816" cy="5120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제출 이후 영상팀 편집. 16일 발표 결과는 미리 넣지 않음.</a:t>
            </a:r>
          </a:p>
        </p:txBody>
      </p:sp>
      <p:cxnSp>
        <p:nvCxnSpPr>
          <p:cNvPr id="15" name="Connector 14"/>
          <p:cNvCxnSpPr/>
          <p:nvPr/>
        </p:nvCxnSpPr>
        <p:spPr>
          <a:xfrm>
            <a:off x="685800" y="4878324"/>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685800" y="4928616"/>
            <a:ext cx="1865376" cy="5120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10월 16일</a:t>
            </a:r>
          </a:p>
        </p:txBody>
      </p:sp>
      <p:sp>
        <p:nvSpPr>
          <p:cNvPr id="17" name="TextBox 16"/>
          <p:cNvSpPr txBox="1"/>
          <p:nvPr/>
        </p:nvSpPr>
        <p:spPr>
          <a:xfrm>
            <a:off x="2706624" y="4928616"/>
            <a:ext cx="3236976" cy="5120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Tech X 최종 발표 예정</a:t>
            </a:r>
          </a:p>
        </p:txBody>
      </p:sp>
      <p:sp>
        <p:nvSpPr>
          <p:cNvPr id="18" name="TextBox 17"/>
          <p:cNvSpPr txBox="1"/>
          <p:nvPr/>
        </p:nvSpPr>
        <p:spPr>
          <a:xfrm>
            <a:off x="6117336" y="4928616"/>
            <a:ext cx="5385816" cy="5120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발표일이며 프로젝트 완료·시상일을 뜻하지 않음.</a:t>
            </a:r>
          </a:p>
        </p:txBody>
      </p:sp>
      <p:cxnSp>
        <p:nvCxnSpPr>
          <p:cNvPr id="19" name="Connector 18"/>
          <p:cNvCxnSpPr/>
          <p:nvPr/>
        </p:nvCxnSpPr>
        <p:spPr>
          <a:xfrm>
            <a:off x="685800" y="5449824"/>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685800" y="5500116"/>
            <a:ext cx="1865376" cy="5120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10월 19일</a:t>
            </a:r>
          </a:p>
        </p:txBody>
      </p:sp>
      <p:sp>
        <p:nvSpPr>
          <p:cNvPr id="21" name="TextBox 20"/>
          <p:cNvSpPr txBox="1"/>
          <p:nvPr/>
        </p:nvSpPr>
        <p:spPr>
          <a:xfrm>
            <a:off x="2706624" y="5500116"/>
            <a:ext cx="3236976" cy="5120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촬영</a:t>
            </a:r>
          </a:p>
        </p:txBody>
      </p:sp>
      <p:sp>
        <p:nvSpPr>
          <p:cNvPr id="22" name="TextBox 21"/>
          <p:cNvSpPr txBox="1"/>
          <p:nvPr/>
        </p:nvSpPr>
        <p:spPr>
          <a:xfrm>
            <a:off x="6117336" y="5500116"/>
            <a:ext cx="5385816" cy="5120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최종 대본·장표·자료 큐를 같은 버전으로 사용.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4 AI — 함께 쌓는 전문성</dc:title>
  <dc:subject/>
  <dc:creator>Data Center팀</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