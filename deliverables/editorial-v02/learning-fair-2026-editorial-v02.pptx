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P01 / S01 / 최종 00:20–00:50</a:t>
            </a:r>
          </a:p>
          <a:p>
            <a:r>
              <a:t>원본 버전: editorial-v0.2 / 2026-10-11</a:t>
            </a:r>
          </a:p>
          <a:p>
            <a:r>
              <a:t>자료 큐는 발화 기준. 타임코드는 최종 편집 목표이며 실측 발화 시점이 아니다.</a:t>
            </a:r>
          </a:p>
          <a:p>
            <a:r>
              <a:t>자료 등장: 같은 팀이어도</a:t>
            </a:r>
          </a:p>
          <a:p>
            <a:r>
              <a:t>P01을 0.25초 디졸브로 표시. 핵심 문장이 보이면 정지 화면으로 유지.</a:t>
            </a:r>
          </a:p>
          <a:p>
            <a:r>
              <a:t>촬영: 2인 미디엄샷으로 시작. 첫 개인 발화에 이름·직함 3초 자막. 팀장 발화 시 자연스럽게 단독 미디엄샷.</a:t>
            </a:r>
          </a:p>
          <a:p>
            <a:r>
              <a:t>원본: 편집 가능한 키워드·도식</a:t>
            </a:r>
          </a:p>
          <a:p>
            <a:r>
              <a:t>스크립트:</a:t>
            </a:r>
          </a:p>
          <a:p>
            <a:r>
              <a:t>이관우 교육담당: [P01 등장] 같은 팀이어도, 다른 부서가 무슨 일을 하는지 자세히 알기는 어렵습니다.</a:t>
            </a:r>
          </a:p>
          <a:p>
            <a:r>
              <a:t>류경동 팀장: 저희 Data Center팀은 약 160명이 서버와 클라우드를 구축하고 운영합니다. 회사가 AI를 잘 쓰도록 돕는 만큼, 저희도 새로운 기술과 동료의 일을 배워야 합니다.</a:t>
            </a:r>
          </a:p>
          <a:p>
            <a:r>
              <a:t>이관우 교육담당: 먼저, 서로의 일을 소개한 자리입니다.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P02 / S02 / 최종 00:50–01:20</a:t>
            </a:r>
          </a:p>
          <a:p>
            <a:r>
              <a:t>원본 버전: editorial-v0.2 / 2026-10-11</a:t>
            </a:r>
          </a:p>
          <a:p>
            <a:r>
              <a:t>자료 큐는 발화 기준. 타임코드는 최종 편집 목표이며 실측 발화 시점이 아니다.</a:t>
            </a:r>
          </a:p>
          <a:p>
            <a:r>
              <a:t>자료 등장: 11개 부서가</a:t>
            </a:r>
          </a:p>
          <a:p>
            <a:r>
              <a:t>P02의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IMG04, IMG05</a:t>
            </a:r>
          </a:p>
          <a:p>
            <a:r>
              <a:t>스크립트:</a:t>
            </a:r>
          </a:p>
          <a:p>
            <a:r>
              <a:t>이관우 교육담당: 8월 Job Fair에는 [P02 등장] 11개 부서가 부스를 열었습니다. 맡은 일을 A0 판넬에 담아 직접 소개했죠. 평소 함께 일하는 부서에도 궁금했던 일을 물어볼 수 있는 자리였습니다.</a:t>
            </a:r>
          </a:p>
          <a:p>
            <a:r>
              <a:t>류경동 팀장: 저는 이런 교류가 결속력과 사기를 높이고, 원팀으로 일하는 문화를 만드는 데 도움이 된다고 봅니다.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**IMG04 — Job Fair</a:t>
            </a:r>
          </a:p>
          <a:p>
            <a:r>
              <a:t>부스 전경**: 11개 부서가 서로 설명을 듣는 실제 행사 사진 1장. 일반 전시 사진은 사용하지 않음.</a:t>
            </a:r>
          </a:p>
          <a:p>
            <a:r>
              <a:t>- **IMG05 — 업무 소개</a:t>
            </a:r>
          </a:p>
          <a:p>
            <a:r>
              <a:t>A0 판넬**: 실제 판넬 1종. 부서명·업무 제목이 읽히도록 필요한 부분을 확대.</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P03 / S03 / 최종 01:20–01:32</a:t>
            </a:r>
          </a:p>
          <a:p>
            <a:r>
              <a:t>원본 버전: editorial-v0.2 / 2026-10-11</a:t>
            </a:r>
          </a:p>
          <a:p>
            <a:r>
              <a:t>자료 큐는 발화 기준. 타임코드는 최종 편집 목표이며 실측 발화 시점이 아니다.</a:t>
            </a:r>
          </a:p>
          <a:p>
            <a:r>
              <a:t>자료 등장: 매달 DCIS에서도</a:t>
            </a:r>
          </a:p>
          <a:p>
            <a:r>
              <a:t>P03의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IMG06</a:t>
            </a:r>
          </a:p>
          <a:p>
            <a:r>
              <a:t>스크립트:</a:t>
            </a:r>
          </a:p>
          <a:p>
            <a:r>
              <a:t>류경동 팀장: [P03 등장] 매달 DCIS에서도 주요 과제와 서비스, 연구 중인 기술을 소개하며 서로의 일을 나눕니다.</a:t>
            </a:r>
          </a:p>
          <a:p>
            <a:r>
              <a:t>업무·서비스·연구의 글자 전체를 함께 표시한다. 별도의 DCIS 코너 오프닝은 없이 앞 장면과 같은 톤으로 이어간다.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**IMG06 — DCIS 대표 세션</a:t>
            </a:r>
          </a:p>
          <a:p>
            <a:r>
              <a:t>표지 또는 공지**: 주요 과제·서비스·연구 중 하나가 드러나는 실제 발표 표지나 공지 1장.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P04 / S04 / 최종 01:32–02:09</a:t>
            </a:r>
          </a:p>
          <a:p>
            <a:r>
              <a:t>원본 버전: editorial-v0.2 / 2026-10-11</a:t>
            </a:r>
          </a:p>
          <a:p>
            <a:r>
              <a:t>자료 큐는 발화 기준. 타임코드는 최종 편집 목표이며 실측 발화 시점이 아니다.</a:t>
            </a:r>
          </a:p>
          <a:p>
            <a:r>
              <a:t>자료 등장: Tech X는 직접 참여하는</a:t>
            </a:r>
          </a:p>
          <a:p>
            <a:r>
              <a:t>P04의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IMG07</a:t>
            </a:r>
          </a:p>
          <a:p>
            <a:r>
              <a:t>스크립트:</a:t>
            </a:r>
          </a:p>
          <a:p>
            <a:r>
              <a:t>이관우 교육담당: [P04 등장] Tech X는 직접 참여하는 프로그램입니다. 3월에 팀에서 참가자를 모집했습니다. 각 파트가 프로젝트를 하나씩 제시하고, 지원자 중 필요한 인원을 선발했죠. 4월에 시작했고, 참여 규모는 6개 과제, 44명입니다.</a:t>
            </a:r>
          </a:p>
          <a:p>
            <a:r>
              <a:t>류경동 팀장: 동료의 관점에서 보면, 평소 생각하지 못한 방법으로 문제를 풀 수도 있겠죠.</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**IMG07 — Tech X</a:t>
            </a:r>
          </a:p>
          <a:p>
            <a:r>
              <a:t>3월 모집 공고**: 파트별 과제 주제와 지원 안내를 확인할 수 있는 실제 모집 공고. 참여 집계는 촬영 시점에 확인.</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P05 / S05 / 최종 02:09–02:49</a:t>
            </a:r>
          </a:p>
          <a:p>
            <a:r>
              <a:t>원본 버전: editorial-v0.2 / 2026-10-11</a:t>
            </a:r>
          </a:p>
          <a:p>
            <a:r>
              <a:t>자료 큐는 발화 기준. 타임코드는 최종 편집 목표이며 실측 발화 시점이 아니다.</a:t>
            </a:r>
          </a:p>
          <a:p>
            <a:r>
              <a:t>자료 등장: 저는 k8s에서 GPU 자원을</a:t>
            </a:r>
          </a:p>
          <a:p>
            <a:r>
              <a:t>P05의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IMG15</a:t>
            </a:r>
          </a:p>
          <a:p>
            <a:r>
              <a:t>스크립트:</a:t>
            </a:r>
          </a:p>
          <a:p>
            <a:r>
              <a:t>류경동 팀장: 이관우 님도 직접 참여하셨죠.</a:t>
            </a:r>
          </a:p>
          <a:p>
            <a:r>
              <a:t>이관우 교육담당: 네. [P05 등장] 저는 k8s에서 GPU 자원을 효율적으로 쓰는 프로젝트에 참여했습니다. 관심이 있어서 지원했는데, 함께 이야기하면서 다른 부서가 문제에 접근하는 관점을 알게 됐습니다. 동료와 교류하는 과정 자체가 제게는 배움이었습니다.</a:t>
            </a:r>
          </a:p>
          <a:p>
            <a:r>
              <a:t>류경동 팀장: 다른 과제 중에는 실제 운영에 적용된 사례도 있습니다.</a:t>
            </a:r>
          </a:p>
          <a:p>
            <a:r>
              <a:t>이관우의 실제 참여 경험을 충분히 듣는다. 팀장은 처음 듣는 듯 놀라거나 구체적인 현장 기억을 덧붙이지 않는다. 과제 자료 제목을 확인할 여유를 둔다. 마지막에 다른 과제라고 명시한 뒤 S06의 IAP로 전환한다.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**IMG15 — k8s GPU 과제</a:t>
            </a:r>
          </a:p>
          <a:p>
            <a:r>
              <a:t>표지 또는 논의 자료**: 이관우가 참여한 실제 과제의 제목·논의 내용이 드러나는 자료 1장. 성과 그래프나 가상 회의 사진을 만들지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P06 / S06 / 최종 02:49–03:24</a:t>
            </a:r>
          </a:p>
          <a:p>
            <a:r>
              <a:t>원본 버전: editorial-v0.2 / 2026-10-11</a:t>
            </a:r>
          </a:p>
          <a:p>
            <a:r>
              <a:t>자료 큐는 발화 기준. 타임코드는 최종 편집 목표이며 실측 발화 시점이 아니다.</a:t>
            </a:r>
          </a:p>
          <a:p>
            <a:r>
              <a:t>자료 등장: IAP가 그 사례입니다</a:t>
            </a:r>
          </a:p>
          <a:p>
            <a:r>
              <a:t>P06의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IMG08, IMG09, IMG10</a:t>
            </a:r>
          </a:p>
          <a:p>
            <a:r>
              <a:t>스크립트:</a:t>
            </a:r>
          </a:p>
          <a:p>
            <a:r>
              <a:t>류경동 팀장: [P06 등장] IAP가 그 사례입니다. 서버 로그의 특정 패턴을 감지해, 정해진 형식으로 메신저에 동보합니다. 이 알림 수작업을 대신합니다. 사용할 담당자가 직접 익히는 시간도 필요하겠죠.</a:t>
            </a:r>
          </a:p>
          <a:p>
            <a:r>
              <a:t>이관우 교육담당: [P06 소개·실습 자료 강조] 6월에는 팀 소개 세미나를, 7월에는 에이전트를 등록할 실무 담당자 25명을 대상으로 실습을 진행했습니다.</a:t>
            </a:r>
          </a:p>
          <a:p>
            <a:r>
              <a:t>추가 큐: 6월에는 팀 소개 세미나를 / P06 소개·실습 자료 강조 / 로그 알림 기능 설명 뒤 6월 소개·7월 실습 내용과 IMG10 영역으로 시선을 옮긴다. 소개 사진 IMG09는 필요할 때 같은 장면 안에서 교체한다.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**IMG08 — 로그 알림</a:t>
            </a:r>
          </a:p>
          <a:p>
            <a:r>
              <a:t>실제 기능 화면**: 민감정보를 가린 실제 로그 패턴 감지·메신저 동보 화면. 가상 로그를 실적으로 제시하지 않음.</a:t>
            </a:r>
          </a:p>
          <a:p>
            <a:r>
              <a:t>- **IMG10 — 실무 담당자</a:t>
            </a:r>
          </a:p>
          <a:p>
            <a:r>
              <a:t>실습 사진·교안**: 7월 실무 담당자 대상 실습의 실제 사진이나 교안. 6월 소개 자료 IMG09는 같은 장면 내 교체 가능.</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P07 / S07 / 최종 03:24–04:01</a:t>
            </a:r>
          </a:p>
          <a:p>
            <a:r>
              <a:t>원본 버전: editorial-v0.2 / 2026-10-11</a:t>
            </a:r>
          </a:p>
          <a:p>
            <a:r>
              <a:t>자료 큐는 발화 기준. 타임코드는 최종 편집 목표이며 실측 발화 시점이 아니다.</a:t>
            </a:r>
          </a:p>
          <a:p>
            <a:r>
              <a:t>자료 등장: AI 4 AI 세미나입니다</a:t>
            </a:r>
          </a:p>
          <a:p>
            <a:r>
              <a:t>P07의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IMG02, IMG03</a:t>
            </a:r>
          </a:p>
          <a:p>
            <a:r>
              <a:t>스크립트:</a:t>
            </a:r>
          </a:p>
          <a:p>
            <a:r>
              <a:t>이관우 교육담당: 동료에게 배우는 것과 함께, 팀 밖의 전문가도 만나고 있습니다. [P07 등장] AI 4 AI 세미나입니다. AI를 위한 첨단 인프라라는 뜻으로, 매달 외부 전문가를 초청합니다.</a:t>
            </a:r>
          </a:p>
          <a:p>
            <a:r>
              <a:t>류경동 팀장: 운영에 AI를 쓰는 AIOps와 국가슈퍼컴퓨터의 기술 흐름처럼, AI를 위한 인프라와 운영 방법을 함께 다룹니다. 센터원에게도 열려 있는 세미나입니다.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**IMG03 — AI 4 AI</a:t>
            </a:r>
          </a:p>
          <a:p>
            <a:r>
              <a:t>대표 세미나 포스터**: Cisco AIOps 또는 KISTI 슈퍼컴퓨터 세미나의 실제 포스터. 행사 사진 IMG02로 교체 가능. 10월 자료는 개최 확인 뒤 사용.</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P08 / S08 / 최종 04:01–04:21</a:t>
            </a:r>
          </a:p>
          <a:p>
            <a:r>
              <a:t>원본 버전: editorial-v0.2 / 2026-10-11</a:t>
            </a:r>
          </a:p>
          <a:p>
            <a:r>
              <a:t>자료 큐는 발화 기준. 타임코드는 최종 편집 목표이며 실측 발화 시점이 아니다.</a:t>
            </a:r>
          </a:p>
          <a:p>
            <a:r>
              <a:t>자료 등장: 녹화해서 교육 플랫폼에</a:t>
            </a:r>
          </a:p>
          <a:p>
            <a:r>
              <a:t>P08의 실제 자료와 핵심 문장을 함께 표시한다. 점선 자리·자료명 안내는 원본 삽입 뒤 제거한다. 등장 후 정지 화면으로 유지.</a:t>
            </a:r>
          </a:p>
          <a:p>
            <a:r>
              <a:t>촬영: 발화자 미디엄샷. 자료 큐에서 장표 전체 또는 인물·자료 분할 화면. 상대는 같은 자료를 보고 다음 말을 받는다.</a:t>
            </a:r>
          </a:p>
          <a:p>
            <a:r>
              <a:t>원본: IMG13</a:t>
            </a:r>
          </a:p>
          <a:p>
            <a:r>
              <a:t>스크립트:</a:t>
            </a:r>
          </a:p>
          <a:p>
            <a:r>
              <a:t>류경동 팀장: 세미나는 [P08 등장] 녹화해서 교육 플랫폼에 올리고, [P08 교육 플랫폼 공유 강조] 센터원과 공유합니다. 그날 참석하지 못한 동료도, 나중에 다시 듣고 싶은 동료도 찾아볼 수 있도록요.</a:t>
            </a:r>
          </a:p>
          <a:p>
            <a:r>
              <a:t>추가 큐: 센터원과 공유합니다 / P08 교육 플랫폼 공유 강조 / 교육 플랫폼의 센터원 공유 문구에 얇은 밑줄을 표시한다. 실제 플랫폼을 확보하면 동일 큐에서 IMG13을 보여준다.</a:t>
            </a:r>
          </a:p>
          <a:p>
            <a:r>
              <a:t>발화 후 3초 안팎으로 녹화·교육 플랫폼·공유 대상을 눈으로 확인한다. 실측에 따라 화자 컷과 자료 홀드를 조정한다. 20초 전체를 플랫폼 도식 하나로 채우지 않는다.</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a:p>
            <a:r>
              <a:t>자료 삽입 슬롯:</a:t>
            </a:r>
          </a:p>
          <a:p>
            <a:r>
              <a:t>- **IMG13 — 교육 플랫폼</a:t>
            </a:r>
          </a:p>
          <a:p>
            <a:r>
              <a:t>녹화 목록·재생 화면**: 실제 AI 4 AI 녹화 항목이 보이는 화면. 계정 등 가림 처리. 시청 수·만족도는 추가하지 않음.</a:t>
            </a:r>
          </a:p>
          <a:p>
            <a:r>
              <a:t>이 PPTX는 사용자가 실제 사진·화면 원본을 나중에 붙이는 제작본이다. 점선 영역의 ‘자료 삽입’ 안내와 IMG ID는 교체할 편집 가능한 도형이다. 빈 삽입 영역을 최종 영상으로 그대로 사용하라는 뜻이 아니다. 최종 편집 전 해당 실제 자료를 삽입하고 안내 글자와 점선을 제거한다. 원본을 쓰지 않으면 영상팀이 같은 메시지의 키워드 화면으로 다시 구성한다.</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P09 / S09 / 최종 04:21–04:44</a:t>
            </a:r>
          </a:p>
          <a:p>
            <a:r>
              <a:t>원본 버전: editorial-v0.2 / 2026-10-11</a:t>
            </a:r>
          </a:p>
          <a:p>
            <a:r>
              <a:t>자료 큐는 발화 기준. 타임코드는 최종 편집 목표이며 실측 발화 시점이 아니다.</a:t>
            </a:r>
          </a:p>
          <a:p>
            <a:r>
              <a:t>자료 등장: 참가자들은 각자 시간 일부를</a:t>
            </a:r>
          </a:p>
          <a:p>
            <a:r>
              <a:t>P09을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[P09 등장] 참가자들은 각자 시간 일부를 내서 참여합니다. 우수 프로젝트는 시상하고 성과에 반영합니다.</a:t>
            </a:r>
          </a:p>
          <a:p>
            <a:r>
              <a:t>류경동 팀장: 다른 조직에서도 참여할 기회와 그 시도를 인정하는 방법을 함께 마련해 보면 좋겠습니다.</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P10 / S10 / 최종 04:44–04:55</a:t>
            </a:r>
          </a:p>
          <a:p>
            <a:r>
              <a:t>원본 버전: editorial-v0.2 / 2026-10-11</a:t>
            </a:r>
          </a:p>
          <a:p>
            <a:r>
              <a:t>자료 큐는 발화 기준. 타임코드는 최종 편집 목표이며 실측 발화 시점이 아니다.</a:t>
            </a:r>
          </a:p>
          <a:p>
            <a:r>
              <a:t>자료 등장: AI 4 AI. 그 일</a:t>
            </a:r>
          </a:p>
          <a:p>
            <a:r>
              <a:t>P10을 0.25초 디졸브로 표시. 핵심 문장이 보이면 정지 화면으로 유지.</a:t>
            </a:r>
          </a:p>
          <a:p>
            <a:r>
              <a:t>촬영: 발화자 미디엄샷. 자료 큐에서 장표 전체 또는 인물·자료 분할 화면. 상대는 같은 자료를 보고 다음 말을 받는다.</a:t>
            </a:r>
          </a:p>
          <a:p>
            <a:r>
              <a:t>원본: 편집 가능한 키워드·도식</a:t>
            </a:r>
          </a:p>
          <a:p>
            <a:r>
              <a:t>스크립트:</a:t>
            </a:r>
          </a:p>
          <a:p>
            <a:r>
              <a:t>이관우 교육담당: Data Center팀이었습니다.</a:t>
            </a:r>
          </a:p>
          <a:p>
            <a:r>
              <a:t>류경동 팀장: [P10 등장] AI 4 AI. 그 일, 같이 해볼까요?</a:t>
            </a:r>
          </a:p>
          <a:p>
            <a:r>
              <a:t>화면 전환은 배정 시간에 포함한다. 설명 중 문장 전체를 자막으로 다시 쓰지 않는다. 장표를 충분히 읽은 뒤 다음 장면의 큐에서 전환.</a:t>
            </a:r>
          </a:p>
          <a:p>
            <a:r>
              <a:t>2026-10-11까지 사용자 제공 사실. 이관우의 k8s GPU 과제 참여 경험은 본인 진술을 촬영용으로 다듬은 문장이다. 팀장의 교류 관점은 사용자 확인을 바탕으로 구성했다. 과거 발언의 녹취 인용·전체 구성원의 경험·GPU 효율 개선 실적을 뜻하지 않는다.</a:t>
            </a:r>
          </a:p>
          <a:p>
            <a:r>
              <a:t>PPTX에는 실제 애니메이션이 없다. 효과와 자료 전환은 영상팀 편집 지시다.</a:t>
            </a:r>
          </a:p>
          <a:p>
            <a:r>
              <a:t>실제 자료는 사용자가 별도로 삽입한다. 범용 외부 사진으로 실제 행사를 대체하지 않는다.</a:t>
            </a:r>
          </a:p>
          <a:p>
            <a:r>
              <a:t>출처: 사용자 브리프·추가 확인. 사실과 원본 ID 기준: docs/03-facts-and-assets.md.</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A01 / 숨김 제작 부록 / 2026-10-11</a:t>
            </a:r>
          </a:p>
          <a:p>
            <a:r>
              <a:t>사용자가 나중에 붙일 실제 자료</a:t>
            </a:r>
          </a:p>
          <a:p>
            <a:r>
              <a:t>본편 점선 영역에 자료명과 IMG ID를 적었습니다. 삽입 후 점선·안내 글자를 제거합니다.</a:t>
            </a:r>
          </a:p>
          <a:p/>
          <a:p>
            <a:r>
              <a:t>P02–P04 / 부스·판넬·세션·모집 / IMG04·05: Job Fair / IMG06: DCIS / IMG07: Tech X 공고</a:t>
            </a:r>
          </a:p>
          <a:p>
            <a:r>
              <a:t>P05–P06 / 참여 과제·기능·실습 / IMG15: k8s GPU 과제 / IMG08·10: IAP 기능·실습</a:t>
            </a:r>
          </a:p>
          <a:p>
            <a:r>
              <a:t>P07–P08 / 포스터·녹화 화면 / IMG03: 대표 세미나 / IMG13: 교육 플랫폼</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A02 / 숨김 제작 부록 / 2026-10-11</a:t>
            </a:r>
          </a:p>
          <a:p>
            <a:r>
              <a:t>확인된 경험과 표현 범위</a:t>
            </a:r>
          </a:p>
          <a:p>
            <a:r>
              <a:t>실제 경험을 반영하되 미제공 성과를 만들지 않습니다. 자세한 삽입·효과 지시는 노트에 있습니다.</a:t>
            </a:r>
          </a:p>
          <a:p/>
          <a:p>
            <a:r>
              <a:t>이관우 / k8s GPU 과제 참여 / 다양한 부서의 관점을 접한 본인 경험. 효율 향상 수치는 없음.</a:t>
            </a:r>
          </a:p>
          <a:p>
            <a:r>
              <a:t>팀장 관점 / 결속·사기·원팀 문화 / 교류를 중요하게 보는 이유. 측정된 효과나 과거 발언 인용 아님.</a:t>
            </a:r>
          </a:p>
          <a:p>
            <a:r>
              <a:t>IAP / 별도 과제의 적용 사례 / 로그 알림 수작업 대체. GPU 과제와 별개이며 35초 한 장면.</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A03 / 숨김 제작 부록 / 2026-10-11</a:t>
            </a:r>
          </a:p>
          <a:p>
            <a:r>
              <a:t>10월 14일 제출 · 19일 촬영</a:t>
            </a:r>
          </a:p>
          <a:p>
            <a:r>
              <a:t>현재 기준일 10월 11일. 일정이 지났다는 이유만으로 개최·발표·시상 완료로 바꾸지 않습니다.</a:t>
            </a:r>
          </a:p>
          <a:p/>
          <a:p>
            <a:r>
              <a:t>10월 12일 / OutSystems 예정 / 실제 개최 확인 후 포스터·사진과 필요한 문구 갱신.</a:t>
            </a:r>
          </a:p>
          <a:p>
            <a:r>
              <a:t>10월 14일 / 자료 제출 → 영상팀 편집 / 16일 최종 발표 결과를 미리 완료형으로 넣지 않음.</a:t>
            </a:r>
          </a:p>
          <a:p>
            <a:r>
              <a:t>10월 16일 / 19일 / 최종 발표 예정 / 촬영 / 발표·결과를 확인한 부분만 교체. 시상일은 아직 미확인.</a:t>
            </a:r>
          </a:p>
          <a:p>
            <a:r>
              <a:t>본편 사용 제외. 검토 PDF·PNG에는 이 숨김 부록도 포함된다.</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옆 부서는</a:t>
            </a:r>
          </a:p>
          <a:p>
            <a:pPr algn="l">
              <a:spcAft>
                <a:spcPts val="400"/>
              </a:spcAft>
            </a:pPr>
            <a:r>
              <a:rPr sz="4400" b="1">
                <a:solidFill>
                  <a:srgbClr val="202522"/>
                </a:solidFill>
                <a:latin typeface="맑은 고딕"/>
                <a:ea typeface="맑은 고딕"/>
              </a:rPr>
              <a:t>무슨 일을 할까?</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P01</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Data Center팀  ·  서버와 클라우드의 구축·운영</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Job Fair  ·  8월</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우리 부서는 이런 일을 합니다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P02</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각 부서의 업무를</a:t>
            </a:r>
          </a:p>
          <a:p>
            <a:pPr algn="l">
              <a:spcAft>
                <a:spcPts val="400"/>
              </a:spcAft>
            </a:pPr>
            <a:r>
              <a:rPr sz="2500" b="0">
                <a:solidFill>
                  <a:srgbClr val="202522"/>
                </a:solidFill>
                <a:latin typeface="맑은 고딕"/>
                <a:ea typeface="맑은 고딕"/>
              </a:rPr>
              <a:t>A0 판넬로 직접 소개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소개 부서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11개</a:t>
            </a:r>
          </a:p>
        </p:txBody>
      </p:sp>
      <p:sp>
        <p:nvSpPr>
          <p:cNvPr id="10" name="TextBox 9"/>
          <p:cNvSpPr txBox="1"/>
          <p:nvPr/>
        </p:nvSpPr>
        <p:spPr>
          <a:xfrm>
            <a:off x="2432304" y="4471416"/>
            <a:ext cx="3739896" cy="59436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부스에서 듣고, 궁금한 일을 묻는 자리</a:t>
            </a:r>
          </a:p>
        </p:txBody>
      </p:sp>
      <p:sp>
        <p:nvSpPr>
          <p:cNvPr id="11" name="P02-asset-frame-IMG04"/>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2" name="P02-asset-instruction-IMG04"/>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3" name="P02-asset-label-IMG04"/>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Job Fair</a:t>
            </a:r>
          </a:p>
          <a:p>
            <a:pPr algn="ctr">
              <a:spcAft>
                <a:spcPts val="400"/>
              </a:spcAft>
            </a:pPr>
            <a:r>
              <a:rPr sz="2000" b="1">
                <a:solidFill>
                  <a:srgbClr val="202522"/>
                </a:solidFill>
                <a:latin typeface="맑은 고딕"/>
                <a:ea typeface="맑은 고딕"/>
              </a:rPr>
              <a:t>부스 전경</a:t>
            </a:r>
          </a:p>
        </p:txBody>
      </p:sp>
      <p:sp>
        <p:nvSpPr>
          <p:cNvPr id="14" name="P02-asset-id-IMG04"/>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IMG04</a:t>
            </a:r>
          </a:p>
        </p:txBody>
      </p:sp>
      <p:sp>
        <p:nvSpPr>
          <p:cNvPr id="15" name="P02-asset-frame-IMG05"/>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2-asset-instruction-IMG05"/>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2-asset-label-IMG05"/>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업무 소개</a:t>
            </a:r>
          </a:p>
          <a:p>
            <a:pPr algn="ctr">
              <a:spcAft>
                <a:spcPts val="400"/>
              </a:spcAft>
            </a:pPr>
            <a:r>
              <a:rPr sz="2000" b="1">
                <a:solidFill>
                  <a:srgbClr val="202522"/>
                </a:solidFill>
                <a:latin typeface="맑은 고딕"/>
                <a:ea typeface="맑은 고딕"/>
              </a:rPr>
              <a:t>A0 판넬</a:t>
            </a:r>
          </a:p>
        </p:txBody>
      </p:sp>
      <p:sp>
        <p:nvSpPr>
          <p:cNvPr id="18" name="P02-asset-id-IMG05"/>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IMG05</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DCIS  ·  월 1회</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요즘 우리 부서가</a:t>
            </a:r>
          </a:p>
          <a:p>
            <a:pPr algn="l">
              <a:spcAft>
                <a:spcPts val="400"/>
              </a:spcAft>
            </a:pPr>
            <a:r>
              <a:rPr sz="4000" b="1">
                <a:solidFill>
                  <a:srgbClr val="202522"/>
                </a:solidFill>
                <a:latin typeface="맑은 고딕"/>
                <a:ea typeface="맑은 고딕"/>
              </a:rPr>
              <a:t>하고 있는 일</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Data Center Idea Sync</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P03</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주요 과제 · 서비스</a:t>
            </a:r>
          </a:p>
          <a:p>
            <a:pPr algn="l">
              <a:spcAft>
                <a:spcPts val="400"/>
              </a:spcAft>
            </a:pPr>
            <a:r>
              <a:rPr sz="2500" b="0">
                <a:solidFill>
                  <a:srgbClr val="202522"/>
                </a:solidFill>
                <a:latin typeface="맑은 고딕"/>
                <a:ea typeface="맑은 고딕"/>
              </a:rPr>
              <a:t>연구 중인 기술</a:t>
            </a:r>
          </a:p>
        </p:txBody>
      </p:sp>
      <p:sp>
        <p:nvSpPr>
          <p:cNvPr id="9" name="P03-asset-frame-IMG06"/>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0" name="P03-asset-instruction-IMG06"/>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1" name="P03-asset-label-IMG06"/>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DCIS 대표 세션</a:t>
            </a:r>
          </a:p>
          <a:p>
            <a:pPr algn="ctr">
              <a:spcAft>
                <a:spcPts val="400"/>
              </a:spcAft>
            </a:pPr>
            <a:r>
              <a:rPr sz="2200" b="1">
                <a:solidFill>
                  <a:srgbClr val="202522"/>
                </a:solidFill>
                <a:latin typeface="맑은 고딕"/>
                <a:ea typeface="맑은 고딕"/>
              </a:rPr>
              <a:t>표지 또는 공지</a:t>
            </a:r>
          </a:p>
        </p:txBody>
      </p:sp>
      <p:sp>
        <p:nvSpPr>
          <p:cNvPr id="12" name="P03-asset-id-IMG06"/>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IMG06</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모집과 참여</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3월에 모집하고,</a:t>
            </a:r>
          </a:p>
          <a:p>
            <a:pPr algn="l">
              <a:spcAft>
                <a:spcPts val="400"/>
              </a:spcAft>
            </a:pPr>
            <a:r>
              <a:rPr sz="4000" b="1">
                <a:solidFill>
                  <a:srgbClr val="202522"/>
                </a:solidFill>
                <a:latin typeface="맑은 고딕"/>
                <a:ea typeface="맑은 고딕"/>
              </a:rPr>
              <a:t>4월에 시작했습니다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P04</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파트별로 프로젝트 주제 제시</a:t>
            </a:r>
          </a:p>
          <a:p>
            <a:pPr algn="l">
              <a:spcAft>
                <a:spcPts val="400"/>
              </a:spcAft>
            </a:pPr>
            <a:r>
              <a:rPr sz="2500" b="0">
                <a:solidFill>
                  <a:srgbClr val="202522"/>
                </a:solidFill>
                <a:latin typeface="맑은 고딕"/>
                <a:ea typeface="맑은 고딕"/>
              </a:rPr>
              <a:t>지원자 중 필요한 인원 선발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6개 프로젝트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각 파트에서 주제 하나씩 제시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인원</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44명</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4월부터 프로젝트 진행</a:t>
            </a:r>
          </a:p>
        </p:txBody>
      </p:sp>
      <p:sp>
        <p:nvSpPr>
          <p:cNvPr id="15" name="P04-asset-frame-IMG07"/>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4-asset-instruction-IMG07"/>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4-asset-label-IMG07"/>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Tech X</a:t>
            </a:r>
          </a:p>
          <a:p>
            <a:pPr algn="ctr">
              <a:spcAft>
                <a:spcPts val="400"/>
              </a:spcAft>
            </a:pPr>
            <a:r>
              <a:rPr sz="2200" b="1">
                <a:solidFill>
                  <a:srgbClr val="202522"/>
                </a:solidFill>
                <a:latin typeface="맑은 고딕"/>
                <a:ea typeface="맑은 고딕"/>
              </a:rPr>
              <a:t>3월 모집 공고</a:t>
            </a:r>
          </a:p>
        </p:txBody>
      </p:sp>
      <p:sp>
        <p:nvSpPr>
          <p:cNvPr id="18" name="P04-asset-id-IMG07"/>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 · 이관우의 참여 경험</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저도 이 프로젝트에</a:t>
            </a:r>
          </a:p>
          <a:p>
            <a:pPr algn="l">
              <a:spcAft>
                <a:spcPts val="400"/>
              </a:spcAft>
            </a:pPr>
            <a:r>
              <a:rPr sz="4000" b="1">
                <a:solidFill>
                  <a:srgbClr val="202522"/>
                </a:solidFill>
                <a:latin typeface="맑은 고딕"/>
                <a:ea typeface="맑은 고딕"/>
              </a:rPr>
              <a:t>참여했습니다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P05</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관심이 있어서 지원한 과제</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참여 과제</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GPU 자원 효율화</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쿠버네티스(k8s) 환경</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알게 된 것</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다른 부서의 관점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함께 이야기하며 배우는 경험</a:t>
            </a:r>
          </a:p>
        </p:txBody>
      </p:sp>
      <p:sp>
        <p:nvSpPr>
          <p:cNvPr id="15" name="P05-asset-frame-IMG15"/>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5-asset-instruction-IMG15"/>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5-asset-label-IMG15"/>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k8s GPU 과제</a:t>
            </a:r>
          </a:p>
          <a:p>
            <a:pPr algn="ctr">
              <a:spcAft>
                <a:spcPts val="400"/>
              </a:spcAft>
            </a:pPr>
            <a:r>
              <a:rPr sz="2200" b="1">
                <a:solidFill>
                  <a:srgbClr val="202522"/>
                </a:solidFill>
                <a:latin typeface="맑은 고딕"/>
                <a:ea typeface="맑은 고딕"/>
              </a:rPr>
              <a:t>표지 또는 논의 자료</a:t>
            </a:r>
          </a:p>
        </p:txBody>
      </p:sp>
      <p:sp>
        <p:nvSpPr>
          <p:cNvPr id="18" name="P05-asset-id-IMG15"/>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Tech X의 대표 사례  ·  IAP</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로그 알림 업무를</a:t>
            </a:r>
          </a:p>
          <a:p>
            <a:pPr algn="l">
              <a:spcAft>
                <a:spcPts val="400"/>
              </a:spcAft>
            </a:pPr>
            <a:r>
              <a:rPr sz="4000" b="1">
                <a:solidFill>
                  <a:srgbClr val="202522"/>
                </a:solidFill>
                <a:latin typeface="맑은 고딕"/>
                <a:ea typeface="맑은 고딕"/>
              </a:rPr>
              <a:t>자동화했습니다</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P06</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로그 패턴 감지 → 메신저 동보</a:t>
            </a:r>
          </a:p>
          <a:p>
            <a:pPr algn="l">
              <a:spcAft>
                <a:spcPts val="400"/>
              </a:spcAft>
            </a:pPr>
            <a:r>
              <a:rPr sz="2500" b="0">
                <a:solidFill>
                  <a:srgbClr val="202522"/>
                </a:solidFill>
                <a:latin typeface="맑은 고딕"/>
                <a:ea typeface="맑은 고딕"/>
              </a:rPr>
              <a:t>해당 알림 수작업 대체</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6월</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팀 소개 세미나</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개발한 내용 소개</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7월</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실무 담당자 실습</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에이전트 등록 담당자 25명 대상</a:t>
            </a:r>
          </a:p>
        </p:txBody>
      </p:sp>
      <p:sp>
        <p:nvSpPr>
          <p:cNvPr id="15" name="P06-asset-frame-IMG08"/>
          <p:cNvSpPr/>
          <p:nvPr/>
        </p:nvSpPr>
        <p:spPr>
          <a:xfrm>
            <a:off x="6629400"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6-asset-instruction-IMG08"/>
          <p:cNvSpPr txBox="1"/>
          <p:nvPr/>
        </p:nvSpPr>
        <p:spPr>
          <a:xfrm>
            <a:off x="6775704"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6-asset-label-IMG08"/>
          <p:cNvSpPr txBox="1"/>
          <p:nvPr/>
        </p:nvSpPr>
        <p:spPr>
          <a:xfrm>
            <a:off x="6775704"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로그 알림</a:t>
            </a:r>
          </a:p>
          <a:p>
            <a:pPr algn="ctr">
              <a:spcAft>
                <a:spcPts val="400"/>
              </a:spcAft>
            </a:pPr>
            <a:r>
              <a:rPr sz="2000" b="1">
                <a:solidFill>
                  <a:srgbClr val="202522"/>
                </a:solidFill>
                <a:latin typeface="맑은 고딕"/>
                <a:ea typeface="맑은 고딕"/>
              </a:rPr>
              <a:t>실제 기능 화면</a:t>
            </a:r>
          </a:p>
        </p:txBody>
      </p:sp>
      <p:sp>
        <p:nvSpPr>
          <p:cNvPr id="18" name="P06-asset-id-IMG08"/>
          <p:cNvSpPr txBox="1"/>
          <p:nvPr/>
        </p:nvSpPr>
        <p:spPr>
          <a:xfrm>
            <a:off x="6775704"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IMG08</a:t>
            </a:r>
          </a:p>
        </p:txBody>
      </p:sp>
      <p:sp>
        <p:nvSpPr>
          <p:cNvPr id="19" name="P06-asset-frame-IMG10"/>
          <p:cNvSpPr/>
          <p:nvPr/>
        </p:nvSpPr>
        <p:spPr>
          <a:xfrm>
            <a:off x="9125712" y="3154680"/>
            <a:ext cx="2350008"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20" name="P06-asset-instruction-IMG10"/>
          <p:cNvSpPr txBox="1"/>
          <p:nvPr/>
        </p:nvSpPr>
        <p:spPr>
          <a:xfrm>
            <a:off x="9272016" y="3520440"/>
            <a:ext cx="2057400"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21" name="P06-asset-label-IMG10"/>
          <p:cNvSpPr txBox="1"/>
          <p:nvPr/>
        </p:nvSpPr>
        <p:spPr>
          <a:xfrm>
            <a:off x="9272016" y="4087368"/>
            <a:ext cx="2057400" cy="950976"/>
          </a:xfrm>
          <a:prstGeom prst="rect">
            <a:avLst/>
          </a:prstGeom>
          <a:noFill/>
        </p:spPr>
        <p:txBody>
          <a:bodyPr wrap="square" lIns="0" rIns="0" tIns="0" bIns="0">
            <a:spAutoFit/>
          </a:bodyPr>
          <a:lstStyle/>
          <a:p>
            <a:pPr algn="ctr">
              <a:spcAft>
                <a:spcPts val="400"/>
              </a:spcAft>
            </a:pPr>
            <a:r>
              <a:rPr sz="2000" b="1">
                <a:solidFill>
                  <a:srgbClr val="202522"/>
                </a:solidFill>
                <a:latin typeface="맑은 고딕"/>
                <a:ea typeface="맑은 고딕"/>
              </a:rPr>
              <a:t>실무 담당자</a:t>
            </a:r>
          </a:p>
          <a:p>
            <a:pPr algn="ctr">
              <a:spcAft>
                <a:spcPts val="400"/>
              </a:spcAft>
            </a:pPr>
            <a:r>
              <a:rPr sz="2000" b="1">
                <a:solidFill>
                  <a:srgbClr val="202522"/>
                </a:solidFill>
                <a:latin typeface="맑은 고딕"/>
                <a:ea typeface="맑은 고딕"/>
              </a:rPr>
              <a:t>실습 사진·교안</a:t>
            </a:r>
          </a:p>
        </p:txBody>
      </p:sp>
      <p:sp>
        <p:nvSpPr>
          <p:cNvPr id="22" name="P06-asset-id-IMG10"/>
          <p:cNvSpPr txBox="1"/>
          <p:nvPr/>
        </p:nvSpPr>
        <p:spPr>
          <a:xfrm>
            <a:off x="9272016" y="5340096"/>
            <a:ext cx="2057400"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IMG10</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  외부 전문가 초청 세미나</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AI를 위한 인프라를 만들고,</a:t>
            </a:r>
          </a:p>
          <a:p>
            <a:pPr algn="l">
              <a:spcAft>
                <a:spcPts val="400"/>
              </a:spcAft>
            </a:pPr>
            <a:r>
              <a:rPr sz="4000" b="1">
                <a:solidFill>
                  <a:srgbClr val="202522"/>
                </a:solidFill>
                <a:latin typeface="맑은 고딕"/>
                <a:ea typeface="맑은 고딕"/>
              </a:rPr>
              <a:t>운영에도 AI를 활용하도록</a:t>
            </a:r>
          </a:p>
        </p:txBody>
      </p:sp>
      <p:sp>
        <p:nvSpPr>
          <p:cNvPr id="4" name="TextBox 3"/>
          <p:cNvSpPr txBox="1"/>
          <p:nvPr/>
        </p:nvSpPr>
        <p:spPr>
          <a:xfrm>
            <a:off x="685800" y="6062472"/>
            <a:ext cx="10789920" cy="301752"/>
          </a:xfrm>
          <a:prstGeom prst="rect">
            <a:avLst/>
          </a:prstGeom>
          <a:noFill/>
        </p:spPr>
        <p:txBody>
          <a:bodyPr wrap="square" lIns="0" rIns="0" tIns="0" bIns="0">
            <a:spAutoFit/>
          </a:bodyPr>
          <a:lstStyle/>
          <a:p>
            <a:pPr algn="l">
              <a:spcAft>
                <a:spcPts val="400"/>
              </a:spcAft>
            </a:pPr>
            <a:r>
              <a:rPr sz="1200" b="0">
                <a:solidFill>
                  <a:srgbClr val="626962"/>
                </a:solidFill>
                <a:latin typeface="맑은 고딕"/>
                <a:ea typeface="맑은 고딕"/>
              </a:rPr>
              <a:t>Advanced Infrastructure for Artificial Intelligence</a:t>
            </a:r>
          </a:p>
        </p:txBody>
      </p:sp>
      <p:cxnSp>
        <p:nvCxnSpPr>
          <p:cNvPr id="5" name="Connector 4"/>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6" name="TextBox 5"/>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P07</a:t>
            </a:r>
          </a:p>
        </p:txBody>
      </p:sp>
      <p:sp>
        <p:nvSpPr>
          <p:cNvPr id="7" name="TextBox 6"/>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8" name="TextBox 7"/>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월 1회  ·  센터원 대상</a:t>
            </a:r>
          </a:p>
        </p:txBody>
      </p:sp>
      <p:sp>
        <p:nvSpPr>
          <p:cNvPr id="9" name="TextBox 8"/>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활용 운영</a:t>
            </a:r>
          </a:p>
        </p:txBody>
      </p:sp>
      <p:sp>
        <p:nvSpPr>
          <p:cNvPr id="10" name="TextBox 9"/>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AIOps</a:t>
            </a:r>
          </a:p>
        </p:txBody>
      </p:sp>
      <p:sp>
        <p:nvSpPr>
          <p:cNvPr id="11" name="TextBox 10"/>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Cisco 초청 · 3월</a:t>
            </a:r>
          </a:p>
        </p:txBody>
      </p:sp>
      <p:cxnSp>
        <p:nvCxnSpPr>
          <p:cNvPr id="12" name="Connector 11"/>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AI 인프라</a:t>
            </a:r>
          </a:p>
        </p:txBody>
      </p:sp>
      <p:sp>
        <p:nvSpPr>
          <p:cNvPr id="14" name="TextBox 13"/>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국가슈퍼컴퓨터 6호기</a:t>
            </a:r>
          </a:p>
        </p:txBody>
      </p:sp>
      <p:sp>
        <p:nvSpPr>
          <p:cNvPr id="15" name="TextBox 14"/>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KISTI 초청 · 5월</a:t>
            </a:r>
          </a:p>
        </p:txBody>
      </p:sp>
      <p:sp>
        <p:nvSpPr>
          <p:cNvPr id="16" name="P07-asset-frame-IMG0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7" name="P07-asset-instruction-IMG0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8" name="P07-asset-label-IMG0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AI 4 AI</a:t>
            </a:r>
          </a:p>
          <a:p>
            <a:pPr algn="ctr">
              <a:spcAft>
                <a:spcPts val="400"/>
              </a:spcAft>
            </a:pPr>
            <a:r>
              <a:rPr sz="2200" b="1">
                <a:solidFill>
                  <a:srgbClr val="202522"/>
                </a:solidFill>
                <a:latin typeface="맑은 고딕"/>
                <a:ea typeface="맑은 고딕"/>
              </a:rPr>
              <a:t>대표 세미나 포스터</a:t>
            </a:r>
          </a:p>
        </p:txBody>
      </p:sp>
      <p:sp>
        <p:nvSpPr>
          <p:cNvPr id="19" name="P07-asset-id-IMG0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IMG03</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AI 4 AI  ·  녹화 공유</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그날 못 들은 동료도</a:t>
            </a:r>
          </a:p>
          <a:p>
            <a:pPr algn="l">
              <a:spcAft>
                <a:spcPts val="400"/>
              </a:spcAft>
            </a:pPr>
            <a:r>
              <a:rPr sz="4000" b="1">
                <a:solidFill>
                  <a:srgbClr val="202522"/>
                </a:solidFill>
                <a:latin typeface="맑은 고딕"/>
                <a:ea typeface="맑은 고딕"/>
              </a:rPr>
              <a:t>다시 볼 수 있게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P08</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154680"/>
            <a:ext cx="5486400" cy="804672"/>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세미나를 녹화해 교육 플랫폼에 공유</a:t>
            </a:r>
          </a:p>
        </p:txBody>
      </p:sp>
      <p:sp>
        <p:nvSpPr>
          <p:cNvPr id="8" name="TextBox 7"/>
          <p:cNvSpPr txBox="1"/>
          <p:nvPr/>
        </p:nvSpPr>
        <p:spPr>
          <a:xfrm>
            <a:off x="685800" y="4078224"/>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자료</a:t>
            </a:r>
          </a:p>
        </p:txBody>
      </p:sp>
      <p:sp>
        <p:nvSpPr>
          <p:cNvPr id="9" name="TextBox 8"/>
          <p:cNvSpPr txBox="1"/>
          <p:nvPr/>
        </p:nvSpPr>
        <p:spPr>
          <a:xfrm>
            <a:off x="2432304" y="4078224"/>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세미나 녹화본</a:t>
            </a:r>
          </a:p>
        </p:txBody>
      </p:sp>
      <p:sp>
        <p:nvSpPr>
          <p:cNvPr id="10" name="TextBox 9"/>
          <p:cNvSpPr txBox="1"/>
          <p:nvPr/>
        </p:nvSpPr>
        <p:spPr>
          <a:xfrm>
            <a:off x="2432304" y="4471416"/>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그날 참석하지 못했어도</a:t>
            </a:r>
          </a:p>
        </p:txBody>
      </p:sp>
      <p:cxnSp>
        <p:nvCxnSpPr>
          <p:cNvPr id="11" name="Connector 10"/>
          <p:cNvCxnSpPr/>
          <p:nvPr/>
        </p:nvCxnSpPr>
        <p:spPr>
          <a:xfrm>
            <a:off x="685800" y="4869179"/>
            <a:ext cx="5486400"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928616"/>
            <a:ext cx="1609344" cy="347472"/>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공유 대상</a:t>
            </a:r>
          </a:p>
        </p:txBody>
      </p:sp>
      <p:sp>
        <p:nvSpPr>
          <p:cNvPr id="13" name="TextBox 12"/>
          <p:cNvSpPr txBox="1"/>
          <p:nvPr/>
        </p:nvSpPr>
        <p:spPr>
          <a:xfrm>
            <a:off x="2432304" y="4928616"/>
            <a:ext cx="3739896" cy="393192"/>
          </a:xfrm>
          <a:prstGeom prst="rect">
            <a:avLst/>
          </a:prstGeom>
          <a:noFill/>
        </p:spPr>
        <p:txBody>
          <a:bodyPr wrap="square" lIns="0" rIns="0" tIns="0" bIns="0">
            <a:spAutoFit/>
          </a:bodyPr>
          <a:lstStyle/>
          <a:p>
            <a:pPr algn="l">
              <a:spcAft>
                <a:spcPts val="400"/>
              </a:spcAft>
            </a:pPr>
            <a:r>
              <a:rPr sz="2300" b="1">
                <a:solidFill>
                  <a:srgbClr val="202522"/>
                </a:solidFill>
                <a:latin typeface="맑은 고딕"/>
                <a:ea typeface="맑은 고딕"/>
              </a:rPr>
              <a:t>센터원</a:t>
            </a:r>
          </a:p>
        </p:txBody>
      </p:sp>
      <p:sp>
        <p:nvSpPr>
          <p:cNvPr id="14" name="TextBox 13"/>
          <p:cNvSpPr txBox="1"/>
          <p:nvPr/>
        </p:nvSpPr>
        <p:spPr>
          <a:xfrm>
            <a:off x="2432304" y="5321807"/>
            <a:ext cx="3739896" cy="457200"/>
          </a:xfrm>
          <a:prstGeom prst="rect">
            <a:avLst/>
          </a:prstGeom>
          <a:noFill/>
        </p:spPr>
        <p:txBody>
          <a:bodyPr wrap="square" lIns="0" rIns="0" tIns="0" bIns="0">
            <a:spAutoFit/>
          </a:bodyPr>
          <a:lstStyle/>
          <a:p>
            <a:pPr algn="l">
              <a:spcAft>
                <a:spcPts val="400"/>
              </a:spcAft>
            </a:pPr>
            <a:r>
              <a:rPr sz="1500" b="0">
                <a:solidFill>
                  <a:srgbClr val="626962"/>
                </a:solidFill>
                <a:latin typeface="맑은 고딕"/>
                <a:ea typeface="맑은 고딕"/>
              </a:rPr>
              <a:t>나중에 다시 찾아볼 수 있게</a:t>
            </a:r>
          </a:p>
        </p:txBody>
      </p:sp>
      <p:sp>
        <p:nvSpPr>
          <p:cNvPr id="15" name="P08-asset-frame-IMG13"/>
          <p:cNvSpPr/>
          <p:nvPr/>
        </p:nvSpPr>
        <p:spPr>
          <a:xfrm>
            <a:off x="6629400" y="3154680"/>
            <a:ext cx="4846320" cy="2651760"/>
          </a:xfrm>
          <a:prstGeom prst="rect">
            <a:avLst/>
          </a:prstGeom>
          <a:solidFill>
            <a:srgbClr val="FFFFFF"/>
          </a:solidFill>
          <a:ln w="15240">
            <a:solidFill>
              <a:srgbClr val="AAB8B0"/>
            </a:solidFill>
            <a:prstDash val="dash"/>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16" name="P08-asset-instruction-IMG13"/>
          <p:cNvSpPr txBox="1"/>
          <p:nvPr/>
        </p:nvSpPr>
        <p:spPr>
          <a:xfrm>
            <a:off x="6775704" y="3520440"/>
            <a:ext cx="4553712" cy="329184"/>
          </a:xfrm>
          <a:prstGeom prst="rect">
            <a:avLst/>
          </a:prstGeom>
          <a:noFill/>
        </p:spPr>
        <p:txBody>
          <a:bodyPr wrap="square" lIns="0" rIns="0" tIns="0" bIns="0">
            <a:spAutoFit/>
          </a:bodyPr>
          <a:lstStyle/>
          <a:p>
            <a:pPr algn="ctr">
              <a:spcAft>
                <a:spcPts val="400"/>
              </a:spcAft>
            </a:pPr>
            <a:r>
              <a:rPr sz="1600" b="1">
                <a:solidFill>
                  <a:srgbClr val="176B5B"/>
                </a:solidFill>
                <a:latin typeface="맑은 고딕"/>
                <a:ea typeface="맑은 고딕"/>
              </a:rPr>
              <a:t>자료 삽입</a:t>
            </a:r>
          </a:p>
        </p:txBody>
      </p:sp>
      <p:sp>
        <p:nvSpPr>
          <p:cNvPr id="17" name="P08-asset-label-IMG13"/>
          <p:cNvSpPr txBox="1"/>
          <p:nvPr/>
        </p:nvSpPr>
        <p:spPr>
          <a:xfrm>
            <a:off x="6775704" y="4087368"/>
            <a:ext cx="4553712" cy="950976"/>
          </a:xfrm>
          <a:prstGeom prst="rect">
            <a:avLst/>
          </a:prstGeom>
          <a:noFill/>
        </p:spPr>
        <p:txBody>
          <a:bodyPr wrap="square" lIns="0" rIns="0" tIns="0" bIns="0">
            <a:spAutoFit/>
          </a:bodyPr>
          <a:lstStyle/>
          <a:p>
            <a:pPr algn="ctr">
              <a:spcAft>
                <a:spcPts val="400"/>
              </a:spcAft>
            </a:pPr>
            <a:r>
              <a:rPr sz="2200" b="1">
                <a:solidFill>
                  <a:srgbClr val="202522"/>
                </a:solidFill>
                <a:latin typeface="맑은 고딕"/>
                <a:ea typeface="맑은 고딕"/>
              </a:rPr>
              <a:t>교육 플랫폼</a:t>
            </a:r>
          </a:p>
          <a:p>
            <a:pPr algn="ctr">
              <a:spcAft>
                <a:spcPts val="400"/>
              </a:spcAft>
            </a:pPr>
            <a:r>
              <a:rPr sz="2200" b="1">
                <a:solidFill>
                  <a:srgbClr val="202522"/>
                </a:solidFill>
                <a:latin typeface="맑은 고딕"/>
                <a:ea typeface="맑은 고딕"/>
              </a:rPr>
              <a:t>녹화 목록·재생 화면</a:t>
            </a:r>
          </a:p>
        </p:txBody>
      </p:sp>
      <p:sp>
        <p:nvSpPr>
          <p:cNvPr id="18" name="P08-asset-id-IMG13"/>
          <p:cNvSpPr txBox="1"/>
          <p:nvPr/>
        </p:nvSpPr>
        <p:spPr>
          <a:xfrm>
            <a:off x="6775704" y="5340096"/>
            <a:ext cx="4553712" cy="274320"/>
          </a:xfrm>
          <a:prstGeom prst="rect">
            <a:avLst/>
          </a:prstGeom>
          <a:noFill/>
        </p:spPr>
        <p:txBody>
          <a:bodyPr wrap="square" lIns="0" rIns="0" tIns="0" bIns="0">
            <a:spAutoFit/>
          </a:bodyPr>
          <a:lstStyle/>
          <a:p>
            <a:pPr algn="ctr">
              <a:spcAft>
                <a:spcPts val="400"/>
              </a:spcAft>
            </a:pPr>
            <a:r>
              <a:rPr sz="1400" b="0">
                <a:solidFill>
                  <a:srgbClr val="626962"/>
                </a:solidFill>
                <a:latin typeface="맑은 고딕"/>
                <a:ea typeface="맑은 고딕"/>
              </a:rPr>
              <a:t>IMG13</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다른 조직에서도 · Tech X 운영 방식</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참여할 기회와</a:t>
            </a:r>
          </a:p>
          <a:p>
            <a:pPr algn="l">
              <a:spcAft>
                <a:spcPts val="400"/>
              </a:spcAft>
            </a:pPr>
            <a:r>
              <a:rPr sz="4000" b="1">
                <a:solidFill>
                  <a:srgbClr val="202522"/>
                </a:solidFill>
                <a:latin typeface="맑은 고딕"/>
                <a:ea typeface="맑은 고딕"/>
              </a:rPr>
              <a:t>시도를 인정하는 방법</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P09</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063240"/>
            <a:ext cx="10789920" cy="640080"/>
          </a:xfrm>
          <a:prstGeom prst="rect">
            <a:avLst/>
          </a:prstGeom>
          <a:noFill/>
        </p:spPr>
        <p:txBody>
          <a:bodyPr wrap="square" lIns="0" rIns="0" tIns="0" bIns="0">
            <a:spAutoFit/>
          </a:bodyPr>
          <a:lstStyle/>
          <a:p>
            <a:pPr algn="l">
              <a:spcAft>
                <a:spcPts val="400"/>
              </a:spcAft>
            </a:pPr>
            <a:r>
              <a:rPr sz="2500" b="0">
                <a:solidFill>
                  <a:srgbClr val="202522"/>
                </a:solidFill>
                <a:latin typeface="맑은 고딕"/>
                <a:ea typeface="맑은 고딕"/>
              </a:rPr>
              <a:t/>
            </a:r>
          </a:p>
        </p:txBody>
      </p:sp>
      <p:sp>
        <p:nvSpPr>
          <p:cNvPr id="8" name="TextBox 7"/>
          <p:cNvSpPr txBox="1"/>
          <p:nvPr/>
        </p:nvSpPr>
        <p:spPr>
          <a:xfrm>
            <a:off x="685800"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참여</a:t>
            </a:r>
          </a:p>
        </p:txBody>
      </p:sp>
      <p:sp>
        <p:nvSpPr>
          <p:cNvPr id="9" name="TextBox 8"/>
          <p:cNvSpPr txBox="1"/>
          <p:nvPr/>
        </p:nvSpPr>
        <p:spPr>
          <a:xfrm>
            <a:off x="685800"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각자 시간 일부를 할애</a:t>
            </a:r>
          </a:p>
        </p:txBody>
      </p:sp>
      <p:sp>
        <p:nvSpPr>
          <p:cNvPr id="10" name="TextBox 9"/>
          <p:cNvSpPr txBox="1"/>
          <p:nvPr/>
        </p:nvSpPr>
        <p:spPr>
          <a:xfrm>
            <a:off x="685800"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관심 있는 프로젝트에 지원</a:t>
            </a:r>
          </a:p>
        </p:txBody>
      </p:sp>
      <p:cxnSp>
        <p:nvCxnSpPr>
          <p:cNvPr id="11" name="Connector 10"/>
          <p:cNvCxnSpPr/>
          <p:nvPr/>
        </p:nvCxnSpPr>
        <p:spPr>
          <a:xfrm>
            <a:off x="6094476" y="3877056"/>
            <a:ext cx="0" cy="2048256"/>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300216" y="3895344"/>
            <a:ext cx="5202936" cy="457200"/>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인정</a:t>
            </a:r>
          </a:p>
        </p:txBody>
      </p:sp>
      <p:sp>
        <p:nvSpPr>
          <p:cNvPr id="13" name="TextBox 12"/>
          <p:cNvSpPr txBox="1"/>
          <p:nvPr/>
        </p:nvSpPr>
        <p:spPr>
          <a:xfrm>
            <a:off x="6300216" y="4453128"/>
            <a:ext cx="5202936" cy="950976"/>
          </a:xfrm>
          <a:prstGeom prst="rect">
            <a:avLst/>
          </a:prstGeom>
          <a:noFill/>
        </p:spPr>
        <p:txBody>
          <a:bodyPr wrap="square" lIns="0" rIns="0" tIns="0" bIns="0">
            <a:spAutoFit/>
          </a:bodyPr>
          <a:lstStyle/>
          <a:p>
            <a:pPr algn="l">
              <a:spcAft>
                <a:spcPts val="400"/>
              </a:spcAft>
            </a:pPr>
            <a:r>
              <a:rPr sz="3000" b="1">
                <a:solidFill>
                  <a:srgbClr val="202522"/>
                </a:solidFill>
                <a:latin typeface="맑은 고딕"/>
                <a:ea typeface="맑은 고딕"/>
              </a:rPr>
              <a:t>우수 프로젝트 시상</a:t>
            </a:r>
          </a:p>
        </p:txBody>
      </p:sp>
      <p:sp>
        <p:nvSpPr>
          <p:cNvPr id="14" name="TextBox 13"/>
          <p:cNvSpPr txBox="1"/>
          <p:nvPr/>
        </p:nvSpPr>
        <p:spPr>
          <a:xfrm>
            <a:off x="6300216" y="5477256"/>
            <a:ext cx="5202936" cy="493776"/>
          </a:xfrm>
          <a:prstGeom prst="rect">
            <a:avLst/>
          </a:prstGeom>
          <a:noFill/>
        </p:spPr>
        <p:txBody>
          <a:bodyPr wrap="square" lIns="0" rIns="0" tIns="0" bIns="0">
            <a:spAutoFit/>
          </a:bodyPr>
          <a:lstStyle/>
          <a:p>
            <a:pPr algn="l">
              <a:spcAft>
                <a:spcPts val="400"/>
              </a:spcAft>
            </a:pPr>
            <a:r>
              <a:rPr sz="2000" b="0">
                <a:solidFill>
                  <a:srgbClr val="626962"/>
                </a:solidFill>
                <a:latin typeface="맑은 고딕"/>
                <a:ea typeface="맑은 고딕"/>
              </a:rPr>
              <a:t>성과에 반영하는 운영 방식</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2026 Learning Fair  ·  Data Center팀</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400" b="1">
                <a:solidFill>
                  <a:srgbClr val="202522"/>
                </a:solidFill>
                <a:latin typeface="맑은 고딕"/>
                <a:ea typeface="맑은 고딕"/>
              </a:rPr>
              <a:t>AI 4 AI</a:t>
            </a:r>
          </a:p>
          <a:p>
            <a:pPr algn="l">
              <a:spcAft>
                <a:spcPts val="400"/>
              </a:spcAft>
            </a:pPr>
            <a:r>
              <a:rPr sz="4400" b="1">
                <a:solidFill>
                  <a:srgbClr val="202522"/>
                </a:solidFill>
                <a:latin typeface="맑은 고딕"/>
                <a:ea typeface="맑은 고딕"/>
              </a:rPr>
              <a:t>그 일, 같이 해볼까요?</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P10</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3337560"/>
            <a:ext cx="10789920" cy="859536"/>
          </a:xfrm>
          <a:prstGeom prst="rect">
            <a:avLst/>
          </a:prstGeom>
          <a:noFill/>
        </p:spPr>
        <p:txBody>
          <a:bodyPr wrap="square" lIns="0" rIns="0" tIns="0" bIns="0">
            <a:spAutoFit/>
          </a:bodyPr>
          <a:lstStyle/>
          <a:p>
            <a:pPr algn="l">
              <a:spcAft>
                <a:spcPts val="400"/>
              </a:spcAft>
            </a:pPr>
            <a:r>
              <a:rPr sz="2900" b="0">
                <a:solidFill>
                  <a:srgbClr val="202522"/>
                </a:solidFill>
                <a:latin typeface="맑은 고딕"/>
                <a:ea typeface="맑은 고딕"/>
              </a:rPr>
              <a:t>류경동 팀장 · 이관우 교육담당</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사용자가 나중에 붙일 실제 자료</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A01</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본편 점선 영역에 자료명과 IMG ID를 적었습니다. 삽입 후 점선·안내 글자를 제거합니다.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P02–P04</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부스·판넬·세션·모집</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IMG04·05: Job Fair / IMG06: DCIS / IMG07: Tech X 공고</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P05–P06</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참여 과제·기능·실습</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IMG15: k8s GPU 과제 / IMG08·10: IAP 기능·실습</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P07–P08</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포스터·녹화 화면</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IMG03: 대표 세미나 / IMG13: 교육 플랫폼</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확인된 경험과 표현 범위</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A02</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실제 경험을 반영하되 미제공 성과를 만들지 않습니다. 자세한 삽입·효과 지시는 노트에 있습니다.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이관우</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k8s GPU 과제 참여</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다양한 부서의 관점을 접한 본인 경험. 효율 향상 수치는 없음.</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팀장 관점</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결속·사기·원팀 문화</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교류를 중요하게 보는 이유. 측정된 효과나 과거 발언 인용 아님.</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IAP</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별도 과제의 적용 사례</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로그 알림 수작업 대체. GPU 과제와 별개이며 35초 한 장면.</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show="0">
  <p:cSld>
    <p:bg>
      <p:bgPr>
        <a:solidFill>
          <a:srgbClr val="FAFAF7"/>
        </a:solidFill>
        <a:effectLst/>
      </p:bgPr>
    </p:bg>
    <p:spTree>
      <p:nvGrpSpPr>
        <p:cNvPr id="1" name=""/>
        <p:cNvGrpSpPr/>
        <p:nvPr/>
      </p:nvGrpSpPr>
      <p:grpSpPr/>
      <p:sp>
        <p:nvSpPr>
          <p:cNvPr id="2" name="TextBox 1"/>
          <p:cNvSpPr txBox="1"/>
          <p:nvPr/>
        </p:nvSpPr>
        <p:spPr>
          <a:xfrm>
            <a:off x="685800" y="566928"/>
            <a:ext cx="10789920" cy="438912"/>
          </a:xfrm>
          <a:prstGeom prst="rect">
            <a:avLst/>
          </a:prstGeom>
          <a:noFill/>
        </p:spPr>
        <p:txBody>
          <a:bodyPr wrap="square" lIns="0" rIns="0" tIns="0" bIns="0">
            <a:spAutoFit/>
          </a:bodyPr>
          <a:lstStyle/>
          <a:p>
            <a:pPr algn="l">
              <a:spcAft>
                <a:spcPts val="400"/>
              </a:spcAft>
            </a:pPr>
            <a:r>
              <a:rPr sz="1800" b="1">
                <a:solidFill>
                  <a:srgbClr val="176B5B"/>
                </a:solidFill>
                <a:latin typeface="맑은 고딕"/>
                <a:ea typeface="맑은 고딕"/>
              </a:rPr>
              <a:t>제작 참고 / 본편 사용 제외</a:t>
            </a:r>
          </a:p>
        </p:txBody>
      </p:sp>
      <p:sp>
        <p:nvSpPr>
          <p:cNvPr id="3" name="TextBox 2"/>
          <p:cNvSpPr txBox="1"/>
          <p:nvPr/>
        </p:nvSpPr>
        <p:spPr>
          <a:xfrm>
            <a:off x="685800" y="1307592"/>
            <a:ext cx="10789920" cy="1737360"/>
          </a:xfrm>
          <a:prstGeom prst="rect">
            <a:avLst/>
          </a:prstGeom>
          <a:noFill/>
        </p:spPr>
        <p:txBody>
          <a:bodyPr wrap="square" lIns="0" rIns="0" tIns="0" bIns="0">
            <a:spAutoFit/>
          </a:bodyPr>
          <a:lstStyle/>
          <a:p>
            <a:pPr algn="l">
              <a:spcAft>
                <a:spcPts val="400"/>
              </a:spcAft>
            </a:pPr>
            <a:r>
              <a:rPr sz="4000" b="1">
                <a:solidFill>
                  <a:srgbClr val="202522"/>
                </a:solidFill>
                <a:latin typeface="맑은 고딕"/>
                <a:ea typeface="맑은 고딕"/>
              </a:rPr>
              <a:t>10월 14일 제출 · 19일 촬영</a:t>
            </a:r>
          </a:p>
        </p:txBody>
      </p:sp>
      <p:cxnSp>
        <p:nvCxnSpPr>
          <p:cNvPr id="4" name="Connector 3"/>
          <p:cNvCxnSpPr/>
          <p:nvPr/>
        </p:nvCxnSpPr>
        <p:spPr>
          <a:xfrm>
            <a:off x="685800" y="6419088"/>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85800" y="6528816"/>
            <a:ext cx="777240" cy="210312"/>
          </a:xfrm>
          <a:prstGeom prst="rect">
            <a:avLst/>
          </a:prstGeom>
          <a:noFill/>
        </p:spPr>
        <p:txBody>
          <a:bodyPr wrap="square" lIns="0" rIns="0" tIns="0" bIns="0">
            <a:spAutoFit/>
          </a:bodyPr>
          <a:lstStyle/>
          <a:p>
            <a:pPr algn="l">
              <a:spcAft>
                <a:spcPts val="400"/>
              </a:spcAft>
            </a:pPr>
            <a:r>
              <a:rPr sz="1000" b="1">
                <a:solidFill>
                  <a:srgbClr val="176B5B"/>
                </a:solidFill>
                <a:latin typeface="맑은 고딕"/>
                <a:ea typeface="맑은 고딕"/>
              </a:rPr>
              <a:t>A03</a:t>
            </a:r>
          </a:p>
        </p:txBody>
      </p:sp>
      <p:sp>
        <p:nvSpPr>
          <p:cNvPr id="6" name="TextBox 5"/>
          <p:cNvSpPr txBox="1"/>
          <p:nvPr/>
        </p:nvSpPr>
        <p:spPr>
          <a:xfrm>
            <a:off x="7498079" y="6528816"/>
            <a:ext cx="4005072" cy="210312"/>
          </a:xfrm>
          <a:prstGeom prst="rect">
            <a:avLst/>
          </a:prstGeom>
          <a:noFill/>
        </p:spPr>
        <p:txBody>
          <a:bodyPr wrap="square" lIns="0" rIns="0" tIns="0" bIns="0">
            <a:spAutoFit/>
          </a:bodyPr>
          <a:lstStyle/>
          <a:p>
            <a:pPr algn="r">
              <a:spcAft>
                <a:spcPts val="400"/>
              </a:spcAft>
            </a:pPr>
            <a:r>
              <a:rPr sz="1000" b="0">
                <a:solidFill>
                  <a:srgbClr val="626962"/>
                </a:solidFill>
                <a:latin typeface="맑은 고딕"/>
                <a:ea typeface="맑은 고딕"/>
              </a:rPr>
              <a:t>2026 LEARNING FAIR</a:t>
            </a:r>
          </a:p>
        </p:txBody>
      </p:sp>
      <p:sp>
        <p:nvSpPr>
          <p:cNvPr id="7" name="TextBox 6"/>
          <p:cNvSpPr txBox="1"/>
          <p:nvPr/>
        </p:nvSpPr>
        <p:spPr>
          <a:xfrm>
            <a:off x="685800" y="2990088"/>
            <a:ext cx="10789920" cy="658368"/>
          </a:xfrm>
          <a:prstGeom prst="rect">
            <a:avLst/>
          </a:prstGeom>
          <a:noFill/>
        </p:spPr>
        <p:txBody>
          <a:bodyPr wrap="square" lIns="0" rIns="0" tIns="0" bIns="0">
            <a:spAutoFit/>
          </a:bodyPr>
          <a:lstStyle/>
          <a:p>
            <a:pPr algn="l">
              <a:spcAft>
                <a:spcPts val="400"/>
              </a:spcAft>
            </a:pPr>
            <a:r>
              <a:rPr sz="1900" b="0">
                <a:solidFill>
                  <a:srgbClr val="202522"/>
                </a:solidFill>
                <a:latin typeface="맑은 고딕"/>
                <a:ea typeface="맑은 고딕"/>
              </a:rPr>
              <a:t>현재 기준일 10월 11일. 일정이 지났다는 이유만으로 개최·발표·시상 완료로 바꾸지 않습니다.</a:t>
            </a:r>
          </a:p>
        </p:txBody>
      </p:sp>
      <p:sp>
        <p:nvSpPr>
          <p:cNvPr id="8" name="TextBox 7"/>
          <p:cNvSpPr txBox="1"/>
          <p:nvPr/>
        </p:nvSpPr>
        <p:spPr>
          <a:xfrm>
            <a:off x="685800" y="3785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12일</a:t>
            </a:r>
          </a:p>
        </p:txBody>
      </p:sp>
      <p:sp>
        <p:nvSpPr>
          <p:cNvPr id="9" name="TextBox 8"/>
          <p:cNvSpPr txBox="1"/>
          <p:nvPr/>
        </p:nvSpPr>
        <p:spPr>
          <a:xfrm>
            <a:off x="2706624" y="3785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OutSystems 예정</a:t>
            </a:r>
          </a:p>
        </p:txBody>
      </p:sp>
      <p:sp>
        <p:nvSpPr>
          <p:cNvPr id="10" name="TextBox 9"/>
          <p:cNvSpPr txBox="1"/>
          <p:nvPr/>
        </p:nvSpPr>
        <p:spPr>
          <a:xfrm>
            <a:off x="6117336" y="3785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실제 개최 확인 후 포스터·사진과 필요한 문구 갱신.</a:t>
            </a:r>
          </a:p>
        </p:txBody>
      </p:sp>
      <p:cxnSp>
        <p:nvCxnSpPr>
          <p:cNvPr id="11" name="Connector 10"/>
          <p:cNvCxnSpPr/>
          <p:nvPr/>
        </p:nvCxnSpPr>
        <p:spPr>
          <a:xfrm>
            <a:off x="685800" y="4497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2" name="TextBox 11"/>
          <p:cNvSpPr txBox="1"/>
          <p:nvPr/>
        </p:nvSpPr>
        <p:spPr>
          <a:xfrm>
            <a:off x="685800" y="4547615"/>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14일</a:t>
            </a:r>
          </a:p>
        </p:txBody>
      </p:sp>
      <p:sp>
        <p:nvSpPr>
          <p:cNvPr id="13" name="TextBox 12"/>
          <p:cNvSpPr txBox="1"/>
          <p:nvPr/>
        </p:nvSpPr>
        <p:spPr>
          <a:xfrm>
            <a:off x="2706624" y="4547615"/>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자료 제출 → 영상팀 편집</a:t>
            </a:r>
          </a:p>
        </p:txBody>
      </p:sp>
      <p:sp>
        <p:nvSpPr>
          <p:cNvPr id="14" name="TextBox 13"/>
          <p:cNvSpPr txBox="1"/>
          <p:nvPr/>
        </p:nvSpPr>
        <p:spPr>
          <a:xfrm>
            <a:off x="6117336" y="4547615"/>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16일 최종 발표 결과를 미리 완료형으로 넣지 않음.</a:t>
            </a:r>
          </a:p>
        </p:txBody>
      </p:sp>
      <p:cxnSp>
        <p:nvCxnSpPr>
          <p:cNvPr id="15" name="Connector 14"/>
          <p:cNvCxnSpPr/>
          <p:nvPr/>
        </p:nvCxnSpPr>
        <p:spPr>
          <a:xfrm>
            <a:off x="685800" y="5259324"/>
            <a:ext cx="10817352" cy="0"/>
          </a:xfrm>
          <a:prstGeom prst="line">
            <a:avLst/>
          </a:prstGeom>
          <a:ln w="12700">
            <a:solidFill>
              <a:srgbClr val="D9DDD7"/>
            </a:solidFill>
          </a:ln>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85800" y="5309616"/>
            <a:ext cx="1865376" cy="702564"/>
          </a:xfrm>
          <a:prstGeom prst="rect">
            <a:avLst/>
          </a:prstGeom>
          <a:noFill/>
        </p:spPr>
        <p:txBody>
          <a:bodyPr wrap="square" lIns="0" rIns="0" tIns="0" bIns="0">
            <a:spAutoFit/>
          </a:bodyPr>
          <a:lstStyle/>
          <a:p>
            <a:pPr algn="l">
              <a:spcAft>
                <a:spcPts val="400"/>
              </a:spcAft>
            </a:pPr>
            <a:r>
              <a:rPr sz="1500" b="1">
                <a:solidFill>
                  <a:srgbClr val="176B5B"/>
                </a:solidFill>
                <a:latin typeface="맑은 고딕"/>
                <a:ea typeface="맑은 고딕"/>
              </a:rPr>
              <a:t>10월 16일 / 19일</a:t>
            </a:r>
          </a:p>
        </p:txBody>
      </p:sp>
      <p:sp>
        <p:nvSpPr>
          <p:cNvPr id="17" name="TextBox 16"/>
          <p:cNvSpPr txBox="1"/>
          <p:nvPr/>
        </p:nvSpPr>
        <p:spPr>
          <a:xfrm>
            <a:off x="2706624" y="5309616"/>
            <a:ext cx="3236976" cy="702564"/>
          </a:xfrm>
          <a:prstGeom prst="rect">
            <a:avLst/>
          </a:prstGeom>
          <a:noFill/>
        </p:spPr>
        <p:txBody>
          <a:bodyPr wrap="square" lIns="0" rIns="0" tIns="0" bIns="0">
            <a:spAutoFit/>
          </a:bodyPr>
          <a:lstStyle/>
          <a:p>
            <a:pPr algn="l">
              <a:spcAft>
                <a:spcPts val="400"/>
              </a:spcAft>
            </a:pPr>
            <a:r>
              <a:rPr sz="1700" b="1">
                <a:solidFill>
                  <a:srgbClr val="202522"/>
                </a:solidFill>
                <a:latin typeface="맑은 고딕"/>
                <a:ea typeface="맑은 고딕"/>
              </a:rPr>
              <a:t>최종 발표 예정 / 촬영</a:t>
            </a:r>
          </a:p>
        </p:txBody>
      </p:sp>
      <p:sp>
        <p:nvSpPr>
          <p:cNvPr id="18" name="TextBox 17"/>
          <p:cNvSpPr txBox="1"/>
          <p:nvPr/>
        </p:nvSpPr>
        <p:spPr>
          <a:xfrm>
            <a:off x="6117336" y="5309616"/>
            <a:ext cx="5385816" cy="702564"/>
          </a:xfrm>
          <a:prstGeom prst="rect">
            <a:avLst/>
          </a:prstGeom>
          <a:noFill/>
        </p:spPr>
        <p:txBody>
          <a:bodyPr wrap="square" lIns="0" rIns="0" tIns="0" bIns="0">
            <a:spAutoFit/>
          </a:bodyPr>
          <a:lstStyle/>
          <a:p>
            <a:pPr algn="l">
              <a:spcAft>
                <a:spcPts val="400"/>
              </a:spcAft>
            </a:pPr>
            <a:r>
              <a:rPr sz="1600" b="0">
                <a:solidFill>
                  <a:srgbClr val="626962"/>
                </a:solidFill>
                <a:latin typeface="맑은 고딕"/>
                <a:ea typeface="맑은 고딕"/>
              </a:rPr>
              <a:t>발표·결과를 확인한 부분만 교체. 시상일은 아직 미확인.</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AI 4 AI — 그 일, 같이 해볼까요?</dc:title>
  <dc:subject/>
  <dc:creator>Data Center팀</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