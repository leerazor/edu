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/ S01 / 최종 00:20–00:50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같은 팀이어도</a:t>
            </a:r>
          </a:p>
          <a:p>
            <a:r>
              <a:t>P01을 0.25초 디졸브로 표시. 핵심 문장이 보이면 정지 화면으로 유지.</a:t>
            </a:r>
          </a:p>
          <a:p>
            <a:r>
              <a:t>촬영: 2인 미디엄샷으로 시작. 첫 개인 발화에 이름·직함 3초 자막. 팀장 발화 시 자연스럽게 단독 미디엄샷.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[P01 등장] 같은 팀이어도, 다른 부서가 무슨 일을 하는지 자세히 알기는 어렵습니다.</a:t>
            </a:r>
          </a:p>
          <a:p>
            <a:r>
              <a:t>류경동 팀장: 저희 Data Center팀은 약 160명이 서버와 클라우드를 구축하고 운영합니다. 회사가 AI를 잘 쓰도록 돕는 만큼, 저희도 새로운 기술과 동료의 일을 배워야 합니다.</a:t>
            </a:r>
          </a:p>
          <a:p>
            <a:r>
              <a:t>이관우 교육담당: 먼저, 서로의 일을 소개한 자리입니다.</a:t>
            </a:r>
          </a:p>
          <a:p>
            <a:r>
              <a:t>화면 전환은 배정 시간에 포함한다. 설명 중 문장 전체를 자막으로 다시 쓰지 않는다. 장표를 충분히 읽은 뒤 다음 장면의 큐에서 전환.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/ S02 / 최종 00:50–01:20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11개 부서가</a:t>
            </a:r>
          </a:p>
          <a:p>
            <a:r>
              <a:t>P02을 0.25초 디졸브로 표시. 핵심 문장이 보이면 정지 화면으로 유지.</a:t>
            </a:r>
          </a:p>
          <a:p>
            <a:r>
              <a:t>촬영: 발화자 미디엄샷. 자료 큐에서 장표 전체 또는 인물·자료 분할 화면. 상대는 같은 자료를 보고 다음 말을 받는다.</a:t>
            </a:r>
          </a:p>
          <a:p>
            <a:r>
              <a:t>원본: IMG04, IMG05</a:t>
            </a:r>
          </a:p>
          <a:p>
            <a:r>
              <a:t>스크립트:</a:t>
            </a:r>
          </a:p>
          <a:p>
            <a:r>
              <a:t>이관우 교육담당: 8월 Job Fair에는 [P02 등장] 11개 부서가 부스를 열었습니다. 맡은 일을 A0 판넬에 담아 직접 소개했죠. 평소 함께 일하는 부서에도 궁금했던 일을 물어볼 수 있는 자리였습니다.</a:t>
            </a:r>
          </a:p>
          <a:p>
            <a:r>
              <a:t>류경동 팀장: 자기 부서에서는 익숙한 일도 다른 부서에서는 모를 수 있죠. 그 일을 설명해 주는 동료가 있다는 데 의미가 있습니다.</a:t>
            </a:r>
          </a:p>
          <a:p>
            <a:r>
              <a:t>화면 전환은 배정 시간에 포함한다. 설명 중 문장 전체를 자막으로 다시 쓰지 않는다. 장표를 충분히 읽은 뒤 다음 장면의 큐에서 전환.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/ S03 / 최종 01:20–01:40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매달 DCIS에서도</a:t>
            </a:r>
          </a:p>
          <a:p>
            <a:r>
              <a:t>P03을 0.25초 디졸브로 표시. 핵심 문장이 보이면 정지 화면으로 유지.</a:t>
            </a:r>
          </a:p>
          <a:p>
            <a:r>
              <a:t>촬영: 발화자 미디엄샷. 자료 큐에서 장표 전체 또는 인물·자료 분할 화면. 상대는 같은 자료를 보고 다음 말을 받는다.</a:t>
            </a:r>
          </a:p>
          <a:p>
            <a:r>
              <a:t>원본: IMG06</a:t>
            </a:r>
          </a:p>
          <a:p>
            <a:r>
              <a:t>스크립트:</a:t>
            </a:r>
          </a:p>
          <a:p>
            <a:r>
              <a:t>류경동 팀장: [P03 등장] 매달 DCIS에서도 업무를 나눕니다. 각 부서의 주요 과제와 서비스, 요즘 연구 중인 기술을 소개합니다. 다른 부서가 진행 중인 일도 정기적으로 들을 수 있는 자리입니다.</a:t>
            </a:r>
          </a:p>
          <a:p>
            <a:r>
              <a:t>업무·서비스·연구의 글자 전체를 함께 표시한다. 별도의 DCIS 코너 오프닝은 없이 앞 장면과 같은 톤으로 이어간다.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/ S04 / 최종 01:40–02:17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Tech X입니다</a:t>
            </a:r>
          </a:p>
          <a:p>
            <a:r>
              <a:t>P04을 0.25초 디졸브로 표시. 핵심 문장이 보이면 정지 화면으로 유지.</a:t>
            </a:r>
          </a:p>
          <a:p>
            <a:r>
              <a:t>촬영: 발화자 미디엄샷. 자료 큐에서 장표 전체 또는 인물·자료 분할 화면. 상대는 같은 자료를 보고 다음 말을 받는다.</a:t>
            </a:r>
          </a:p>
          <a:p>
            <a:r>
              <a:t>원본: IMG07</a:t>
            </a:r>
          </a:p>
          <a:p>
            <a:r>
              <a:t>스크립트:</a:t>
            </a:r>
          </a:p>
          <a:p>
            <a:r>
              <a:t>이관우 교육담당: 다른 부서의 일을 듣는 자리와 함께, 그 일에 직접 참여할 기회도 열었습니다. [P04 등장] Tech X입니다. 평소 맡은 업무에서는 해보기 어려웠던 프로젝트에 다른 부서 동료와 함께 참여합니다.</a:t>
            </a:r>
          </a:p>
          <a:p>
            <a:r>
              <a:t>류경동 팀장: 저는 새로운 결과물을 만드는 것만큼, 다른 부서 동료가 일하는 방법을 함께 배울 기회라는 점도 중요하게 봅니다.</a:t>
            </a:r>
          </a:p>
          <a:p>
            <a:r>
              <a:t>화면 전환은 배정 시간에 포함한다. 설명 중 문장 전체를 자막으로 다시 쓰지 않는다. 장표를 충분히 읽은 뒤 다음 장면의 큐에서 전환.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/ S05 / 최종 02:17–02:32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6개 프로젝트에 44명이</a:t>
            </a:r>
          </a:p>
          <a:p>
            <a:r>
              <a:t>P05을 0.25초 디졸브로 표시. 핵심 문장이 보이면 정지 화면으로 유지.</a:t>
            </a:r>
          </a:p>
          <a:p>
            <a:r>
              <a:t>촬영: 발화자 미디엄샷. 자료 큐에서 장표 전체 또는 인물·자료 분할 화면. 상대는 같은 자료를 보고 다음 말을 받는다.</a:t>
            </a:r>
          </a:p>
          <a:p>
            <a:r>
              <a:t>원본: IMG07</a:t>
            </a:r>
          </a:p>
          <a:p>
            <a:r>
              <a:t>스크립트:</a:t>
            </a:r>
          </a:p>
          <a:p>
            <a:r>
              <a:t>이관우 교육담당: 지금 [P05 등장] 6개 프로젝트에 44명이 참여하고 있습니다. 이 가운데 팀의 주요 미션이 되어 실제 운영에 쓰인 과제도 있습니다.</a:t>
            </a:r>
          </a:p>
          <a:p>
            <a:r>
              <a:t>6개와 44명은 한 번에 표시한다. 숫자를 읽은 뒤 다시 반복하지 않고 실제 운영 사례로 연결한다. 숫자 카운트업은 하지 않는다.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/ S06 / 최종 02:32–03:07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IAP가 그 사례입니다</a:t>
            </a:r>
          </a:p>
          <a:p>
            <a:r>
              <a:t>P06을 0.25초 디졸브로 표시. 핵심 문장이 보이면 정지 화면으로 유지.</a:t>
            </a:r>
          </a:p>
          <a:p>
            <a:r>
              <a:t>촬영: 발화자 미디엄샷. 자료 큐에서 장표 전체 또는 인물·자료 분할 화면. 상대는 같은 자료를 보고 다음 말을 받는다.</a:t>
            </a:r>
          </a:p>
          <a:p>
            <a:r>
              <a:t>원본: IMG08, IMG09, IMG10</a:t>
            </a:r>
          </a:p>
          <a:p>
            <a:r>
              <a:t>스크립트:</a:t>
            </a:r>
          </a:p>
          <a:p>
            <a:r>
              <a:t>류경동 팀장: [P06 등장] IAP가 그 사례입니다. 서버 로그의 특정 패턴을 감지해, 정해진 형식으로 메신저에 동보합니다. 이 알림 수작업을 대신합니다. 사용할 담당자가 직접 익히는 시간도 필요하겠죠.</a:t>
            </a:r>
          </a:p>
          <a:p>
            <a:r>
              <a:t>이관우 교육담당: [P06 아래 소개·실습 부분 강조] 6월에는 팀 소개 세미나를, 7월에는 에이전트를 등록할 실무 담당자 25명을 대상으로 실습을 진행했습니다.</a:t>
            </a:r>
          </a:p>
          <a:p>
            <a:r>
              <a:t>추가 큐: 6월에는 팀 소개 세미나를 / P06 아래 소개·실습 부분 강조 / 기능 설명 뒤 아래의 6월·7월 정보를 한 번에 강조. 원본 수급 시 IMG09·IMG10으로 교체. 추가 장면을 만들지 않는다.</a:t>
            </a:r>
          </a:p>
          <a:p>
            <a:r>
              <a:t>화면 전환은 배정 시간에 포함한다. 설명 중 문장 전체를 자막으로 다시 쓰지 않는다. 장표를 충분히 읽은 뒤 다음 장면의 큐에서 전환.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/ S07 / 최종 03:07–03:54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AI 4 AI 세미나입니다</a:t>
            </a:r>
          </a:p>
          <a:p>
            <a:r>
              <a:t>P07을 0.25초 디졸브로 표시. 핵심 문장이 보이면 정지 화면으로 유지.</a:t>
            </a:r>
          </a:p>
          <a:p>
            <a:r>
              <a:t>촬영: 발화자 미디엄샷. 자료 큐에서 장표 전체 또는 인물·자료 분할 화면. 상대는 같은 자료를 보고 다음 말을 받는다.</a:t>
            </a:r>
          </a:p>
          <a:p>
            <a:r>
              <a:t>원본: IMG02, IMG03</a:t>
            </a:r>
          </a:p>
          <a:p>
            <a:r>
              <a:t>스크립트:</a:t>
            </a:r>
          </a:p>
          <a:p>
            <a:r>
              <a:t>이관우 교육담당: 동료에게 배우는 것과 함께, 팀 밖의 전문가도 만나고 있습니다. [P07 등장] AI 4 AI 세미나입니다. AI를 위한 첨단 인프라라는 뜻으로, 한 달에 한 번 외부 전문가를 초청합니다.</a:t>
            </a:r>
          </a:p>
          <a:p>
            <a:r>
              <a:t>류경동 팀장: 저희가 제공하는 인프라와, 그 인프라를 운영하는 방법을 함께 살펴봅니다. AIOps는 운영에 AI를 쓰는 주제였고, 다른 세미나에서는 국가슈퍼컴퓨터와 기술 흐름을 다뤘습니다.</a:t>
            </a:r>
          </a:p>
          <a:p>
            <a:r>
              <a:t>이관우 교육담당: 팀 안에만 머무르지 않고, 센터원에게도 열어 두고 있습니다.</a:t>
            </a:r>
          </a:p>
          <a:p>
            <a:r>
              <a:t>화면 전환은 배정 시간에 포함한다. 설명 중 문장 전체를 자막으로 다시 쓰지 않는다. 장표를 충분히 읽은 뒤 다음 장면의 큐에서 전환.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/ S08 / 최종 03:54–04:14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녹화해서 교육 플랫폼에</a:t>
            </a:r>
          </a:p>
          <a:p>
            <a:r>
              <a:t>P08을 0.25초 디졸브로 표시. 핵심 문장이 보이면 정지 화면으로 유지.</a:t>
            </a:r>
          </a:p>
          <a:p>
            <a:r>
              <a:t>촬영: 발화자 미디엄샷. 자료 큐에서 장표 전체 또는 인물·자료 분할 화면. 상대는 같은 자료를 보고 다음 말을 받는다.</a:t>
            </a:r>
          </a:p>
          <a:p>
            <a:r>
              <a:t>원본: IMG13</a:t>
            </a:r>
          </a:p>
          <a:p>
            <a:r>
              <a:t>스크립트:</a:t>
            </a:r>
          </a:p>
          <a:p>
            <a:r>
              <a:t>류경동 팀장: 세미나는 [P08 등장] 녹화해서 교육 플랫폼에 올리고, [P08 교육 플랫폼 공유 강조] 센터원과 공유합니다. 그날 참석하지 못한 동료도, 나중에 다시 듣고 싶은 동료도 찾아볼 수 있도록요.</a:t>
            </a:r>
          </a:p>
          <a:p>
            <a:r>
              <a:t>추가 큐: 센터원과 공유합니다 / P08 교육 플랫폼 공유 강조 / 교육 플랫폼의 센터원 공유 문구에 얇은 밑줄을 표시한다. 실제 플랫폼을 확보하면 동일 큐에서 IMG13을 보여준다.</a:t>
            </a:r>
          </a:p>
          <a:p>
            <a:r>
              <a:t>발화 후 3초 안팎으로 녹화·교육 플랫폼·공유 대상을 눈으로 확인한다. 실측에 따라 화자 컷과 자료 홀드를 조정한다. 20초 전체를 플랫폼 도식 하나로 채우지 않는다.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/ S09 / 최종 04:14–04:44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작은 과제 하나를</a:t>
            </a:r>
          </a:p>
          <a:p>
            <a:r>
              <a:t>P09을 0.25초 디졸브로 표시. 핵심 문장이 보이면 정지 화면으로 유지.</a:t>
            </a:r>
          </a:p>
          <a:p>
            <a:r>
              <a:t>촬영: 발화자 미디엄샷. 자료 큐에서 장표 전체 또는 인물·자료 분할 화면. 상대는 같은 자료를 보고 다음 말을 받는다.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다른 조직이라면, 작은 과제부터 시작해 볼 수도 있겠네요.</a:t>
            </a:r>
          </a:p>
          <a:p>
            <a:r>
              <a:t>류경동 팀장: 다른 부서 동료와 해보고 싶은 [P09 등장] 작은 과제 하나를 정해 보세요. 서로 어떤 일을 할 수 있는지 이야기하고, 함께 해볼 부분을 찾는 겁니다.</a:t>
            </a:r>
          </a:p>
          <a:p>
            <a:r>
              <a:t>이관우 교육담당: 해본 내용을 누구에게 나눌지도 함께 정하고요.</a:t>
            </a:r>
          </a:p>
          <a:p>
            <a:r>
              <a:t>화면 전환은 배정 시간에 포함한다. 설명 중 문장 전체를 자막으로 다시 쓰지 않는다. 장표를 충분히 읽은 뒤 다음 장면의 큐에서 전환.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/ S10 / 최종 04:44–04:55</a:t>
            </a:r>
          </a:p>
          <a:p>
            <a:r>
              <a:t>원본 버전: editorial-v0.1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AI 4 AI. 그 일</a:t>
            </a:r>
          </a:p>
          <a:p>
            <a:r>
              <a:t>P10을 0.25초 디졸브로 표시. 핵심 문장이 보이면 정지 화면으로 유지.</a:t>
            </a:r>
          </a:p>
          <a:p>
            <a:r>
              <a:t>촬영: 발화자 미디엄샷. 자료 큐에서 장표 전체 또는 인물·자료 분할 화면. 상대는 같은 자료를 보고 다음 말을 받는다.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Data Center팀이었습니다.</a:t>
            </a:r>
          </a:p>
          <a:p>
            <a:r>
              <a:t>류경동 팀장: [P10 등장] AI 4 AI. 그 일, 같이 해볼까요?</a:t>
            </a:r>
          </a:p>
          <a:p>
            <a:r>
              <a:t>화면 전환은 배정 시간에 포함한다. 설명 중 문장 전체를 자막으로 다시 쓰지 않는다. 장표를 충분히 읽은 뒤 다음 장면의 큐에서 전환.</a:t>
            </a:r>
          </a:p>
          <a:p>
            <a:r>
              <a:t>사용자 제공 사실과 추가 확인. 의견과 질문은 촬영용 제안. 참여 후기·출연자 과거 발언 아님.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A01 / 숨김 제작 부록 / 2026-10-11</a:t>
            </a:r>
          </a:p>
          <a:p>
            <a:r>
              <a:t>촬영 전 확보할 실제 자료</a:t>
            </a:r>
          </a:p>
          <a:p>
            <a:r>
              <a:t>본편은 확인된 사실을 글자·도식으로 설명한 대체 화면입니다.</a:t>
            </a:r>
          </a:p>
          <a:p/>
          <a:p>
            <a:r>
              <a:t>P02–P03 / 업무 소개·내부 세미나 / IMG04·05: Job Fair / IMG06: DCIS</a:t>
            </a:r>
          </a:p>
          <a:p>
            <a:r>
              <a:t>P04–P06 / 과제·업무 적용·실습 / IMG07: Tech X / IMG08·09·10: IAP</a:t>
            </a:r>
          </a:p>
          <a:p>
            <a:r>
              <a:t>P07–P08 / 외부 세미나·녹화 공유 / IMG02·03: 세미나 / IMG13: 교육 플랫폼</a:t>
            </a:r>
          </a:p>
          <a:p>
            <a:r>
              <a:t>본편 사용 제외. 검토 PDF·PNG에는 이 숨김 부록도 포함된다.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A02 / 숨김 제작 부록 / 2026-10-11</a:t>
            </a:r>
          </a:p>
          <a:p>
            <a:r>
              <a:t>제작·모션 지시</a:t>
            </a:r>
          </a:p>
          <a:p>
            <a:r>
              <a:t>본편에는 실제 애니메이션이 없습니다. 발화 큐와 함께 영상팀이 구현합니다.</a:t>
            </a:r>
          </a:p>
          <a:p/>
          <a:p>
            <a:r>
              <a:t>자료 등장 / 짧게 전환하고 정지 / 장표 0.25초 디졸브. 읽는 중에는 움직이지 않음.</a:t>
            </a:r>
          </a:p>
          <a:p>
            <a:r>
              <a:t>P06·P08 / 한 번에 한 부분 강조 / 기능→소개·실습 / 녹화→공유 대상. 추가 큐는 노트 참조.</a:t>
            </a:r>
          </a:p>
          <a:p>
            <a:r>
              <a:t>실제 원본 수급 시 / 같은 논점을 보여주는 화면으로 교체 / 가짜 직원 반응·행사 사진·플랫폼 화면 제작 금지.</a:t>
            </a:r>
          </a:p>
          <a:p>
            <a:r>
              <a:t>본편 사용 제외. 검토 PDF·PNG에는 이 숨김 부록도 포함된다.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A03 / 숨김 제작 부록 / 2026-10-11</a:t>
            </a:r>
          </a:p>
          <a:p>
            <a:r>
              <a:t>확인된 사실과 남은 확인</a:t>
            </a:r>
          </a:p>
          <a:p>
            <a:r>
              <a:t>발화량은 추정입니다. 실제 출연자 낭독과 내부 원본 확인이 필요합니다.</a:t>
            </a:r>
          </a:p>
          <a:p/>
          <a:p>
            <a:r>
              <a:t>현재 확인 / 6개 과제·44명 참여 / 11개 부서 소개 / 참여 규모. 개선율이나 만족도를 뜻하지 않음.</a:t>
            </a:r>
          </a:p>
          <a:p>
            <a:r>
              <a:t>IAP / 해당 알림 수작업 대체·운영 도입 / 시간 절감·자동 복구·전 인프라 적용 완료 주장 없음.</a:t>
            </a:r>
          </a:p>
          <a:p>
            <a:r>
              <a:t>촬영 전 / 출연자 의견·수치 최신성·10월 개최 / OutSystems는 마지막 확인 기준 예정. 본편에 완료 주장 없음.</a:t>
            </a:r>
          </a:p>
          <a:p>
            <a:r>
              <a:t>본편 사용 제외. 검토 PDF·PNG에는 이 숨김 부록도 포함된다.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AI 4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02522"/>
                </a:solidFill>
                <a:latin typeface="맑은 고딕"/>
                <a:ea typeface="맑은 고딕"/>
              </a:rPr>
              <a:t>옆 부서는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202522"/>
                </a:solidFill>
                <a:latin typeface="맑은 고딕"/>
                <a:ea typeface="맑은 고딕"/>
              </a:rPr>
              <a:t>무슨 일을 할까?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62472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26962"/>
                </a:solidFill>
                <a:latin typeface="맑은 고딕"/>
                <a:ea typeface="맑은 고딕"/>
              </a:rPr>
              <a:t>Advanced Infrastructure for Artificial Intelligence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107899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0">
                <a:solidFill>
                  <a:srgbClr val="202522"/>
                </a:solidFill>
                <a:latin typeface="맑은 고딕"/>
                <a:ea typeface="맑은 고딕"/>
              </a:rPr>
              <a:t>Data Center팀  ·  서버와 클라우드의 구축·운영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Job Fair  ·  8월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우리 부서는 이런 일을 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6309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0">
                <a:solidFill>
                  <a:srgbClr val="202522"/>
                </a:solidFill>
                <a:latin typeface="맑은 고딕"/>
                <a:ea typeface="맑은 고딕"/>
              </a:rPr>
              <a:t>각 부서의 업무를</a:t>
            </a:r>
          </a:p>
          <a:p>
            <a:pPr algn="l">
              <a:spcAft>
                <a:spcPts val="400"/>
              </a:spcAft>
            </a:pPr>
            <a:r>
              <a:rPr sz="2700" b="0">
                <a:solidFill>
                  <a:srgbClr val="202522"/>
                </a:solidFill>
                <a:latin typeface="맑은 고딕"/>
                <a:ea typeface="맑은 고딕"/>
              </a:rPr>
              <a:t>A0 판넬로 직접 소개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16368" y="3246120"/>
            <a:ext cx="0" cy="242316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55279" y="3264408"/>
            <a:ext cx="35478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업무를 소개한 부서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2" y="3803904"/>
            <a:ext cx="3611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800" b="1">
                <a:solidFill>
                  <a:srgbClr val="202522"/>
                </a:solidFill>
                <a:latin typeface="맑은 고딕"/>
                <a:ea typeface="맑은 고딕"/>
              </a:rPr>
              <a:t>11개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83480"/>
            <a:ext cx="6309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626962"/>
                </a:solidFill>
                <a:latin typeface="맑은 고딕"/>
                <a:ea typeface="맑은 고딕"/>
              </a:rPr>
              <a:t>부스에서 듣고, 궁금한 일을 묻는 자리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DCIS  ·  월 1회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202522"/>
                </a:solidFill>
                <a:latin typeface="맑은 고딕"/>
                <a:ea typeface="맑은 고딕"/>
              </a:rPr>
              <a:t>요즘 우리 부서가</a:t>
            </a:r>
          </a:p>
          <a:p>
            <a:pPr algn="l">
              <a:spcAft>
                <a:spcPts val="400"/>
              </a:spcAft>
            </a:pPr>
            <a:r>
              <a:rPr sz="4800" b="1">
                <a:solidFill>
                  <a:srgbClr val="202522"/>
                </a:solidFill>
                <a:latin typeface="맑은 고딕"/>
                <a:ea typeface="맑은 고딕"/>
              </a:rPr>
              <a:t>하고 있는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62472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26962"/>
                </a:solidFill>
                <a:latin typeface="맑은 고딕"/>
                <a:ea typeface="맑은 고딕"/>
              </a:rPr>
              <a:t>Data Center Idea Sync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52544"/>
            <a:ext cx="107899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202522"/>
                </a:solidFill>
                <a:latin typeface="맑은 고딕"/>
                <a:ea typeface="맑은 고딕"/>
              </a:rPr>
              <a:t>주요 과제 · 제공하는 서비스 · 연구 중인 기술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Tech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다른 부서의 일,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직접 해볼 수 있도록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0">
                <a:solidFill>
                  <a:srgbClr val="202522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95344"/>
            <a:ext cx="52029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평소 맡은 업무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53128"/>
            <a:ext cx="5202936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522"/>
                </a:solidFill>
                <a:latin typeface="맑은 고딕"/>
                <a:ea typeface="맑은 고딕"/>
              </a:rPr>
              <a:t>내 부서의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77256"/>
            <a:ext cx="520293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현재 담당하고 있는 업무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4476" y="3877056"/>
            <a:ext cx="0" cy="2048256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0216" y="3895344"/>
            <a:ext cx="52029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관심 있는 프로젝트 참여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4453128"/>
            <a:ext cx="5202936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522"/>
                </a:solidFill>
                <a:latin typeface="맑은 고딕"/>
                <a:ea typeface="맑은 고딕"/>
              </a:rPr>
              <a:t>부서 밖의 동료와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5477256"/>
            <a:ext cx="520293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평소 하기 어려웠던 새로운 경험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Tech X  ·  진행 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부서를 넘어,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같은 과제를 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0">
                <a:solidFill>
                  <a:srgbClr val="202522"/>
                </a:solidFill>
                <a:latin typeface="맑은 고딕"/>
                <a:ea typeface="맑은 고딕"/>
              </a:rPr>
              <a:t>3월 과제 선정 · 현재 진행 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95344"/>
            <a:ext cx="52029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53128"/>
            <a:ext cx="5202936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202522"/>
                </a:solidFill>
                <a:latin typeface="맑은 고딕"/>
                <a:ea typeface="맑은 고딕"/>
              </a:rPr>
              <a:t>6개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77256"/>
            <a:ext cx="520293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함께 진행하는 과제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4476" y="3877056"/>
            <a:ext cx="0" cy="2048256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00216" y="3895344"/>
            <a:ext cx="52029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참여 인원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4453128"/>
            <a:ext cx="5202936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202522"/>
                </a:solidFill>
                <a:latin typeface="맑은 고딕"/>
                <a:ea typeface="맑은 고딕"/>
              </a:rPr>
              <a:t>44명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5477256"/>
            <a:ext cx="520293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부서 밖의 동료와 함께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Tech X의 대표 사례  ·  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로그 알림 업무를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자동화했습니다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0">
                <a:solidFill>
                  <a:srgbClr val="202522"/>
                </a:solidFill>
                <a:latin typeface="맑은 고딕"/>
                <a:ea typeface="맑은 고딕"/>
              </a:rPr>
              <a:t>서버 로그의 특정 패턴 감지 → 정해진 형식의 메신저 동보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95344"/>
            <a:ext cx="3331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업무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53128"/>
            <a:ext cx="3331464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02522"/>
                </a:solidFill>
                <a:latin typeface="맑은 고딕"/>
                <a:ea typeface="맑은 고딕"/>
              </a:rPr>
              <a:t>알림 수작업 대체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77256"/>
            <a:ext cx="333146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Infra Agent Platform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23004" y="3877056"/>
            <a:ext cx="0" cy="2048256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28744" y="3895344"/>
            <a:ext cx="3331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6월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8744" y="4453128"/>
            <a:ext cx="3331464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02522"/>
                </a:solidFill>
                <a:latin typeface="맑은 고딕"/>
                <a:ea typeface="맑은 고딕"/>
              </a:rPr>
              <a:t>팀 소개 세미나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8744" y="5477256"/>
            <a:ext cx="333146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개발한 내용 소개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65947" y="3877056"/>
            <a:ext cx="0" cy="2048256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71687" y="3895344"/>
            <a:ext cx="3331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7월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1687" y="4453128"/>
            <a:ext cx="3331464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202522"/>
                </a:solidFill>
                <a:latin typeface="맑은 고딕"/>
                <a:ea typeface="맑은 고딕"/>
              </a:rPr>
              <a:t>25명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1687" y="5477256"/>
            <a:ext cx="333146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에이전트 등록 실무자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AI 4 AI  ·  외부 전문가 초청 세미나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AI를 위한 인프라를 만들고,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운영에도 AI를 활용하도록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62472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26962"/>
                </a:solidFill>
                <a:latin typeface="맑은 고딕"/>
                <a:ea typeface="맑은 고딕"/>
              </a:rPr>
              <a:t>Advanced Infrastructure for Artificial Intelligence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0">
                <a:solidFill>
                  <a:srgbClr val="202522"/>
                </a:solidFill>
                <a:latin typeface="맑은 고딕"/>
                <a:ea typeface="맑은 고딕"/>
              </a:rPr>
              <a:t>월 1회  ·  센터원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95344"/>
            <a:ext cx="52029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AI를 활용하는 운영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53128"/>
            <a:ext cx="5202936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522"/>
                </a:solidFill>
                <a:latin typeface="맑은 고딕"/>
                <a:ea typeface="맑은 고딕"/>
              </a:rPr>
              <a:t>AIOps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77256"/>
            <a:ext cx="520293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Cisco 초청 · 3월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4476" y="3877056"/>
            <a:ext cx="0" cy="2048256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00216" y="3895344"/>
            <a:ext cx="52029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AI를 위한 인프라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4453128"/>
            <a:ext cx="5202936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02522"/>
                </a:solidFill>
                <a:latin typeface="맑은 고딕"/>
                <a:ea typeface="맑은 고딕"/>
              </a:rPr>
              <a:t>국가슈퍼컴퓨터 6호기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5477256"/>
            <a:ext cx="520293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KISTI 초청 · 5월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AI 4 AI  ·  녹화 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그날 못 들은 동료도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다시 볼 수 있게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0">
                <a:solidFill>
                  <a:srgbClr val="202522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75887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외부 전문가 초청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79392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02522"/>
                </a:solidFill>
                <a:latin typeface="맑은 고딕"/>
                <a:ea typeface="맑은 고딕"/>
              </a:rPr>
              <a:t>세미나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93792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센터원 대상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21608" y="4599432"/>
            <a:ext cx="512064" cy="0"/>
          </a:xfrm>
          <a:prstGeom prst="line">
            <a:avLst/>
          </a:prstGeom>
          <a:ln w="19050">
            <a:solidFill>
              <a:srgbClr val="176B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34840" y="3675887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279392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02522"/>
                </a:solidFill>
                <a:latin typeface="맑은 고딕"/>
                <a:ea typeface="맑은 고딕"/>
              </a:rPr>
              <a:t>녹화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193792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세미나 내용을 남김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70648" y="4599432"/>
            <a:ext cx="512064" cy="0"/>
          </a:xfrm>
          <a:prstGeom prst="line">
            <a:avLst/>
          </a:prstGeom>
          <a:ln w="19050">
            <a:solidFill>
              <a:srgbClr val="176B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83879" y="3675887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다시 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279392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02522"/>
                </a:solidFill>
                <a:latin typeface="맑은 고딕"/>
                <a:ea typeface="맑은 고딕"/>
              </a:rPr>
              <a:t>교육 플랫폼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193792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626962"/>
                </a:solidFill>
                <a:latin typeface="맑은 고딕"/>
                <a:ea typeface="맑은 고딕"/>
              </a:rPr>
              <a:t>센터원에게 공유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다른 조직에서도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202522"/>
                </a:solidFill>
                <a:latin typeface="맑은 고딕"/>
                <a:ea typeface="맑은 고딕"/>
              </a:rPr>
              <a:t>다른 부서 동료와</a:t>
            </a:r>
          </a:p>
          <a:p>
            <a:pPr algn="l">
              <a:spcAft>
                <a:spcPts val="400"/>
              </a:spcAft>
            </a:pPr>
            <a:r>
              <a:rPr sz="4800" b="1">
                <a:solidFill>
                  <a:srgbClr val="202522"/>
                </a:solidFill>
                <a:latin typeface="맑은 고딕"/>
                <a:ea typeface="맑은 고딕"/>
              </a:rPr>
              <a:t>해보고 싶은 일 하나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52544"/>
            <a:ext cx="107899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202522"/>
                </a:solidFill>
                <a:latin typeface="맑은 고딕"/>
                <a:ea typeface="맑은 고딕"/>
              </a:rPr>
              <a:t>작게 함께 해보고, 해본 경험을 나누는 자리까지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2026 Learning Fair  ·  Data Center팀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202522"/>
                </a:solidFill>
                <a:latin typeface="맑은 고딕"/>
                <a:ea typeface="맑은 고딕"/>
              </a:rPr>
              <a:t>AI 4 AI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202522"/>
                </a:solidFill>
                <a:latin typeface="맑은 고딕"/>
                <a:ea typeface="맑은 고딕"/>
              </a:rPr>
              <a:t>그 일, 같이 해볼까요?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P10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107899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0">
                <a:solidFill>
                  <a:srgbClr val="202522"/>
                </a:solidFill>
                <a:latin typeface="맑은 고딕"/>
                <a:ea typeface="맑은 고딕"/>
              </a:rPr>
              <a:t>류경동 팀장 · 이관우 교육담당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제작 참고 / 본편 사용 제외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촬영 전 확보할 실제 자료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A01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9008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02522"/>
                </a:solidFill>
                <a:latin typeface="맑은 고딕"/>
                <a:ea typeface="맑은 고딕"/>
              </a:rPr>
              <a:t>본편은 확인된 사실을 글자·도식으로 설명한 대체 화면입니다.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85615"/>
            <a:ext cx="18653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6B5B"/>
                </a:solidFill>
                <a:latin typeface="맑은 고딕"/>
                <a:ea typeface="맑은 고딕"/>
              </a:rPr>
              <a:t>P02–P03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3785615"/>
            <a:ext cx="32369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02522"/>
                </a:solidFill>
                <a:latin typeface="맑은 고딕"/>
                <a:ea typeface="맑은 고딕"/>
              </a:rPr>
              <a:t>업무 소개·내부 세미나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3785615"/>
            <a:ext cx="538581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26962"/>
                </a:solidFill>
                <a:latin typeface="맑은 고딕"/>
                <a:ea typeface="맑은 고딕"/>
              </a:rPr>
              <a:t>IMG04·05: Job Fair / IMG06: DCIS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497324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547615"/>
            <a:ext cx="18653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6B5B"/>
                </a:solidFill>
                <a:latin typeface="맑은 고딕"/>
                <a:ea typeface="맑은 고딕"/>
              </a:rPr>
              <a:t>P04–P06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4547615"/>
            <a:ext cx="32369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02522"/>
                </a:solidFill>
                <a:latin typeface="맑은 고딕"/>
                <a:ea typeface="맑은 고딕"/>
              </a:rPr>
              <a:t>과제·업무 적용·실습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4547615"/>
            <a:ext cx="538581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26962"/>
                </a:solidFill>
                <a:latin typeface="맑은 고딕"/>
                <a:ea typeface="맑은 고딕"/>
              </a:rPr>
              <a:t>IMG07: Tech X / IMG08·09·10: IAP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5259324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5309616"/>
            <a:ext cx="18653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6B5B"/>
                </a:solidFill>
                <a:latin typeface="맑은 고딕"/>
                <a:ea typeface="맑은 고딕"/>
              </a:rPr>
              <a:t>P07–P08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5309616"/>
            <a:ext cx="32369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02522"/>
                </a:solidFill>
                <a:latin typeface="맑은 고딕"/>
                <a:ea typeface="맑은 고딕"/>
              </a:rPr>
              <a:t>외부 세미나·녹화 공유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5309616"/>
            <a:ext cx="538581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26962"/>
                </a:solidFill>
                <a:latin typeface="맑은 고딕"/>
                <a:ea typeface="맑은 고딕"/>
              </a:rPr>
              <a:t>IMG02·03: 세미나 / IMG13: 교육 플랫폼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제작 참고 / 본편 사용 제외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제작·모션 지시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A02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9008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02522"/>
                </a:solidFill>
                <a:latin typeface="맑은 고딕"/>
                <a:ea typeface="맑은 고딕"/>
              </a:rPr>
              <a:t>본편에는 실제 애니메이션이 없습니다. 발화 큐와 함께 영상팀이 구현합니다.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85615"/>
            <a:ext cx="18653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6B5B"/>
                </a:solidFill>
                <a:latin typeface="맑은 고딕"/>
                <a:ea typeface="맑은 고딕"/>
              </a:rPr>
              <a:t>자료 등장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3785615"/>
            <a:ext cx="32369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02522"/>
                </a:solidFill>
                <a:latin typeface="맑은 고딕"/>
                <a:ea typeface="맑은 고딕"/>
              </a:rPr>
              <a:t>짧게 전환하고 정지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3785615"/>
            <a:ext cx="538581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26962"/>
                </a:solidFill>
                <a:latin typeface="맑은 고딕"/>
                <a:ea typeface="맑은 고딕"/>
              </a:rPr>
              <a:t>장표 0.25초 디졸브. 읽는 중에는 움직이지 않음.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497324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547615"/>
            <a:ext cx="18653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6B5B"/>
                </a:solidFill>
                <a:latin typeface="맑은 고딕"/>
                <a:ea typeface="맑은 고딕"/>
              </a:rPr>
              <a:t>P06·P08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4547615"/>
            <a:ext cx="32369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02522"/>
                </a:solidFill>
                <a:latin typeface="맑은 고딕"/>
                <a:ea typeface="맑은 고딕"/>
              </a:rPr>
              <a:t>한 번에 한 부분 강조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4547615"/>
            <a:ext cx="538581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26962"/>
                </a:solidFill>
                <a:latin typeface="맑은 고딕"/>
                <a:ea typeface="맑은 고딕"/>
              </a:rPr>
              <a:t>기능→소개·실습 / 녹화→공유 대상. 추가 큐는 노트 참조.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5259324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5309616"/>
            <a:ext cx="18653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6B5B"/>
                </a:solidFill>
                <a:latin typeface="맑은 고딕"/>
                <a:ea typeface="맑은 고딕"/>
              </a:rPr>
              <a:t>실제 원본 수급 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5309616"/>
            <a:ext cx="32369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02522"/>
                </a:solidFill>
                <a:latin typeface="맑은 고딕"/>
                <a:ea typeface="맑은 고딕"/>
              </a:rPr>
              <a:t>같은 논점을 보여주는 화면으로 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5309616"/>
            <a:ext cx="538581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26962"/>
                </a:solidFill>
                <a:latin typeface="맑은 고딕"/>
                <a:ea typeface="맑은 고딕"/>
              </a:rPr>
              <a:t>가짜 직원 반응·행사 사진·플랫폼 화면 제작 금지.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76B5B"/>
                </a:solidFill>
                <a:latin typeface="맑은 고딕"/>
                <a:ea typeface="맑은 고딕"/>
              </a:rPr>
              <a:t>제작 참고 / 본편 사용 제외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07592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202522"/>
                </a:solidFill>
                <a:latin typeface="맑은 고딕"/>
                <a:ea typeface="맑은 고딕"/>
              </a:rPr>
              <a:t>확인된 사실과 남은 확인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6419088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6528816"/>
            <a:ext cx="7772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76B5B"/>
                </a:solidFill>
                <a:latin typeface="맑은 고딕"/>
                <a:ea typeface="맑은 고딕"/>
              </a:rPr>
              <a:t>A03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528816"/>
            <a:ext cx="400507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26962"/>
                </a:solidFill>
                <a:latin typeface="맑은 고딕"/>
                <a:ea typeface="맑은 고딕"/>
              </a:rPr>
              <a:t>2026 LEARNING FAIR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90088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02522"/>
                </a:solidFill>
                <a:latin typeface="맑은 고딕"/>
                <a:ea typeface="맑은 고딕"/>
              </a:rPr>
              <a:t>발화량은 추정입니다. 실제 출연자 낭독과 내부 원본 확인이 필요합니다.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85615"/>
            <a:ext cx="18653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6B5B"/>
                </a:solidFill>
                <a:latin typeface="맑은 고딕"/>
                <a:ea typeface="맑은 고딕"/>
              </a:rPr>
              <a:t>현재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4" y="3785615"/>
            <a:ext cx="32369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02522"/>
                </a:solidFill>
                <a:latin typeface="맑은 고딕"/>
                <a:ea typeface="맑은 고딕"/>
              </a:rPr>
              <a:t>6개 과제·44명 참여 / 11개 부서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3785615"/>
            <a:ext cx="538581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26962"/>
                </a:solidFill>
                <a:latin typeface="맑은 고딕"/>
                <a:ea typeface="맑은 고딕"/>
              </a:rPr>
              <a:t>참여 규모. 개선율이나 만족도를 뜻하지 않음.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497324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547615"/>
            <a:ext cx="18653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6B5B"/>
                </a:solidFill>
                <a:latin typeface="맑은 고딕"/>
                <a:ea typeface="맑은 고딕"/>
              </a:rPr>
              <a:t>IAP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4547615"/>
            <a:ext cx="32369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02522"/>
                </a:solidFill>
                <a:latin typeface="맑은 고딕"/>
                <a:ea typeface="맑은 고딕"/>
              </a:rPr>
              <a:t>해당 알림 수작업 대체·운영 도입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7336" y="4547615"/>
            <a:ext cx="538581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26962"/>
                </a:solidFill>
                <a:latin typeface="맑은 고딕"/>
                <a:ea typeface="맑은 고딕"/>
              </a:rPr>
              <a:t>시간 절감·자동 복구·전 인프라 적용 완료 주장 없음.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5259324"/>
            <a:ext cx="10817352" cy="0"/>
          </a:xfrm>
          <a:prstGeom prst="line">
            <a:avLst/>
          </a:prstGeom>
          <a:ln w="12700">
            <a:solidFill>
              <a:srgbClr val="D9D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5309616"/>
            <a:ext cx="18653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6B5B"/>
                </a:solidFill>
                <a:latin typeface="맑은 고딕"/>
                <a:ea typeface="맑은 고딕"/>
              </a:rPr>
              <a:t>촬영 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5309616"/>
            <a:ext cx="323697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02522"/>
                </a:solidFill>
                <a:latin typeface="맑은 고딕"/>
                <a:ea typeface="맑은 고딕"/>
              </a:rPr>
              <a:t>출연자 의견·수치 최신성·10월 개최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7336" y="5309616"/>
            <a:ext cx="5385816" cy="7025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26962"/>
                </a:solidFill>
                <a:latin typeface="맑은 고딕"/>
                <a:ea typeface="맑은 고딕"/>
              </a:rPr>
              <a:t>OutSystems는 마지막 확인 기준 예정. 본편에 완료 주장 없음.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4 AI — 그 일, 같이 해볼까요?</dc:title>
  <dc:subject/>
  <dc:creator>Data Center팀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