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8"/>
    <p:sldId id="267" r:id="rId19"/>
    <p:sldId id="268" r:id="rId2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P01 / S01 / 최종 00:20–00:45</a:t>
            </a:r>
          </a:p>
          <a:p>
            <a:r>
              <a:t>자료 큐는 발화 기준. 타임코드는 목표 편집 시간.</a:t>
            </a:r>
          </a:p>
          <a:p>
            <a:r>
              <a:t>자료 등장: 우리는 서버와 클라우드를</a:t>
            </a:r>
          </a:p>
          <a:p>
            <a:r>
              <a:t>P01 등장. ‘서버·클라우드 / AI 인프라 / 약 160명’ 키워드 순차 표시.</a:t>
            </a:r>
          </a:p>
          <a:p>
            <a:r>
              <a:t>촬영: 인사 2인 풀샷 → 팀장님 정면 클로스업 → 발화 큐에서 장표와 인물 분할 화면</a:t>
            </a:r>
          </a:p>
          <a:p>
            <a:r>
              <a:t>원본: 키워드·도식</a:t>
            </a:r>
          </a:p>
          <a:p>
            <a:r>
              <a:t>스크립트:</a:t>
            </a:r>
          </a:p>
          <a:p>
            <a:r>
              <a:t>류경동 팀장 · 이관우 교육담당: 안녕하세요. Data Center팀입니다.</a:t>
            </a:r>
          </a:p>
          <a:p>
            <a:r>
              <a:t>류경동 팀장: [P01 등장] 우리는 서버와 클라우드를 구축하고 운영하며, 회사가 AI를 활용할 기반을 만듭니다. 빠르게 바뀌는 기술 속에서, 우리 자신은 어떻게 성장해야 할까요? 올해는 그 답을 서로의 연결에서 찾았습니다.</a:t>
            </a:r>
          </a:p>
          <a:p>
            <a:r>
              <a:t>질문 뒤 1초 호흡. 마지막 발화까지 P01을 유지하고 연결선 한 점을 켠다. S02의 자료 등장 큐에서 P02로 전환.</a:t>
            </a:r>
          </a:p>
          <a:p>
            <a:r>
              <a:t>현재 애니메이션 없음. 연결선 점등 등은 영상팀 편집 지시.</a:t>
            </a:r>
          </a:p>
          <a:p>
            <a:r>
              <a:t>출처: 사용자 브리프 및 추가 확인, 2026-10-09. 외부 기술 배경은 docs/04-web-references.md.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P02 / S02 / 최종 00:45–01:10</a:t>
            </a:r>
          </a:p>
          <a:p>
            <a:r>
              <a:t>자료 큐는 발화 기준. 타임코드는 목표 편집 시간.</a:t>
            </a:r>
          </a:p>
          <a:p>
            <a:r>
              <a:t>자료 등장: 그 연결의 이름이</a:t>
            </a:r>
          </a:p>
          <a:p>
            <a:r>
              <a:t>P02 등장. 공식 영문 확장명 하단 표시. ‘AI를 위한 인프라 제공’ 다음 ‘AI를 활용한 운영’ 순서로 양방향 강조.</a:t>
            </a:r>
          </a:p>
          <a:p>
            <a:r>
              <a:t>촬영: 교육담당 클로스업 → P02 전체 화면 → 교육담당 측면샷</a:t>
            </a:r>
          </a:p>
          <a:p>
            <a:r>
              <a:t>원본: 키워드·도식</a:t>
            </a:r>
          </a:p>
          <a:p>
            <a:r>
              <a:t>스크립트:</a:t>
            </a:r>
          </a:p>
          <a:p>
            <a:r>
              <a:t>이관우 교육담당: [P02 등장] 그 연결의 이름이 AI 4 AI입니다. AI를 위한 인프라를 뜻하는 세미나 이름이죠. 또 하나의 방향도 있습니다. [P02 두 번째 방향 강조] AI로 인프라 운영을 발전시키는 겁니다. 두 방향을 잇는 힘은, 사람 사이에서 배움이 오가는 문화입니다.</a:t>
            </a:r>
          </a:p>
          <a:p>
            <a:r>
              <a:t>‘두 방향’ 앞 짧은 호흡. 도식은 기술 구조가 아닌 역할 설명임.</a:t>
            </a:r>
          </a:p>
          <a:p>
            <a:r>
              <a:t>현재 애니메이션 없음. 연결선 점등 등은 영상팀 편집 지시.</a:t>
            </a:r>
          </a:p>
          <a:p>
            <a:r>
              <a:t>출처: 사용자 브리프 및 추가 확인, 2026-10-09. 외부 기술 배경은 docs/04-web-references.md.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P03 / S03 / 최종 01:10–01:39</a:t>
            </a:r>
          </a:p>
          <a:p>
            <a:r>
              <a:t>자료 큐는 발화 기준. 타임코드는 목표 편집 시간.</a:t>
            </a:r>
          </a:p>
          <a:p>
            <a:r>
              <a:t>자료 등장: 삼월부터 매달</a:t>
            </a:r>
          </a:p>
          <a:p>
            <a:r>
              <a:t>P03 등장. 내부 세미나 사진 또는 승인 포스터 표시. ‘월 1회 / 센터원 대상’ 표시.</a:t>
            </a:r>
          </a:p>
          <a:p>
            <a:r>
              <a:t>촬영: 교육담당 정면 → 세미나 이미지 전체 화면 4~6초 → 교육담당 클로스업</a:t>
            </a:r>
          </a:p>
          <a:p>
            <a:r>
              <a:t>원본: IMG02, IMG03</a:t>
            </a:r>
          </a:p>
          <a:p>
            <a:r>
              <a:t>스크립트:</a:t>
            </a:r>
          </a:p>
          <a:p>
            <a:r>
              <a:t>이관우 교육담당: 배움의 문을 팀 밖으로 열었습니다. [P03 등장] 삼월부터 매달 외부 전문가와 만나는 AI 4 AI 세미나를 열고 있습니다. AI 운영부터 슈퍼컴퓨터, 데이터와 양자컴퓨터까지. 약 2천 명의 센터원을 대상으로, 준비할 인프라와 일하는 방식을 함께 생각합니다.</a:t>
            </a:r>
          </a:p>
          <a:p>
            <a:r>
              <a:t>대상 규모는 누적 참석자 수가 아님. 월별 개최 목록은 부록에만 배치.</a:t>
            </a:r>
          </a:p>
          <a:p>
            <a:r>
              <a:t>현재 애니메이션 없음. 연결선 점등 등은 영상팀 편집 지시.</a:t>
            </a:r>
          </a:p>
          <a:p>
            <a:r>
              <a:t>출처: 사용자 브리프 및 추가 확인, 2026-10-09. 외부 기술 배경은 docs/04-web-references.md.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P04 / S04 / 최종 01:39–02:10</a:t>
            </a:r>
          </a:p>
          <a:p>
            <a:r>
              <a:t>자료 큐는 발화 기준. 타임코드는 목표 편집 시간.</a:t>
            </a:r>
          </a:p>
          <a:p>
            <a:r>
              <a:t>자료 등장: Job Fair에서는</a:t>
            </a:r>
          </a:p>
          <a:p>
            <a:r>
              <a:t>P04 등장. Job Fair 부스 사진 → DCIS 자료 순차 전환. ‘11개 부서 / 서로의 업무·과제·서비스’ 표시.</a:t>
            </a:r>
          </a:p>
          <a:p>
            <a:r>
              <a:t>촬영: 팀장님 클로스업 → 2인 연결샷 → 교육담당 클로스업 → 장표 전체 화면</a:t>
            </a:r>
          </a:p>
          <a:p>
            <a:r>
              <a:t>원본: IMG04, IMG05, IMG06</a:t>
            </a:r>
          </a:p>
          <a:p>
            <a:r>
              <a:t>스크립트:</a:t>
            </a:r>
          </a:p>
          <a:p>
            <a:r>
              <a:t>류경동 팀장: 동료를 이해하는 일도 중요합니다. 협업하는 부서가 어떤 일을 하는지, 무엇을 고민하는지부터 알아야 하니까요.</a:t>
            </a:r>
          </a:p>
          <a:p>
            <a:r>
              <a:t>이관우 교육담당: [P04 등장] Job Fair에서는 11개 부서가 각자의 일을 소개했습니다. 매달 열리는 DCIS에서는 주요 과제와 서비스, 연구 중인 기술을 나눕니다. 서로의 업무를 들여다볼 자리를 만든 겁니다.</a:t>
            </a:r>
          </a:p>
          <a:p>
            <a:r>
              <a:t>발화자 교대에 1초 배정. 모든 팀원이 실제 참석했다는 숫자는 넣지 않음.</a:t>
            </a:r>
          </a:p>
          <a:p>
            <a:r>
              <a:t>현재 애니메이션 없음. 연결선 점등 등은 영상팀 편집 지시.</a:t>
            </a:r>
          </a:p>
          <a:p>
            <a:r>
              <a:t>출처: 사용자 브리프 및 추가 확인, 2026-10-09. 외부 기술 배경은 docs/04-web-references.md.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P05 / S05 / 최종 02:10–02:38</a:t>
            </a:r>
          </a:p>
          <a:p>
            <a:r>
              <a:t>자료 큐는 발화 기준. 타임코드는 목표 편집 시간.</a:t>
            </a:r>
          </a:p>
          <a:p>
            <a:r>
              <a:t>자료 등장: Tech X에서는</a:t>
            </a:r>
          </a:p>
          <a:p>
            <a:r>
              <a:t>P05 등장. ‘6개 프로젝트 / 44명 참여’ 큰 숫자. 여러 부서에서 공동 프로젝트로 모이는 편집 가능한 연결 도식.</a:t>
            </a:r>
          </a:p>
          <a:p>
            <a:r>
              <a:t>촬영: 교육담당 클로스업 → P05 전체 화면 → 2인 풀샷</a:t>
            </a:r>
          </a:p>
          <a:p>
            <a:r>
              <a:t>원본: IMG07</a:t>
            </a:r>
          </a:p>
          <a:p>
            <a:r>
              <a:t>스크립트:</a:t>
            </a:r>
          </a:p>
          <a:p>
            <a:r>
              <a:t>이관우 교육담당: 이해를 넘어 함께 해봅니다. [P05 등장] Tech X에서는 원래 부서를 벗어나, 관심 있는 다른 부서의 프로젝트에 참여합니다. 지금 6개 프로젝트에 44명이 함께하고 있습니다. 평소 맡기 어려웠던 일을 직접 해보며, 새 경험과 부서 간 협업을 만들고 있습니다.</a:t>
            </a:r>
          </a:p>
          <a:p>
            <a:r>
              <a:t>숫자는 현재 참여 현황. 프로젝트 완료 수·졸업 인원으로 표현하지 않음.</a:t>
            </a:r>
          </a:p>
          <a:p>
            <a:r>
              <a:t>현재 애니메이션 없음. 연결선 점등 등은 영상팀 편집 지시.</a:t>
            </a:r>
          </a:p>
          <a:p>
            <a:r>
              <a:t>출처: 사용자 브리프 및 추가 확인, 2026-10-09. 외부 기술 배경은 docs/04-web-references.md.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P06 / S06 / 최종 02:38–03:21</a:t>
            </a:r>
          </a:p>
          <a:p>
            <a:r>
              <a:t>자료 큐는 발화 기준. 타임코드는 목표 편집 시간.</a:t>
            </a:r>
          </a:p>
          <a:p>
            <a:r>
              <a:t>자료 등장: 그중 한 프로젝트가</a:t>
            </a:r>
          </a:p>
          <a:p>
            <a:r>
              <a:t>P06 등장. Tech X 과제 → 팀 주요 미션 → 운영 도입 표시. 서버 로그에서 특정 패턴을 감지하면에서 로그 패턴 감지 → 정형 메시지 → 메신저 동보 도식. 승인된 실제 IMG08 화면 삽입.</a:t>
            </a:r>
          </a:p>
          <a:p>
            <a:r>
              <a:t>촬영: 류경동 팀장 정면 → IAP 실제 기능 도식 전체 화면 6~8초 → 승인 알림 화면 IMG08 → 류경동 팀장 측면샷</a:t>
            </a:r>
          </a:p>
          <a:p>
            <a:r>
              <a:t>원본: IMG08</a:t>
            </a:r>
          </a:p>
          <a:p>
            <a:r>
              <a:t>스크립트:</a:t>
            </a:r>
          </a:p>
          <a:p>
            <a:r>
              <a:t>류경동 팀장: [P06 등장] 그중 한 프로젝트가 팀의 주요 미션으로 확장됐습니다. AI 에이전트 플랫폼, IAP입니다. [P06 기능 도식 강조 / IMG08 실제 화면] 서버 로그에서 특정 패턴을 감지하면, 정해진 형식으로 메신저에 알림을 자동 전달합니다. 사람이 하던 업무를 자동화한 사례죠. 개발해 운영에 도입하고, 팀의 인프라 전반으로 적용 범위를 넓히려 합니다. AI를 위한 인프라를 제공하는 우리가, AI로 일하는 방식도 바꾸는 겁니다.</a:t>
            </a:r>
          </a:p>
          <a:p>
            <a:r>
              <a:t>자동 동보는 사용자 확인 운영 사례. 전 인프라 적용은 확대 목표. 절감시간·근본원인 분석·자동 복구를 추가로 주장하지 않음. 실제 화면이 없으면 기능 도식 유지.</a:t>
            </a:r>
          </a:p>
          <a:p>
            <a:r>
              <a:t>현재 애니메이션 없음. 연결선 점등 등은 영상팀 편집 지시.</a:t>
            </a:r>
          </a:p>
          <a:p>
            <a:r>
              <a:t>출처: 사용자 브리프 및 추가 확인, 2026-10-09. 외부 기술 배경은 docs/04-web-references.md.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P07 / S07 / 최종 03:21–03:51</a:t>
            </a:r>
          </a:p>
          <a:p>
            <a:r>
              <a:t>자료 큐는 발화 기준. 타임코드는 목표 편집 시간.</a:t>
            </a:r>
          </a:p>
          <a:p>
            <a:r>
              <a:t>자료 등장: 6월에는 IAP를</a:t>
            </a:r>
          </a:p>
          <a:p>
            <a:r>
              <a:t>P07 등장. ‘6월 팀 소개 → 7월 실무 실습 / 25명’ 순차 표시. 실습 사진 IMG10.</a:t>
            </a:r>
          </a:p>
          <a:p>
            <a:r>
              <a:t>촬영: 교육담당 클로스업 → 세미나·실습 자료 2컷 → 교육담당 정면</a:t>
            </a:r>
          </a:p>
          <a:p>
            <a:r>
              <a:t>원본: IMG09, IMG10</a:t>
            </a:r>
          </a:p>
          <a:p>
            <a:r>
              <a:t>스크립트:</a:t>
            </a:r>
          </a:p>
          <a:p>
            <a:r>
              <a:t>이관우 교육담당: 만드는 것으로 끝내지 않았습니다. [P07 등장] 6월에는 IAP를 팀에 소개했습니다. [P07 실습 / IMG10] 7월에는 부서별 에이전트를 등록할 실무 담당자 25명과 직접 실습했습니다. 만든 경험을, 함께 활용할 사람들과 나눈 겁니다. 개발과 학습을 연결해 시도가 팀의 일상으로 이어지도록 돕습니다.</a:t>
            </a:r>
          </a:p>
          <a:p>
            <a:r>
              <a:t>실습 후 전원 에이전트 등록 완료 또는 효과 실증으로 확대해 말하지 않음.</a:t>
            </a:r>
          </a:p>
          <a:p>
            <a:r>
              <a:t>현재 애니메이션 없음. 연결선 점등 등은 영상팀 편집 지시.</a:t>
            </a:r>
          </a:p>
          <a:p>
            <a:r>
              <a:t>출처: 사용자 브리프 및 추가 확인, 2026-10-09. 외부 기술 배경은 docs/04-web-references.md.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P08 / S08 / 최종 03:51–04:11</a:t>
            </a:r>
          </a:p>
          <a:p>
            <a:r>
              <a:t>자료 큐는 발화 기준. 타임코드는 목표 편집 시간.</a:t>
            </a:r>
          </a:p>
          <a:p>
            <a:r>
              <a:t>자료 등장: 명장님과 함께한</a:t>
            </a:r>
          </a:p>
          <a:p>
            <a:r>
              <a:t>P08 등장. 내부 승인 투어 사진 IMG11·IMG12. ‘명장과 함께 / 현장에서 배우다 / 8명’ 표시.</a:t>
            </a:r>
          </a:p>
          <a:p>
            <a:r>
              <a:t>촬영: 교육담당 정면 → 투어·서버 체험 사진 2컷 → 팀장님과 교육담당 2인샷</a:t>
            </a:r>
          </a:p>
          <a:p>
            <a:r>
              <a:t>원본: IMG11, IMG12</a:t>
            </a:r>
          </a:p>
          <a:p>
            <a:r>
              <a:t>스크립트:</a:t>
            </a:r>
          </a:p>
          <a:p>
            <a:r>
              <a:t>이관우 교육담당: 현장에서도 경험을 나눕니다. [P08 등장] 명장님과 함께한 화성 HPC센터 투어에 동료 8명이 참여했습니다. 수냉식 서버와 공냉식 서버랙을 직접 보며 인프라를 배웠습니다.</a:t>
            </a:r>
          </a:p>
          <a:p>
            <a:r>
              <a:t>7월 행사. 앞 장면보다 이후 개최로 오해시키는 ‘이후’ 표현 금지. 외부 서버 사진으로 실제 센터를 대체하지 않음.</a:t>
            </a:r>
          </a:p>
          <a:p>
            <a:r>
              <a:t>현재 애니메이션 없음. 연결선 점등 등은 영상팀 편집 지시.</a:t>
            </a:r>
          </a:p>
          <a:p>
            <a:r>
              <a:t>출처: 사용자 브리프 및 추가 확인, 2026-10-09. 외부 기술 배경은 docs/04-web-references.md.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P09 / S09 / 최종 04:11–04:35</a:t>
            </a:r>
          </a:p>
          <a:p>
            <a:r>
              <a:t>자료 큐는 발화 기준. 타임코드는 목표 편집 시간.</a:t>
            </a:r>
          </a:p>
          <a:p>
            <a:r>
              <a:t>자료 등장: 외부 세미나는 녹화해</a:t>
            </a:r>
          </a:p>
          <a:p>
            <a:r>
              <a:t>P09 등장. 승인 교육 플랫폼 화면 IMG13 → 배움·이해·실행·공유 연결 회로 완성. 하단 시작 제안: 교류 열기 → 공동 과제 → 다시 공유.</a:t>
            </a:r>
          </a:p>
          <a:p>
            <a:r>
              <a:t>촬영: 팀장님 클로스업 → 교육 플랫폼 화면 → 연결 도식 전체 화면</a:t>
            </a:r>
          </a:p>
          <a:p>
            <a:r>
              <a:t>원본: IMG13</a:t>
            </a:r>
          </a:p>
          <a:p>
            <a:r>
              <a:t>스크립트:</a:t>
            </a:r>
          </a:p>
          <a:p>
            <a:r>
              <a:t>류경동 팀장: [P09 등장] 외부 세미나는 녹화해 교육 플랫폼에 공유합니다. 한 번의 배움을 다음 사람의 출발점으로 만드는 거죠. [P09 다른 조직의 시작 모델] 교류를 열고, 작은 공동 과제를 시작하고, 결과를 다시 나누는 방식. 다른 조직에서도 시작할 수 있는 성장의 인프라입니다.</a:t>
            </a:r>
          </a:p>
          <a:p>
            <a:r>
              <a:t>녹화·업로드가 확인된 범위는 AI 4 AI 외부 세미나. 타 조직 확산은 적용 가능성 제안이며 실제 확산 성과가 아님.</a:t>
            </a:r>
          </a:p>
          <a:p>
            <a:r>
              <a:t>현재 애니메이션 없음. 연결선 점등 등은 영상팀 편집 지시.</a:t>
            </a:r>
          </a:p>
          <a:p>
            <a:r>
              <a:t>출처: 사용자 브리프 및 추가 확인, 2026-10-09. 외부 기술 배경은 docs/04-web-references.md.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P10 / S10 / 최종 04:35–04:55</a:t>
            </a:r>
          </a:p>
          <a:p>
            <a:r>
              <a:t>자료 큐는 발화 기준. 타임코드는 목표 편집 시간.</a:t>
            </a:r>
          </a:p>
          <a:p>
            <a:r>
              <a:t>자료 등장: AI를 위한 인프라를 만들고</a:t>
            </a:r>
          </a:p>
          <a:p>
            <a:r>
              <a:t>P10 등장. ‘AI 4 AI / 연결이 성장의 인프라가 되다’ 타이틀. 마지막 인사에 2인 화면 복귀.</a:t>
            </a:r>
          </a:p>
          <a:p>
            <a:r>
              <a:t>촬영: 팀장님 클로스업 → 교육담당 클로스업 → 2인 풀샷 → 타이틀 홀드</a:t>
            </a:r>
          </a:p>
          <a:p>
            <a:r>
              <a:t>원본: 키워드·도식</a:t>
            </a:r>
          </a:p>
          <a:p>
            <a:r>
              <a:t>스크립트:</a:t>
            </a:r>
          </a:p>
          <a:p>
            <a:r>
              <a:t>류경동 팀장: [P10 등장] AI를 위한 인프라를 만들고, AI로 일하는 방식을 바꾸는 팀.</a:t>
            </a:r>
          </a:p>
          <a:p>
            <a:r>
              <a:t>이관우 교육담당: 힘은 함께 배우고 나누는 사람입니다.</a:t>
            </a:r>
          </a:p>
          <a:p>
            <a:r>
              <a:t>류경동 팀장 · 이관우 교육담당: AI 4 AI. 연결이 성장의 인프라가 됩니다. 감사합니다.</a:t>
            </a:r>
          </a:p>
          <a:p>
            <a:r>
              <a:t>두 사람의 동시 발화는 마지막 공동 발화 블록만. 04:55 회사 아웃트로로 컷.</a:t>
            </a:r>
          </a:p>
          <a:p>
            <a:r>
              <a:t>현재 애니메이션 없음. 연결선 점등 등은 영상팀 편집 지시.</a:t>
            </a:r>
          </a:p>
          <a:p>
            <a:r>
              <a:t>출처: 사용자 브리프 및 추가 확인, 2026-10-09. 외부 기술 배경은 docs/04-web-references.md.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참고 부록 A01. 본편에 삽입하지 않음. 출처: 사용자 브리프 및 추가 확인. 10월 개최 확인 후 상태와 날짜 수정. 월별 포스터 IMG03과 대조. 외부 공식 참고 docs/04-web-references.md.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참고 부록 A02. 본편에 삽입하지 않음. 상세 원본 목록 docs/03-facts-and-assets.md. 내부 원본 현재 미수급. 실제 효과 수치·후기 미제공. 전체 인프라 확대는 목표. 출연: 류경동 팀장, 이관우 교육담당.</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참고 부록 A03. 실제 팀/화성 HPC센터/명장 투어 사진이 아님. 본편에 삽입하지 않음.</a:t>
            </a:r>
          </a:p>
          <a:p>
            <a:r>
              <a:t>CC0 이미지 2장. 이 장표에서는 레이아웃에 맞춰 크기를 조정함. 원본 JPEG는 저장소에 변경 없이 보관.</a:t>
            </a:r>
          </a:p>
          <a:p>
            <a:r>
              <a:t>Derrick Coetzee / CC0 1.0 / https://commons.wikimedia.org/wiki/File:Front_of_server_racks_at_NERSC.jpg / https://creativecommons.org/publicdomain/zero/1.0/</a:t>
            </a:r>
          </a:p>
          <a:p>
            <a:r>
              <a:t>Tobias Maier / CC0 1.0 / https://commons.wikimedia.org/wiki/File:1U_rack_mount_server_cooling_system_fan_heat-sink.jpg / https://creativecommons.org/publicdomain/zero/1.0/</a:t>
            </a:r>
          </a:p>
          <a:p>
            <a:r>
              <a:t>전체 외부 출처 docs/04-web-references.md, assets/references/manifest.json.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643616" y="448056"/>
            <a:ext cx="777240" cy="320040"/>
          </a:xfrm>
          <a:prstGeom prst="rect">
            <a:avLst/>
          </a:prstGeom>
          <a:noFill/>
        </p:spPr>
        <p:txBody>
          <a:bodyPr wrap="square" lIns="0" rIns="0" tIns="0" bIns="0">
            <a:spAutoFit/>
          </a:bodyPr>
          <a:lstStyle/>
          <a:p>
            <a:pPr algn="r">
              <a:spcAft>
                <a:spcPts val="400"/>
              </a:spcAft>
            </a:pPr>
            <a:r>
              <a:rPr sz="1300" b="1">
                <a:solidFill>
                  <a:srgbClr val="83E8C5"/>
                </a:solidFill>
                <a:latin typeface="맑은 고딕"/>
                <a:ea typeface="맑은 고딕"/>
              </a:rPr>
              <a:t>P01</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AI 시대, 우리의 질문</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3200" b="1">
                <a:solidFill>
                  <a:srgbClr val="F6F8F9"/>
                </a:solidFill>
                <a:latin typeface="맑은 고딕"/>
                <a:ea typeface="맑은 고딕"/>
              </a:rPr>
              <a:t>AI를 움직이는 인프라,</a:t>
            </a:r>
          </a:p>
          <a:p>
            <a:pPr algn="l">
              <a:spcAft>
                <a:spcPts val="400"/>
              </a:spcAft>
            </a:pPr>
            <a:r>
              <a:rPr sz="3200" b="1">
                <a:solidFill>
                  <a:srgbClr val="F6F8F9"/>
                </a:solidFill>
                <a:latin typeface="맑은 고딕"/>
                <a:ea typeface="맑은 고딕"/>
              </a:rPr>
              <a:t>인프라를 움직이는 사람.</a:t>
            </a:r>
          </a:p>
        </p:txBody>
      </p:sp>
      <p:cxnSp>
        <p:nvCxnSpPr>
          <p:cNvPr id="7" name="Connector 6"/>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85800" y="6272784"/>
            <a:ext cx="108813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검토용 초안 · 회사 KV/폰트 수급 후 교체</a:t>
            </a:r>
          </a:p>
        </p:txBody>
      </p:sp>
      <p:sp>
        <p:nvSpPr>
          <p:cNvPr id="9" name="Rounded Rectangle 8"/>
          <p:cNvSpPr/>
          <p:nvPr/>
        </p:nvSpPr>
        <p:spPr>
          <a:xfrm>
            <a:off x="685800" y="3246120"/>
            <a:ext cx="3447288" cy="1618488"/>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3547872"/>
            <a:ext cx="3017520" cy="594360"/>
          </a:xfrm>
          <a:prstGeom prst="rect">
            <a:avLst/>
          </a:prstGeom>
          <a:noFill/>
        </p:spPr>
        <p:txBody>
          <a:bodyPr wrap="square" lIns="0" rIns="0" tIns="0" bIns="0">
            <a:spAutoFit/>
          </a:bodyPr>
          <a:lstStyle/>
          <a:p>
            <a:pPr algn="l">
              <a:spcAft>
                <a:spcPts val="400"/>
              </a:spcAft>
            </a:pPr>
            <a:r>
              <a:rPr sz="2700" b="1">
                <a:solidFill>
                  <a:srgbClr val="83E8C5"/>
                </a:solidFill>
                <a:latin typeface="맑은 고딕"/>
                <a:ea typeface="맑은 고딕"/>
              </a:rPr>
              <a:t>약 160명</a:t>
            </a:r>
          </a:p>
        </p:txBody>
      </p:sp>
      <p:sp>
        <p:nvSpPr>
          <p:cNvPr id="11" name="TextBox 10"/>
          <p:cNvSpPr txBox="1"/>
          <p:nvPr/>
        </p:nvSpPr>
        <p:spPr>
          <a:xfrm>
            <a:off x="905256" y="4242816"/>
            <a:ext cx="3017520" cy="365760"/>
          </a:xfrm>
          <a:prstGeom prst="rect">
            <a:avLst/>
          </a:prstGeom>
          <a:noFill/>
        </p:spPr>
        <p:txBody>
          <a:bodyPr wrap="square" lIns="0" rIns="0" tIns="0" bIns="0">
            <a:spAutoFit/>
          </a:bodyPr>
          <a:lstStyle/>
          <a:p>
            <a:pPr algn="l">
              <a:spcAft>
                <a:spcPts val="400"/>
              </a:spcAft>
            </a:pPr>
            <a:r>
              <a:rPr sz="1700" b="0">
                <a:solidFill>
                  <a:srgbClr val="B4C6D4"/>
                </a:solidFill>
                <a:latin typeface="맑은 고딕"/>
                <a:ea typeface="맑은 고딕"/>
              </a:rPr>
              <a:t>Data Center팀</a:t>
            </a:r>
          </a:p>
        </p:txBody>
      </p:sp>
      <p:sp>
        <p:nvSpPr>
          <p:cNvPr id="12" name="Rounded Rectangle 11"/>
          <p:cNvSpPr/>
          <p:nvPr/>
        </p:nvSpPr>
        <p:spPr>
          <a:xfrm>
            <a:off x="4361688" y="3246120"/>
            <a:ext cx="3447288" cy="1618488"/>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3547872"/>
            <a:ext cx="3017520" cy="594360"/>
          </a:xfrm>
          <a:prstGeom prst="rect">
            <a:avLst/>
          </a:prstGeom>
          <a:noFill/>
        </p:spPr>
        <p:txBody>
          <a:bodyPr wrap="square" lIns="0" rIns="0" tIns="0" bIns="0">
            <a:spAutoFit/>
          </a:bodyPr>
          <a:lstStyle/>
          <a:p>
            <a:pPr algn="l">
              <a:spcAft>
                <a:spcPts val="400"/>
              </a:spcAft>
            </a:pPr>
            <a:r>
              <a:rPr sz="2700" b="1">
                <a:solidFill>
                  <a:srgbClr val="83E8C5"/>
                </a:solidFill>
                <a:latin typeface="맑은 고딕"/>
                <a:ea typeface="맑은 고딕"/>
              </a:rPr>
              <a:t>서버·클라우드</a:t>
            </a:r>
          </a:p>
        </p:txBody>
      </p:sp>
      <p:sp>
        <p:nvSpPr>
          <p:cNvPr id="14" name="TextBox 13"/>
          <p:cNvSpPr txBox="1"/>
          <p:nvPr/>
        </p:nvSpPr>
        <p:spPr>
          <a:xfrm>
            <a:off x="4581144" y="4242816"/>
            <a:ext cx="3017520" cy="365760"/>
          </a:xfrm>
          <a:prstGeom prst="rect">
            <a:avLst/>
          </a:prstGeom>
          <a:noFill/>
        </p:spPr>
        <p:txBody>
          <a:bodyPr wrap="square" lIns="0" rIns="0" tIns="0" bIns="0">
            <a:spAutoFit/>
          </a:bodyPr>
          <a:lstStyle/>
          <a:p>
            <a:pPr algn="l">
              <a:spcAft>
                <a:spcPts val="400"/>
              </a:spcAft>
            </a:pPr>
            <a:r>
              <a:rPr sz="1700" b="0">
                <a:solidFill>
                  <a:srgbClr val="B4C6D4"/>
                </a:solidFill>
                <a:latin typeface="맑은 고딕"/>
                <a:ea typeface="맑은 고딕"/>
              </a:rPr>
              <a:t>구축 · 제공 · 운영</a:t>
            </a:r>
          </a:p>
        </p:txBody>
      </p:sp>
      <p:sp>
        <p:nvSpPr>
          <p:cNvPr id="15" name="Rounded Rectangle 14"/>
          <p:cNvSpPr/>
          <p:nvPr/>
        </p:nvSpPr>
        <p:spPr>
          <a:xfrm>
            <a:off x="8037575" y="3246120"/>
            <a:ext cx="3447288" cy="1618488"/>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57031" y="3547872"/>
            <a:ext cx="3017520" cy="594360"/>
          </a:xfrm>
          <a:prstGeom prst="rect">
            <a:avLst/>
          </a:prstGeom>
          <a:noFill/>
        </p:spPr>
        <p:txBody>
          <a:bodyPr wrap="square" lIns="0" rIns="0" tIns="0" bIns="0">
            <a:spAutoFit/>
          </a:bodyPr>
          <a:lstStyle/>
          <a:p>
            <a:pPr algn="l">
              <a:spcAft>
                <a:spcPts val="400"/>
              </a:spcAft>
            </a:pPr>
            <a:r>
              <a:rPr sz="2700" b="1">
                <a:solidFill>
                  <a:srgbClr val="83E8C5"/>
                </a:solidFill>
                <a:latin typeface="맑은 고딕"/>
                <a:ea typeface="맑은 고딕"/>
              </a:rPr>
              <a:t>AI 인프라</a:t>
            </a:r>
          </a:p>
        </p:txBody>
      </p:sp>
      <p:sp>
        <p:nvSpPr>
          <p:cNvPr id="17" name="TextBox 16"/>
          <p:cNvSpPr txBox="1"/>
          <p:nvPr/>
        </p:nvSpPr>
        <p:spPr>
          <a:xfrm>
            <a:off x="8257031" y="4242816"/>
            <a:ext cx="3017520" cy="365760"/>
          </a:xfrm>
          <a:prstGeom prst="rect">
            <a:avLst/>
          </a:prstGeom>
          <a:noFill/>
        </p:spPr>
        <p:txBody>
          <a:bodyPr wrap="square" lIns="0" rIns="0" tIns="0" bIns="0">
            <a:spAutoFit/>
          </a:bodyPr>
          <a:lstStyle/>
          <a:p>
            <a:pPr algn="l">
              <a:spcAft>
                <a:spcPts val="400"/>
              </a:spcAft>
            </a:pPr>
            <a:r>
              <a:rPr sz="1700" b="0">
                <a:solidFill>
                  <a:srgbClr val="B4C6D4"/>
                </a:solidFill>
                <a:latin typeface="맑은 고딕"/>
                <a:ea typeface="맑은 고딕"/>
              </a:rPr>
              <a:t>회사 AI 활용의 기반</a:t>
            </a:r>
          </a:p>
        </p:txBody>
      </p:sp>
      <p:sp>
        <p:nvSpPr>
          <p:cNvPr id="18" name="TextBox 17"/>
          <p:cNvSpPr txBox="1"/>
          <p:nvPr/>
        </p:nvSpPr>
        <p:spPr>
          <a:xfrm>
            <a:off x="685800" y="5166360"/>
            <a:ext cx="10789920" cy="502920"/>
          </a:xfrm>
          <a:prstGeom prst="rect">
            <a:avLst/>
          </a:prstGeom>
          <a:noFill/>
        </p:spPr>
        <p:txBody>
          <a:bodyPr wrap="square" lIns="0" rIns="0" tIns="0" bIns="0">
            <a:spAutoFit/>
          </a:bodyPr>
          <a:lstStyle/>
          <a:p>
            <a:pPr algn="l">
              <a:spcAft>
                <a:spcPts val="400"/>
              </a:spcAft>
            </a:pPr>
            <a:r>
              <a:rPr sz="2400" b="1">
                <a:solidFill>
                  <a:srgbClr val="F6F8F9"/>
                </a:solidFill>
                <a:latin typeface="맑은 고딕"/>
                <a:ea typeface="맑은 고딕"/>
              </a:rPr>
              <a:t>우리 자신은 어떻게 성장해야 할까요?</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643616" y="448056"/>
            <a:ext cx="777240" cy="320040"/>
          </a:xfrm>
          <a:prstGeom prst="rect">
            <a:avLst/>
          </a:prstGeom>
          <a:noFill/>
        </p:spPr>
        <p:txBody>
          <a:bodyPr wrap="square" lIns="0" rIns="0" tIns="0" bIns="0">
            <a:spAutoFit/>
          </a:bodyPr>
          <a:lstStyle/>
          <a:p>
            <a:pPr algn="r">
              <a:spcAft>
                <a:spcPts val="400"/>
              </a:spcAft>
            </a:pPr>
            <a:r>
              <a:rPr sz="1300" b="1">
                <a:solidFill>
                  <a:srgbClr val="83E8C5"/>
                </a:solidFill>
                <a:latin typeface="맑은 고딕"/>
                <a:ea typeface="맑은 고딕"/>
              </a:rPr>
              <a:t>P02</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AI 4 AI</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3200" b="1">
                <a:solidFill>
                  <a:srgbClr val="F6F8F9"/>
                </a:solidFill>
                <a:latin typeface="맑은 고딕"/>
                <a:ea typeface="맑은 고딕"/>
              </a:rPr>
              <a:t>AI를 위한 인프라,</a:t>
            </a:r>
          </a:p>
          <a:p>
            <a:pPr algn="l">
              <a:spcAft>
                <a:spcPts val="400"/>
              </a:spcAft>
            </a:pPr>
            <a:r>
              <a:rPr sz="3200" b="1">
                <a:solidFill>
                  <a:srgbClr val="F6F8F9"/>
                </a:solidFill>
                <a:latin typeface="맑은 고딕"/>
                <a:ea typeface="맑은 고딕"/>
              </a:rPr>
              <a:t>AI로 발전하는 운영.</a:t>
            </a:r>
          </a:p>
        </p:txBody>
      </p:sp>
      <p:cxnSp>
        <p:nvCxnSpPr>
          <p:cNvPr id="7" name="Connector 6"/>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85800" y="6272784"/>
            <a:ext cx="108813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검토용 초안 · 회사 KV/폰트 수급 후 교체</a:t>
            </a:r>
          </a:p>
        </p:txBody>
      </p:sp>
      <p:sp>
        <p:nvSpPr>
          <p:cNvPr id="9" name="Rounded Rectangle 8"/>
          <p:cNvSpPr/>
          <p:nvPr/>
        </p:nvSpPr>
        <p:spPr>
          <a:xfrm>
            <a:off x="685800" y="3035808"/>
            <a:ext cx="4910328" cy="1517904"/>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92824" y="3035808"/>
            <a:ext cx="4910328" cy="1517904"/>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3529584"/>
            <a:ext cx="4434840" cy="685800"/>
          </a:xfrm>
          <a:prstGeom prst="rect">
            <a:avLst/>
          </a:prstGeom>
          <a:noFill/>
        </p:spPr>
        <p:txBody>
          <a:bodyPr wrap="square" lIns="0" rIns="0" tIns="0" bIns="0">
            <a:spAutoFit/>
          </a:bodyPr>
          <a:lstStyle/>
          <a:p>
            <a:pPr algn="l">
              <a:spcAft>
                <a:spcPts val="400"/>
              </a:spcAft>
            </a:pPr>
            <a:r>
              <a:rPr sz="2500" b="1">
                <a:solidFill>
                  <a:srgbClr val="83E8C5"/>
                </a:solidFill>
                <a:latin typeface="맑은 고딕"/>
                <a:ea typeface="맑은 고딕"/>
              </a:rPr>
              <a:t>AI를 위한 인프라 제공</a:t>
            </a:r>
          </a:p>
        </p:txBody>
      </p:sp>
      <p:sp>
        <p:nvSpPr>
          <p:cNvPr id="12" name="TextBox 11"/>
          <p:cNvSpPr txBox="1"/>
          <p:nvPr/>
        </p:nvSpPr>
        <p:spPr>
          <a:xfrm>
            <a:off x="6903720" y="3529584"/>
            <a:ext cx="4297680" cy="685800"/>
          </a:xfrm>
          <a:prstGeom prst="rect">
            <a:avLst/>
          </a:prstGeom>
          <a:noFill/>
        </p:spPr>
        <p:txBody>
          <a:bodyPr wrap="square" lIns="0" rIns="0" tIns="0" bIns="0">
            <a:spAutoFit/>
          </a:bodyPr>
          <a:lstStyle/>
          <a:p>
            <a:pPr algn="l">
              <a:spcAft>
                <a:spcPts val="400"/>
              </a:spcAft>
            </a:pPr>
            <a:r>
              <a:rPr sz="2500" b="1">
                <a:solidFill>
                  <a:srgbClr val="C1B3F4"/>
                </a:solidFill>
                <a:latin typeface="맑은 고딕"/>
                <a:ea typeface="맑은 고딕"/>
              </a:rPr>
              <a:t>AI를 활용한 운영</a:t>
            </a:r>
          </a:p>
        </p:txBody>
      </p:sp>
      <p:cxnSp>
        <p:nvCxnSpPr>
          <p:cNvPr id="13" name="Connector 12"/>
          <p:cNvCxnSpPr/>
          <p:nvPr/>
        </p:nvCxnSpPr>
        <p:spPr>
          <a:xfrm>
            <a:off x="5715000" y="3511296"/>
            <a:ext cx="722376" cy="0"/>
          </a:xfrm>
          <a:prstGeom prst="line">
            <a:avLst/>
          </a:prstGeom>
          <a:ln w="25400">
            <a:solidFill>
              <a:srgbClr val="83E8C5"/>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5715000" y="3995928"/>
            <a:ext cx="722376" cy="0"/>
          </a:xfrm>
          <a:prstGeom prst="line">
            <a:avLst/>
          </a:prstGeom>
          <a:ln w="25400">
            <a:solidFill>
              <a:srgbClr val="C1B3F4"/>
            </a:solidFill>
            <a:tailEnd type="triangle"/>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4818888"/>
            <a:ext cx="10789920" cy="502920"/>
          </a:xfrm>
          <a:prstGeom prst="rect">
            <a:avLst/>
          </a:prstGeom>
          <a:noFill/>
        </p:spPr>
        <p:txBody>
          <a:bodyPr wrap="square" lIns="0" rIns="0" tIns="0" bIns="0">
            <a:spAutoFit/>
          </a:bodyPr>
          <a:lstStyle/>
          <a:p>
            <a:pPr algn="l">
              <a:spcAft>
                <a:spcPts val="400"/>
              </a:spcAft>
            </a:pPr>
            <a:r>
              <a:rPr sz="2300" b="1">
                <a:solidFill>
                  <a:srgbClr val="F6F8F9"/>
                </a:solidFill>
                <a:latin typeface="맑은 고딕"/>
                <a:ea typeface="맑은 고딕"/>
              </a:rPr>
              <a:t>그 사이를 잇는 힘은, 함께 배우는 사람</a:t>
            </a:r>
          </a:p>
        </p:txBody>
      </p:sp>
      <p:sp>
        <p:nvSpPr>
          <p:cNvPr id="16" name="TextBox 15"/>
          <p:cNvSpPr txBox="1"/>
          <p:nvPr/>
        </p:nvSpPr>
        <p:spPr>
          <a:xfrm>
            <a:off x="685800" y="5504688"/>
            <a:ext cx="10789920" cy="320040"/>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Advanced Infrastructure for Artificial Intelligence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643616" y="448056"/>
            <a:ext cx="777240" cy="320040"/>
          </a:xfrm>
          <a:prstGeom prst="rect">
            <a:avLst/>
          </a:prstGeom>
          <a:noFill/>
        </p:spPr>
        <p:txBody>
          <a:bodyPr wrap="square" lIns="0" rIns="0" tIns="0" bIns="0">
            <a:spAutoFit/>
          </a:bodyPr>
          <a:lstStyle/>
          <a:p>
            <a:pPr algn="r">
              <a:spcAft>
                <a:spcPts val="400"/>
              </a:spcAft>
            </a:pPr>
            <a:r>
              <a:rPr sz="1300" b="1">
                <a:solidFill>
                  <a:srgbClr val="83E8C5"/>
                </a:solidFill>
                <a:latin typeface="맑은 고딕"/>
                <a:ea typeface="맑은 고딕"/>
              </a:rPr>
              <a:t>P03</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밖에서 배우다</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3200" b="1">
                <a:solidFill>
                  <a:srgbClr val="F6F8F9"/>
                </a:solidFill>
                <a:latin typeface="맑은 고딕"/>
                <a:ea typeface="맑은 고딕"/>
              </a:rPr>
              <a:t>밖의 지식이</a:t>
            </a:r>
          </a:p>
          <a:p>
            <a:pPr algn="l">
              <a:spcAft>
                <a:spcPts val="400"/>
              </a:spcAft>
            </a:pPr>
            <a:r>
              <a:rPr sz="3200" b="1">
                <a:solidFill>
                  <a:srgbClr val="F6F8F9"/>
                </a:solidFill>
                <a:latin typeface="맑은 고딕"/>
                <a:ea typeface="맑은 고딕"/>
              </a:rPr>
              <a:t>우리의 질문을 넓힙니다.</a:t>
            </a:r>
          </a:p>
        </p:txBody>
      </p:sp>
      <p:cxnSp>
        <p:nvCxnSpPr>
          <p:cNvPr id="7" name="Connector 6"/>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731520"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6263640"/>
            <a:ext cx="2423160" cy="320040"/>
          </a:xfrm>
          <a:prstGeom prst="rect">
            <a:avLst/>
          </a:prstGeom>
          <a:noFill/>
        </p:spPr>
        <p:txBody>
          <a:bodyPr wrap="square" lIns="0" rIns="0" tIns="0" bIns="0">
            <a:spAutoFit/>
          </a:bodyPr>
          <a:lstStyle/>
          <a:p>
            <a:pPr algn="l">
              <a:spcAft>
                <a:spcPts val="400"/>
              </a:spcAft>
            </a:pPr>
            <a:r>
              <a:rPr sz="1200" b="1">
                <a:solidFill>
                  <a:srgbClr val="F6F8F9"/>
                </a:solidFill>
                <a:latin typeface="맑은 고딕"/>
                <a:ea typeface="맑은 고딕"/>
              </a:rPr>
              <a:t>밖에서 배우다</a:t>
            </a:r>
          </a:p>
        </p:txBody>
      </p:sp>
      <p:sp>
        <p:nvSpPr>
          <p:cNvPr id="10" name="Oval 9"/>
          <p:cNvSpPr/>
          <p:nvPr/>
        </p:nvSpPr>
        <p:spPr>
          <a:xfrm>
            <a:off x="3493008" y="6336792"/>
            <a:ext cx="100584" cy="100584"/>
          </a:xfrm>
          <a:prstGeom prst="ellipse">
            <a:avLst/>
          </a:prstGeom>
          <a:solidFill>
            <a:srgbClr val="38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66744"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서로를 이해하다</a:t>
            </a:r>
          </a:p>
        </p:txBody>
      </p:sp>
      <p:sp>
        <p:nvSpPr>
          <p:cNvPr id="12" name="Oval 11"/>
          <p:cNvSpPr/>
          <p:nvPr/>
        </p:nvSpPr>
        <p:spPr>
          <a:xfrm>
            <a:off x="6254496" y="6336792"/>
            <a:ext cx="100584" cy="100584"/>
          </a:xfrm>
          <a:prstGeom prst="ellipse">
            <a:avLst/>
          </a:prstGeom>
          <a:solidFill>
            <a:srgbClr val="38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함께 바꾸다</a:t>
            </a:r>
          </a:p>
        </p:txBody>
      </p:sp>
      <p:sp>
        <p:nvSpPr>
          <p:cNvPr id="14" name="Oval 13"/>
          <p:cNvSpPr/>
          <p:nvPr/>
        </p:nvSpPr>
        <p:spPr>
          <a:xfrm>
            <a:off x="9015984" y="6336792"/>
            <a:ext cx="100584" cy="100584"/>
          </a:xfrm>
          <a:prstGeom prst="ellipse">
            <a:avLst/>
          </a:prstGeom>
          <a:solidFill>
            <a:srgbClr val="38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89720"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다시 나누다</a:t>
            </a:r>
          </a:p>
        </p:txBody>
      </p:sp>
      <p:sp>
        <p:nvSpPr>
          <p:cNvPr id="16" name="TextBox 15"/>
          <p:cNvSpPr txBox="1"/>
          <p:nvPr/>
        </p:nvSpPr>
        <p:spPr>
          <a:xfrm>
            <a:off x="685800" y="3209544"/>
            <a:ext cx="4114800" cy="731520"/>
          </a:xfrm>
          <a:prstGeom prst="rect">
            <a:avLst/>
          </a:prstGeom>
          <a:noFill/>
        </p:spPr>
        <p:txBody>
          <a:bodyPr wrap="square" lIns="0" rIns="0" tIns="0" bIns="0">
            <a:spAutoFit/>
          </a:bodyPr>
          <a:lstStyle/>
          <a:p>
            <a:pPr algn="l">
              <a:spcAft>
                <a:spcPts val="400"/>
              </a:spcAft>
            </a:pPr>
            <a:r>
              <a:rPr sz="3900" b="1">
                <a:solidFill>
                  <a:srgbClr val="83E8C5"/>
                </a:solidFill>
                <a:latin typeface="맑은 고딕"/>
                <a:ea typeface="맑은 고딕"/>
              </a:rPr>
              <a:t>월 1회</a:t>
            </a:r>
          </a:p>
        </p:txBody>
      </p:sp>
      <p:sp>
        <p:nvSpPr>
          <p:cNvPr id="17" name="TextBox 16"/>
          <p:cNvSpPr txBox="1"/>
          <p:nvPr/>
        </p:nvSpPr>
        <p:spPr>
          <a:xfrm>
            <a:off x="685800" y="4005072"/>
            <a:ext cx="4663440" cy="594360"/>
          </a:xfrm>
          <a:prstGeom prst="rect">
            <a:avLst/>
          </a:prstGeom>
          <a:noFill/>
        </p:spPr>
        <p:txBody>
          <a:bodyPr wrap="square" lIns="0" rIns="0" tIns="0" bIns="0">
            <a:spAutoFit/>
          </a:bodyPr>
          <a:lstStyle/>
          <a:p>
            <a:pPr algn="l">
              <a:spcAft>
                <a:spcPts val="400"/>
              </a:spcAft>
            </a:pPr>
            <a:r>
              <a:rPr sz="2000" b="0">
                <a:solidFill>
                  <a:srgbClr val="F6F8F9"/>
                </a:solidFill>
                <a:latin typeface="맑은 고딕"/>
                <a:ea typeface="맑은 고딕"/>
              </a:rPr>
              <a:t>외부 전문가와 만나는 기술 세미나</a:t>
            </a:r>
          </a:p>
        </p:txBody>
      </p:sp>
      <p:sp>
        <p:nvSpPr>
          <p:cNvPr id="18" name="TextBox 17"/>
          <p:cNvSpPr txBox="1"/>
          <p:nvPr/>
        </p:nvSpPr>
        <p:spPr>
          <a:xfrm>
            <a:off x="685800" y="4727448"/>
            <a:ext cx="4663440" cy="411480"/>
          </a:xfrm>
          <a:prstGeom prst="rect">
            <a:avLst/>
          </a:prstGeom>
          <a:noFill/>
        </p:spPr>
        <p:txBody>
          <a:bodyPr wrap="square" lIns="0" rIns="0" tIns="0" bIns="0">
            <a:spAutoFit/>
          </a:bodyPr>
          <a:lstStyle/>
          <a:p>
            <a:pPr algn="l">
              <a:spcAft>
                <a:spcPts val="400"/>
              </a:spcAft>
            </a:pPr>
            <a:r>
              <a:rPr sz="1800" b="0">
                <a:solidFill>
                  <a:srgbClr val="B4C6D4"/>
                </a:solidFill>
                <a:latin typeface="맑은 고딕"/>
                <a:ea typeface="맑은 고딕"/>
              </a:rPr>
              <a:t>AI · 인프라 · 새로운 컴퓨팅</a:t>
            </a:r>
          </a:p>
        </p:txBody>
      </p:sp>
      <p:sp>
        <p:nvSpPr>
          <p:cNvPr id="19" name="TextBox 18"/>
          <p:cNvSpPr txBox="1"/>
          <p:nvPr/>
        </p:nvSpPr>
        <p:spPr>
          <a:xfrm>
            <a:off x="685800" y="5294376"/>
            <a:ext cx="4663440" cy="365760"/>
          </a:xfrm>
          <a:prstGeom prst="rect">
            <a:avLst/>
          </a:prstGeom>
          <a:noFill/>
        </p:spPr>
        <p:txBody>
          <a:bodyPr wrap="square" lIns="0" rIns="0" tIns="0" bIns="0">
            <a:spAutoFit/>
          </a:bodyPr>
          <a:lstStyle/>
          <a:p>
            <a:pPr algn="l">
              <a:spcAft>
                <a:spcPts val="400"/>
              </a:spcAft>
            </a:pPr>
            <a:r>
              <a:rPr sz="1800" b="0">
                <a:solidFill>
                  <a:srgbClr val="B4C6D4"/>
                </a:solidFill>
                <a:latin typeface="맑은 고딕"/>
                <a:ea typeface="맑은 고딕"/>
              </a:rPr>
              <a:t>약 2천 명의 센터원 대상</a:t>
            </a:r>
          </a:p>
        </p:txBody>
      </p:sp>
      <p:sp>
        <p:nvSpPr>
          <p:cNvPr id="20" name="Rounded Rectangle 19"/>
          <p:cNvSpPr/>
          <p:nvPr/>
        </p:nvSpPr>
        <p:spPr>
          <a:xfrm>
            <a:off x="5660136" y="3008376"/>
            <a:ext cx="5843016" cy="2679192"/>
          </a:xfrm>
          <a:prstGeom prst="roundRect">
            <a:avLst/>
          </a:prstGeom>
          <a:solidFill>
            <a:srgbClr val="1B2D3E"/>
          </a:solidFill>
          <a:ln w="12700">
            <a:solidFill>
              <a:srgbClr val="38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888736" y="3154680"/>
            <a:ext cx="5385816" cy="256032"/>
          </a:xfrm>
          <a:prstGeom prst="rect">
            <a:avLst/>
          </a:prstGeom>
          <a:noFill/>
        </p:spPr>
        <p:txBody>
          <a:bodyPr wrap="square" lIns="0" rIns="0" tIns="0" bIns="0">
            <a:spAutoFit/>
          </a:bodyPr>
          <a:lstStyle/>
          <a:p>
            <a:pPr algn="l">
              <a:spcAft>
                <a:spcPts val="400"/>
              </a:spcAft>
            </a:pPr>
            <a:r>
              <a:rPr sz="1300" b="1">
                <a:solidFill>
                  <a:srgbClr val="83E8C5"/>
                </a:solidFill>
                <a:latin typeface="맑은 고딕"/>
                <a:ea typeface="맑은 고딕"/>
              </a:rPr>
              <a:t>실제 원본 삽입</a:t>
            </a:r>
          </a:p>
        </p:txBody>
      </p:sp>
      <p:sp>
        <p:nvSpPr>
          <p:cNvPr id="22" name="TextBox 21"/>
          <p:cNvSpPr txBox="1"/>
          <p:nvPr/>
        </p:nvSpPr>
        <p:spPr>
          <a:xfrm>
            <a:off x="5888736" y="3867912"/>
            <a:ext cx="5385816" cy="676656"/>
          </a:xfrm>
          <a:prstGeom prst="rect">
            <a:avLst/>
          </a:prstGeom>
          <a:noFill/>
        </p:spPr>
        <p:txBody>
          <a:bodyPr wrap="square" lIns="0" rIns="0" tIns="0" bIns="0">
            <a:spAutoFit/>
          </a:bodyPr>
          <a:lstStyle/>
          <a:p>
            <a:pPr algn="l">
              <a:spcAft>
                <a:spcPts val="400"/>
              </a:spcAft>
            </a:pPr>
            <a:r>
              <a:rPr sz="2300" b="1">
                <a:solidFill>
                  <a:srgbClr val="F6F8F9"/>
                </a:solidFill>
                <a:latin typeface="맑은 고딕"/>
                <a:ea typeface="맑은 고딕"/>
              </a:rPr>
              <a:t>세미나 교류 사진 / 포스터</a:t>
            </a:r>
          </a:p>
        </p:txBody>
      </p:sp>
      <p:sp>
        <p:nvSpPr>
          <p:cNvPr id="23" name="TextBox 22"/>
          <p:cNvSpPr txBox="1"/>
          <p:nvPr/>
        </p:nvSpPr>
        <p:spPr>
          <a:xfrm>
            <a:off x="5888736" y="5367528"/>
            <a:ext cx="5385816" cy="237744"/>
          </a:xfrm>
          <a:prstGeom prst="rect">
            <a:avLst/>
          </a:prstGeom>
          <a:noFill/>
        </p:spPr>
        <p:txBody>
          <a:bodyPr wrap="square" lIns="0" rIns="0" tIns="0" bIns="0">
            <a:spAutoFit/>
          </a:bodyPr>
          <a:lstStyle/>
          <a:p>
            <a:pPr algn="l">
              <a:spcAft>
                <a:spcPts val="400"/>
              </a:spcAft>
            </a:pPr>
            <a:r>
              <a:rPr sz="1100" b="0">
                <a:solidFill>
                  <a:srgbClr val="B4C6D4"/>
                </a:solidFill>
                <a:latin typeface="맑은 고딕"/>
                <a:ea typeface="맑은 고딕"/>
              </a:rPr>
              <a:t>IMG02 · IMG03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643616" y="448056"/>
            <a:ext cx="777240" cy="320040"/>
          </a:xfrm>
          <a:prstGeom prst="rect">
            <a:avLst/>
          </a:prstGeom>
          <a:noFill/>
        </p:spPr>
        <p:txBody>
          <a:bodyPr wrap="square" lIns="0" rIns="0" tIns="0" bIns="0">
            <a:spAutoFit/>
          </a:bodyPr>
          <a:lstStyle/>
          <a:p>
            <a:pPr algn="r">
              <a:spcAft>
                <a:spcPts val="400"/>
              </a:spcAft>
            </a:pPr>
            <a:r>
              <a:rPr sz="1300" b="1">
                <a:solidFill>
                  <a:srgbClr val="83E8C5"/>
                </a:solidFill>
                <a:latin typeface="맑은 고딕"/>
                <a:ea typeface="맑은 고딕"/>
              </a:rPr>
              <a:t>P04</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서로를 이해하다</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3200" b="1">
                <a:solidFill>
                  <a:srgbClr val="F6F8F9"/>
                </a:solidFill>
                <a:latin typeface="맑은 고딕"/>
                <a:ea typeface="맑은 고딕"/>
              </a:rPr>
              <a:t>부서 사이의 거리를 줄였습니다.</a:t>
            </a:r>
          </a:p>
        </p:txBody>
      </p:sp>
      <p:cxnSp>
        <p:nvCxnSpPr>
          <p:cNvPr id="7" name="Connector 6"/>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731520"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밖에서 배우다</a:t>
            </a:r>
          </a:p>
        </p:txBody>
      </p:sp>
      <p:sp>
        <p:nvSpPr>
          <p:cNvPr id="10" name="Oval 9"/>
          <p:cNvSpPr/>
          <p:nvPr/>
        </p:nvSpPr>
        <p:spPr>
          <a:xfrm>
            <a:off x="3493008"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66744" y="6263640"/>
            <a:ext cx="2423160" cy="320040"/>
          </a:xfrm>
          <a:prstGeom prst="rect">
            <a:avLst/>
          </a:prstGeom>
          <a:noFill/>
        </p:spPr>
        <p:txBody>
          <a:bodyPr wrap="square" lIns="0" rIns="0" tIns="0" bIns="0">
            <a:spAutoFit/>
          </a:bodyPr>
          <a:lstStyle/>
          <a:p>
            <a:pPr algn="l">
              <a:spcAft>
                <a:spcPts val="400"/>
              </a:spcAft>
            </a:pPr>
            <a:r>
              <a:rPr sz="1200" b="1">
                <a:solidFill>
                  <a:srgbClr val="F6F8F9"/>
                </a:solidFill>
                <a:latin typeface="맑은 고딕"/>
                <a:ea typeface="맑은 고딕"/>
              </a:rPr>
              <a:t>서로를 이해하다</a:t>
            </a:r>
          </a:p>
        </p:txBody>
      </p:sp>
      <p:sp>
        <p:nvSpPr>
          <p:cNvPr id="12" name="Oval 11"/>
          <p:cNvSpPr/>
          <p:nvPr/>
        </p:nvSpPr>
        <p:spPr>
          <a:xfrm>
            <a:off x="6254496" y="6336792"/>
            <a:ext cx="100584" cy="100584"/>
          </a:xfrm>
          <a:prstGeom prst="ellipse">
            <a:avLst/>
          </a:prstGeom>
          <a:solidFill>
            <a:srgbClr val="38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함께 바꾸다</a:t>
            </a:r>
          </a:p>
        </p:txBody>
      </p:sp>
      <p:sp>
        <p:nvSpPr>
          <p:cNvPr id="14" name="Oval 13"/>
          <p:cNvSpPr/>
          <p:nvPr/>
        </p:nvSpPr>
        <p:spPr>
          <a:xfrm>
            <a:off x="9015984" y="6336792"/>
            <a:ext cx="100584" cy="100584"/>
          </a:xfrm>
          <a:prstGeom prst="ellipse">
            <a:avLst/>
          </a:prstGeom>
          <a:solidFill>
            <a:srgbClr val="38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89720"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다시 나누다</a:t>
            </a:r>
          </a:p>
        </p:txBody>
      </p:sp>
      <p:sp>
        <p:nvSpPr>
          <p:cNvPr id="16" name="TextBox 15"/>
          <p:cNvSpPr txBox="1"/>
          <p:nvPr/>
        </p:nvSpPr>
        <p:spPr>
          <a:xfrm>
            <a:off x="685800" y="2779776"/>
            <a:ext cx="5120640" cy="411480"/>
          </a:xfrm>
          <a:prstGeom prst="rect">
            <a:avLst/>
          </a:prstGeom>
          <a:noFill/>
        </p:spPr>
        <p:txBody>
          <a:bodyPr wrap="square" lIns="0" rIns="0" tIns="0" bIns="0">
            <a:spAutoFit/>
          </a:bodyPr>
          <a:lstStyle/>
          <a:p>
            <a:pPr algn="l">
              <a:spcAft>
                <a:spcPts val="400"/>
              </a:spcAft>
            </a:pPr>
            <a:r>
              <a:rPr sz="2300" b="1">
                <a:solidFill>
                  <a:srgbClr val="83E8C5"/>
                </a:solidFill>
                <a:latin typeface="맑은 고딕"/>
                <a:ea typeface="맑은 고딕"/>
              </a:rPr>
              <a:t>Job Fair · 11개 부서</a:t>
            </a:r>
          </a:p>
        </p:txBody>
      </p:sp>
      <p:sp>
        <p:nvSpPr>
          <p:cNvPr id="17" name="TextBox 16"/>
          <p:cNvSpPr txBox="1"/>
          <p:nvPr/>
        </p:nvSpPr>
        <p:spPr>
          <a:xfrm>
            <a:off x="685800" y="3300984"/>
            <a:ext cx="5120640" cy="320040"/>
          </a:xfrm>
          <a:prstGeom prst="rect">
            <a:avLst/>
          </a:prstGeom>
          <a:noFill/>
        </p:spPr>
        <p:txBody>
          <a:bodyPr wrap="square" lIns="0" rIns="0" tIns="0" bIns="0">
            <a:spAutoFit/>
          </a:bodyPr>
          <a:lstStyle/>
          <a:p>
            <a:pPr algn="l">
              <a:spcAft>
                <a:spcPts val="400"/>
              </a:spcAft>
            </a:pPr>
            <a:r>
              <a:rPr sz="1800" b="0">
                <a:solidFill>
                  <a:srgbClr val="B4C6D4"/>
                </a:solidFill>
                <a:latin typeface="맑은 고딕"/>
                <a:ea typeface="맑은 고딕"/>
              </a:rPr>
              <a:t>서로의 일을 직접 소개</a:t>
            </a:r>
          </a:p>
        </p:txBody>
      </p:sp>
      <p:sp>
        <p:nvSpPr>
          <p:cNvPr id="18" name="Rounded Rectangle 17"/>
          <p:cNvSpPr/>
          <p:nvPr/>
        </p:nvSpPr>
        <p:spPr>
          <a:xfrm>
            <a:off x="685800" y="3758184"/>
            <a:ext cx="5285232" cy="1892807"/>
          </a:xfrm>
          <a:prstGeom prst="roundRect">
            <a:avLst/>
          </a:prstGeom>
          <a:solidFill>
            <a:srgbClr val="1B2D3E"/>
          </a:solidFill>
          <a:ln w="12700">
            <a:solidFill>
              <a:srgbClr val="38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904488"/>
            <a:ext cx="4828032" cy="256032"/>
          </a:xfrm>
          <a:prstGeom prst="rect">
            <a:avLst/>
          </a:prstGeom>
          <a:noFill/>
        </p:spPr>
        <p:txBody>
          <a:bodyPr wrap="square" lIns="0" rIns="0" tIns="0" bIns="0">
            <a:spAutoFit/>
          </a:bodyPr>
          <a:lstStyle/>
          <a:p>
            <a:pPr algn="l">
              <a:spcAft>
                <a:spcPts val="400"/>
              </a:spcAft>
            </a:pPr>
            <a:r>
              <a:rPr sz="1300" b="1">
                <a:solidFill>
                  <a:srgbClr val="83E8C5"/>
                </a:solidFill>
                <a:latin typeface="맑은 고딕"/>
                <a:ea typeface="맑은 고딕"/>
              </a:rPr>
              <a:t>실제 원본 삽입</a:t>
            </a:r>
          </a:p>
        </p:txBody>
      </p:sp>
      <p:sp>
        <p:nvSpPr>
          <p:cNvPr id="20" name="TextBox 19"/>
          <p:cNvSpPr txBox="1"/>
          <p:nvPr/>
        </p:nvSpPr>
        <p:spPr>
          <a:xfrm>
            <a:off x="914400" y="4315968"/>
            <a:ext cx="4828032" cy="676656"/>
          </a:xfrm>
          <a:prstGeom prst="rect">
            <a:avLst/>
          </a:prstGeom>
          <a:noFill/>
        </p:spPr>
        <p:txBody>
          <a:bodyPr wrap="square" lIns="0" rIns="0" tIns="0" bIns="0">
            <a:spAutoFit/>
          </a:bodyPr>
          <a:lstStyle/>
          <a:p>
            <a:pPr algn="l">
              <a:spcAft>
                <a:spcPts val="400"/>
              </a:spcAft>
            </a:pPr>
            <a:r>
              <a:rPr sz="1900" b="1">
                <a:solidFill>
                  <a:srgbClr val="F6F8F9"/>
                </a:solidFill>
                <a:latin typeface="맑은 고딕"/>
                <a:ea typeface="맑은 고딕"/>
              </a:rPr>
              <a:t>부스 전경 / A0 판넬</a:t>
            </a:r>
          </a:p>
        </p:txBody>
      </p:sp>
      <p:sp>
        <p:nvSpPr>
          <p:cNvPr id="21" name="TextBox 20"/>
          <p:cNvSpPr txBox="1"/>
          <p:nvPr/>
        </p:nvSpPr>
        <p:spPr>
          <a:xfrm>
            <a:off x="914400" y="5330952"/>
            <a:ext cx="4828032" cy="237744"/>
          </a:xfrm>
          <a:prstGeom prst="rect">
            <a:avLst/>
          </a:prstGeom>
          <a:noFill/>
        </p:spPr>
        <p:txBody>
          <a:bodyPr wrap="square" lIns="0" rIns="0" tIns="0" bIns="0">
            <a:spAutoFit/>
          </a:bodyPr>
          <a:lstStyle/>
          <a:p>
            <a:pPr algn="l">
              <a:spcAft>
                <a:spcPts val="400"/>
              </a:spcAft>
            </a:pPr>
            <a:r>
              <a:rPr sz="1100" b="0">
                <a:solidFill>
                  <a:srgbClr val="B4C6D4"/>
                </a:solidFill>
                <a:latin typeface="맑은 고딕"/>
                <a:ea typeface="맑은 고딕"/>
              </a:rPr>
              <a:t>IMG04 · IMG05</a:t>
            </a:r>
          </a:p>
        </p:txBody>
      </p:sp>
      <p:sp>
        <p:nvSpPr>
          <p:cNvPr id="22" name="TextBox 21"/>
          <p:cNvSpPr txBox="1"/>
          <p:nvPr/>
        </p:nvSpPr>
        <p:spPr>
          <a:xfrm>
            <a:off x="6217920" y="2779776"/>
            <a:ext cx="5120640" cy="411480"/>
          </a:xfrm>
          <a:prstGeom prst="rect">
            <a:avLst/>
          </a:prstGeom>
          <a:noFill/>
        </p:spPr>
        <p:txBody>
          <a:bodyPr wrap="square" lIns="0" rIns="0" tIns="0" bIns="0">
            <a:spAutoFit/>
          </a:bodyPr>
          <a:lstStyle/>
          <a:p>
            <a:pPr algn="l">
              <a:spcAft>
                <a:spcPts val="400"/>
              </a:spcAft>
            </a:pPr>
            <a:r>
              <a:rPr sz="2300" b="1">
                <a:solidFill>
                  <a:srgbClr val="83E8C5"/>
                </a:solidFill>
                <a:latin typeface="맑은 고딕"/>
                <a:ea typeface="맑은 고딕"/>
              </a:rPr>
              <a:t>DCIS · 월례 공유</a:t>
            </a:r>
          </a:p>
        </p:txBody>
      </p:sp>
      <p:sp>
        <p:nvSpPr>
          <p:cNvPr id="23" name="TextBox 22"/>
          <p:cNvSpPr txBox="1"/>
          <p:nvPr/>
        </p:nvSpPr>
        <p:spPr>
          <a:xfrm>
            <a:off x="6217920" y="3300984"/>
            <a:ext cx="5120640" cy="320040"/>
          </a:xfrm>
          <a:prstGeom prst="rect">
            <a:avLst/>
          </a:prstGeom>
          <a:noFill/>
        </p:spPr>
        <p:txBody>
          <a:bodyPr wrap="square" lIns="0" rIns="0" tIns="0" bIns="0">
            <a:spAutoFit/>
          </a:bodyPr>
          <a:lstStyle/>
          <a:p>
            <a:pPr algn="l">
              <a:spcAft>
                <a:spcPts val="400"/>
              </a:spcAft>
            </a:pPr>
            <a:r>
              <a:rPr sz="1800" b="0">
                <a:solidFill>
                  <a:srgbClr val="B4C6D4"/>
                </a:solidFill>
                <a:latin typeface="맑은 고딕"/>
                <a:ea typeface="맑은 고딕"/>
              </a:rPr>
              <a:t>업무 · 서비스 · 연구 기술</a:t>
            </a:r>
          </a:p>
        </p:txBody>
      </p:sp>
      <p:sp>
        <p:nvSpPr>
          <p:cNvPr id="24" name="Rounded Rectangle 23"/>
          <p:cNvSpPr/>
          <p:nvPr/>
        </p:nvSpPr>
        <p:spPr>
          <a:xfrm>
            <a:off x="6217920" y="3758184"/>
            <a:ext cx="5285232" cy="1892807"/>
          </a:xfrm>
          <a:prstGeom prst="roundRect">
            <a:avLst/>
          </a:prstGeom>
          <a:solidFill>
            <a:srgbClr val="1B2D3E"/>
          </a:solidFill>
          <a:ln w="12700">
            <a:solidFill>
              <a:srgbClr val="38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3904488"/>
            <a:ext cx="4828032" cy="256032"/>
          </a:xfrm>
          <a:prstGeom prst="rect">
            <a:avLst/>
          </a:prstGeom>
          <a:noFill/>
        </p:spPr>
        <p:txBody>
          <a:bodyPr wrap="square" lIns="0" rIns="0" tIns="0" bIns="0">
            <a:spAutoFit/>
          </a:bodyPr>
          <a:lstStyle/>
          <a:p>
            <a:pPr algn="l">
              <a:spcAft>
                <a:spcPts val="400"/>
              </a:spcAft>
            </a:pPr>
            <a:r>
              <a:rPr sz="1300" b="1">
                <a:solidFill>
                  <a:srgbClr val="83E8C5"/>
                </a:solidFill>
                <a:latin typeface="맑은 고딕"/>
                <a:ea typeface="맑은 고딕"/>
              </a:rPr>
              <a:t>실제 원본 삽입</a:t>
            </a:r>
          </a:p>
        </p:txBody>
      </p:sp>
      <p:sp>
        <p:nvSpPr>
          <p:cNvPr id="26" name="TextBox 25"/>
          <p:cNvSpPr txBox="1"/>
          <p:nvPr/>
        </p:nvSpPr>
        <p:spPr>
          <a:xfrm>
            <a:off x="6446520" y="4315968"/>
            <a:ext cx="4828032" cy="676656"/>
          </a:xfrm>
          <a:prstGeom prst="rect">
            <a:avLst/>
          </a:prstGeom>
          <a:noFill/>
        </p:spPr>
        <p:txBody>
          <a:bodyPr wrap="square" lIns="0" rIns="0" tIns="0" bIns="0">
            <a:spAutoFit/>
          </a:bodyPr>
          <a:lstStyle/>
          <a:p>
            <a:pPr algn="l">
              <a:spcAft>
                <a:spcPts val="400"/>
              </a:spcAft>
            </a:pPr>
            <a:r>
              <a:rPr sz="1900" b="1">
                <a:solidFill>
                  <a:srgbClr val="F6F8F9"/>
                </a:solidFill>
                <a:latin typeface="맑은 고딕"/>
                <a:ea typeface="맑은 고딕"/>
              </a:rPr>
              <a:t>대표 세션 사진 / 발표 표지</a:t>
            </a:r>
          </a:p>
        </p:txBody>
      </p:sp>
      <p:sp>
        <p:nvSpPr>
          <p:cNvPr id="27" name="TextBox 26"/>
          <p:cNvSpPr txBox="1"/>
          <p:nvPr/>
        </p:nvSpPr>
        <p:spPr>
          <a:xfrm>
            <a:off x="6446520" y="5330952"/>
            <a:ext cx="4828032" cy="237744"/>
          </a:xfrm>
          <a:prstGeom prst="rect">
            <a:avLst/>
          </a:prstGeom>
          <a:noFill/>
        </p:spPr>
        <p:txBody>
          <a:bodyPr wrap="square" lIns="0" rIns="0" tIns="0" bIns="0">
            <a:spAutoFit/>
          </a:bodyPr>
          <a:lstStyle/>
          <a:p>
            <a:pPr algn="l">
              <a:spcAft>
                <a:spcPts val="400"/>
              </a:spcAft>
            </a:pPr>
            <a:r>
              <a:rPr sz="1100" b="0">
                <a:solidFill>
                  <a:srgbClr val="B4C6D4"/>
                </a:solidFill>
                <a:latin typeface="맑은 고딕"/>
                <a:ea typeface="맑은 고딕"/>
              </a:rPr>
              <a:t>IMG06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643616" y="448056"/>
            <a:ext cx="777240" cy="320040"/>
          </a:xfrm>
          <a:prstGeom prst="rect">
            <a:avLst/>
          </a:prstGeom>
          <a:noFill/>
        </p:spPr>
        <p:txBody>
          <a:bodyPr wrap="square" lIns="0" rIns="0" tIns="0" bIns="0">
            <a:spAutoFit/>
          </a:bodyPr>
          <a:lstStyle/>
          <a:p>
            <a:pPr algn="r">
              <a:spcAft>
                <a:spcPts val="400"/>
              </a:spcAft>
            </a:pPr>
            <a:r>
              <a:rPr sz="1300" b="1">
                <a:solidFill>
                  <a:srgbClr val="83E8C5"/>
                </a:solidFill>
                <a:latin typeface="맑은 고딕"/>
                <a:ea typeface="맑은 고딕"/>
              </a:rPr>
              <a:t>P05</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함께 바꾸다 / Tech X</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3200" b="1">
                <a:solidFill>
                  <a:srgbClr val="F6F8F9"/>
                </a:solidFill>
                <a:latin typeface="맑은 고딕"/>
                <a:ea typeface="맑은 고딕"/>
              </a:rPr>
              <a:t>이해에서,</a:t>
            </a:r>
          </a:p>
          <a:p>
            <a:pPr algn="l">
              <a:spcAft>
                <a:spcPts val="400"/>
              </a:spcAft>
            </a:pPr>
            <a:r>
              <a:rPr sz="3200" b="1">
                <a:solidFill>
                  <a:srgbClr val="F6F8F9"/>
                </a:solidFill>
                <a:latin typeface="맑은 고딕"/>
                <a:ea typeface="맑은 고딕"/>
              </a:rPr>
              <a:t>함께 해보는 경험으로.</a:t>
            </a:r>
          </a:p>
        </p:txBody>
      </p:sp>
      <p:cxnSp>
        <p:nvCxnSpPr>
          <p:cNvPr id="7" name="Connector 6"/>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731520"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밖에서 배우다</a:t>
            </a:r>
          </a:p>
        </p:txBody>
      </p:sp>
      <p:sp>
        <p:nvSpPr>
          <p:cNvPr id="10" name="Oval 9"/>
          <p:cNvSpPr/>
          <p:nvPr/>
        </p:nvSpPr>
        <p:spPr>
          <a:xfrm>
            <a:off x="3493008"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66744"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서로를 이해하다</a:t>
            </a:r>
          </a:p>
        </p:txBody>
      </p:sp>
      <p:sp>
        <p:nvSpPr>
          <p:cNvPr id="12" name="Oval 11"/>
          <p:cNvSpPr/>
          <p:nvPr/>
        </p:nvSpPr>
        <p:spPr>
          <a:xfrm>
            <a:off x="6254496"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6263640"/>
            <a:ext cx="2423160" cy="320040"/>
          </a:xfrm>
          <a:prstGeom prst="rect">
            <a:avLst/>
          </a:prstGeom>
          <a:noFill/>
        </p:spPr>
        <p:txBody>
          <a:bodyPr wrap="square" lIns="0" rIns="0" tIns="0" bIns="0">
            <a:spAutoFit/>
          </a:bodyPr>
          <a:lstStyle/>
          <a:p>
            <a:pPr algn="l">
              <a:spcAft>
                <a:spcPts val="400"/>
              </a:spcAft>
            </a:pPr>
            <a:r>
              <a:rPr sz="1200" b="1">
                <a:solidFill>
                  <a:srgbClr val="F6F8F9"/>
                </a:solidFill>
                <a:latin typeface="맑은 고딕"/>
                <a:ea typeface="맑은 고딕"/>
              </a:rPr>
              <a:t>함께 바꾸다</a:t>
            </a:r>
          </a:p>
        </p:txBody>
      </p:sp>
      <p:sp>
        <p:nvSpPr>
          <p:cNvPr id="14" name="Oval 13"/>
          <p:cNvSpPr/>
          <p:nvPr/>
        </p:nvSpPr>
        <p:spPr>
          <a:xfrm>
            <a:off x="9015984" y="6336792"/>
            <a:ext cx="100584" cy="100584"/>
          </a:xfrm>
          <a:prstGeom prst="ellipse">
            <a:avLst/>
          </a:prstGeom>
          <a:solidFill>
            <a:srgbClr val="38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89720"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다시 나누다</a:t>
            </a:r>
          </a:p>
        </p:txBody>
      </p:sp>
      <p:sp>
        <p:nvSpPr>
          <p:cNvPr id="16" name="TextBox 15"/>
          <p:cNvSpPr txBox="1"/>
          <p:nvPr/>
        </p:nvSpPr>
        <p:spPr>
          <a:xfrm>
            <a:off x="685800" y="3072384"/>
            <a:ext cx="2286000" cy="731520"/>
          </a:xfrm>
          <a:prstGeom prst="rect">
            <a:avLst/>
          </a:prstGeom>
          <a:noFill/>
        </p:spPr>
        <p:txBody>
          <a:bodyPr wrap="square" lIns="0" rIns="0" tIns="0" bIns="0">
            <a:spAutoFit/>
          </a:bodyPr>
          <a:lstStyle/>
          <a:p>
            <a:pPr algn="l">
              <a:spcAft>
                <a:spcPts val="400"/>
              </a:spcAft>
            </a:pPr>
            <a:r>
              <a:rPr sz="4400" b="1">
                <a:solidFill>
                  <a:srgbClr val="83E8C5"/>
                </a:solidFill>
                <a:latin typeface="맑은 고딕"/>
                <a:ea typeface="맑은 고딕"/>
              </a:rPr>
              <a:t>6개</a:t>
            </a:r>
          </a:p>
        </p:txBody>
      </p:sp>
      <p:sp>
        <p:nvSpPr>
          <p:cNvPr id="17" name="TextBox 16"/>
          <p:cNvSpPr txBox="1"/>
          <p:nvPr/>
        </p:nvSpPr>
        <p:spPr>
          <a:xfrm>
            <a:off x="685800" y="3858768"/>
            <a:ext cx="2286000" cy="365760"/>
          </a:xfrm>
          <a:prstGeom prst="rect">
            <a:avLst/>
          </a:prstGeom>
          <a:noFill/>
        </p:spPr>
        <p:txBody>
          <a:bodyPr wrap="square" lIns="0" rIns="0" tIns="0" bIns="0">
            <a:spAutoFit/>
          </a:bodyPr>
          <a:lstStyle/>
          <a:p>
            <a:pPr algn="l">
              <a:spcAft>
                <a:spcPts val="400"/>
              </a:spcAft>
            </a:pPr>
            <a:r>
              <a:rPr sz="2000" b="0">
                <a:solidFill>
                  <a:srgbClr val="B4C6D4"/>
                </a:solidFill>
                <a:latin typeface="맑은 고딕"/>
                <a:ea typeface="맑은 고딕"/>
              </a:rPr>
              <a:t>프로젝트</a:t>
            </a:r>
          </a:p>
        </p:txBody>
      </p:sp>
      <p:sp>
        <p:nvSpPr>
          <p:cNvPr id="18" name="TextBox 17"/>
          <p:cNvSpPr txBox="1"/>
          <p:nvPr/>
        </p:nvSpPr>
        <p:spPr>
          <a:xfrm>
            <a:off x="3017520" y="3072384"/>
            <a:ext cx="2377440" cy="731520"/>
          </a:xfrm>
          <a:prstGeom prst="rect">
            <a:avLst/>
          </a:prstGeom>
          <a:noFill/>
        </p:spPr>
        <p:txBody>
          <a:bodyPr wrap="square" lIns="0" rIns="0" tIns="0" bIns="0">
            <a:spAutoFit/>
          </a:bodyPr>
          <a:lstStyle/>
          <a:p>
            <a:pPr algn="l">
              <a:spcAft>
                <a:spcPts val="400"/>
              </a:spcAft>
            </a:pPr>
            <a:r>
              <a:rPr sz="4400" b="1">
                <a:solidFill>
                  <a:srgbClr val="C1B3F4"/>
                </a:solidFill>
                <a:latin typeface="맑은 고딕"/>
                <a:ea typeface="맑은 고딕"/>
              </a:rPr>
              <a:t>44명</a:t>
            </a:r>
          </a:p>
        </p:txBody>
      </p:sp>
      <p:sp>
        <p:nvSpPr>
          <p:cNvPr id="19" name="TextBox 18"/>
          <p:cNvSpPr txBox="1"/>
          <p:nvPr/>
        </p:nvSpPr>
        <p:spPr>
          <a:xfrm>
            <a:off x="3017520" y="3858768"/>
            <a:ext cx="2377440" cy="365760"/>
          </a:xfrm>
          <a:prstGeom prst="rect">
            <a:avLst/>
          </a:prstGeom>
          <a:noFill/>
        </p:spPr>
        <p:txBody>
          <a:bodyPr wrap="square" lIns="0" rIns="0" tIns="0" bIns="0">
            <a:spAutoFit/>
          </a:bodyPr>
          <a:lstStyle/>
          <a:p>
            <a:pPr algn="l">
              <a:spcAft>
                <a:spcPts val="400"/>
              </a:spcAft>
            </a:pPr>
            <a:r>
              <a:rPr sz="2000" b="0">
                <a:solidFill>
                  <a:srgbClr val="B4C6D4"/>
                </a:solidFill>
                <a:latin typeface="맑은 고딕"/>
                <a:ea typeface="맑은 고딕"/>
              </a:rPr>
              <a:t>참여 중</a:t>
            </a:r>
          </a:p>
        </p:txBody>
      </p:sp>
      <p:sp>
        <p:nvSpPr>
          <p:cNvPr id="20" name="Rounded Rectangle 19"/>
          <p:cNvSpPr/>
          <p:nvPr/>
        </p:nvSpPr>
        <p:spPr>
          <a:xfrm>
            <a:off x="5650992" y="3090672"/>
            <a:ext cx="5852160" cy="1271016"/>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34456" y="3483864"/>
            <a:ext cx="5303520" cy="585216"/>
          </a:xfrm>
          <a:prstGeom prst="rect">
            <a:avLst/>
          </a:prstGeom>
          <a:noFill/>
        </p:spPr>
        <p:txBody>
          <a:bodyPr wrap="square" lIns="0" rIns="0" tIns="0" bIns="0">
            <a:spAutoFit/>
          </a:bodyPr>
          <a:lstStyle/>
          <a:p>
            <a:pPr algn="l">
              <a:spcAft>
                <a:spcPts val="400"/>
              </a:spcAft>
            </a:pPr>
            <a:r>
              <a:rPr sz="2200" b="1">
                <a:solidFill>
                  <a:srgbClr val="F6F8F9"/>
                </a:solidFill>
                <a:latin typeface="맑은 고딕"/>
                <a:ea typeface="맑은 고딕"/>
              </a:rPr>
              <a:t>원래 부서 밖의 관심 프로젝트에 참여</a:t>
            </a:r>
          </a:p>
        </p:txBody>
      </p:sp>
      <p:sp>
        <p:nvSpPr>
          <p:cNvPr id="22" name="TextBox 21"/>
          <p:cNvSpPr txBox="1"/>
          <p:nvPr/>
        </p:nvSpPr>
        <p:spPr>
          <a:xfrm>
            <a:off x="685800" y="4910328"/>
            <a:ext cx="10789920" cy="502920"/>
          </a:xfrm>
          <a:prstGeom prst="rect">
            <a:avLst/>
          </a:prstGeom>
          <a:noFill/>
        </p:spPr>
        <p:txBody>
          <a:bodyPr wrap="square" lIns="0" rIns="0" tIns="0" bIns="0">
            <a:spAutoFit/>
          </a:bodyPr>
          <a:lstStyle/>
          <a:p>
            <a:pPr algn="l">
              <a:spcAft>
                <a:spcPts val="400"/>
              </a:spcAft>
            </a:pPr>
            <a:r>
              <a:rPr sz="2400" b="1">
                <a:solidFill>
                  <a:srgbClr val="F6F8F9"/>
                </a:solidFill>
                <a:latin typeface="맑은 고딕"/>
                <a:ea typeface="맑은 고딕"/>
              </a:rPr>
              <a:t>새로운 경험  +  부서 간 협업</a:t>
            </a:r>
          </a:p>
        </p:txBody>
      </p:sp>
      <p:sp>
        <p:nvSpPr>
          <p:cNvPr id="23" name="TextBox 22"/>
          <p:cNvSpPr txBox="1"/>
          <p:nvPr/>
        </p:nvSpPr>
        <p:spPr>
          <a:xfrm>
            <a:off x="685800" y="5550408"/>
            <a:ext cx="10789920" cy="27432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IMG07: 모집·선발 공지 / 참여 집계 원본 확인</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643616" y="448056"/>
            <a:ext cx="777240" cy="320040"/>
          </a:xfrm>
          <a:prstGeom prst="rect">
            <a:avLst/>
          </a:prstGeom>
          <a:noFill/>
        </p:spPr>
        <p:txBody>
          <a:bodyPr wrap="square" lIns="0" rIns="0" tIns="0" bIns="0">
            <a:spAutoFit/>
          </a:bodyPr>
          <a:lstStyle/>
          <a:p>
            <a:pPr algn="r">
              <a:spcAft>
                <a:spcPts val="400"/>
              </a:spcAft>
            </a:pPr>
            <a:r>
              <a:rPr sz="1300" b="1">
                <a:solidFill>
                  <a:srgbClr val="83E8C5"/>
                </a:solidFill>
                <a:latin typeface="맑은 고딕"/>
                <a:ea typeface="맑은 고딕"/>
              </a:rPr>
              <a:t>P06</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함께 바꾸다 / IAP</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3200" b="1">
                <a:solidFill>
                  <a:srgbClr val="F6F8F9"/>
                </a:solidFill>
                <a:latin typeface="맑은 고딕"/>
                <a:ea typeface="맑은 고딕"/>
              </a:rPr>
              <a:t>사람이 하던 알림 업무를 자동화</a:t>
            </a:r>
          </a:p>
        </p:txBody>
      </p:sp>
      <p:sp>
        <p:nvSpPr>
          <p:cNvPr id="7" name="TextBox 6"/>
          <p:cNvSpPr txBox="1"/>
          <p:nvPr/>
        </p:nvSpPr>
        <p:spPr>
          <a:xfrm>
            <a:off x="685800" y="2542032"/>
            <a:ext cx="10835640" cy="411480"/>
          </a:xfrm>
          <a:prstGeom prst="rect">
            <a:avLst/>
          </a:prstGeom>
          <a:noFill/>
        </p:spPr>
        <p:txBody>
          <a:bodyPr wrap="square" lIns="0" rIns="0" tIns="0" bIns="0">
            <a:spAutoFit/>
          </a:bodyPr>
          <a:lstStyle/>
          <a:p>
            <a:pPr algn="l">
              <a:spcAft>
                <a:spcPts val="400"/>
              </a:spcAft>
            </a:pPr>
            <a:r>
              <a:rPr sz="1700" b="0">
                <a:solidFill>
                  <a:srgbClr val="B4C6D4"/>
                </a:solidFill>
                <a:latin typeface="맑은 고딕"/>
                <a:ea typeface="맑은 고딕"/>
              </a:rPr>
              <a:t>Tech X 과제 → 팀 주요 미션 → 운영 도입</a:t>
            </a:r>
          </a:p>
        </p:txBody>
      </p:sp>
      <p:cxnSp>
        <p:nvCxnSpPr>
          <p:cNvPr id="8" name="Connector 7"/>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731520"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밖에서 배우다</a:t>
            </a:r>
          </a:p>
        </p:txBody>
      </p:sp>
      <p:sp>
        <p:nvSpPr>
          <p:cNvPr id="11" name="Oval 10"/>
          <p:cNvSpPr/>
          <p:nvPr/>
        </p:nvSpPr>
        <p:spPr>
          <a:xfrm>
            <a:off x="3493008"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66744"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서로를 이해하다</a:t>
            </a:r>
          </a:p>
        </p:txBody>
      </p:sp>
      <p:sp>
        <p:nvSpPr>
          <p:cNvPr id="13" name="Oval 12"/>
          <p:cNvSpPr/>
          <p:nvPr/>
        </p:nvSpPr>
        <p:spPr>
          <a:xfrm>
            <a:off x="6254496"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2" y="6263640"/>
            <a:ext cx="2423160" cy="320040"/>
          </a:xfrm>
          <a:prstGeom prst="rect">
            <a:avLst/>
          </a:prstGeom>
          <a:noFill/>
        </p:spPr>
        <p:txBody>
          <a:bodyPr wrap="square" lIns="0" rIns="0" tIns="0" bIns="0">
            <a:spAutoFit/>
          </a:bodyPr>
          <a:lstStyle/>
          <a:p>
            <a:pPr algn="l">
              <a:spcAft>
                <a:spcPts val="400"/>
              </a:spcAft>
            </a:pPr>
            <a:r>
              <a:rPr sz="1200" b="1">
                <a:solidFill>
                  <a:srgbClr val="F6F8F9"/>
                </a:solidFill>
                <a:latin typeface="맑은 고딕"/>
                <a:ea typeface="맑은 고딕"/>
              </a:rPr>
              <a:t>함께 바꾸다</a:t>
            </a:r>
          </a:p>
        </p:txBody>
      </p:sp>
      <p:sp>
        <p:nvSpPr>
          <p:cNvPr id="15" name="Oval 14"/>
          <p:cNvSpPr/>
          <p:nvPr/>
        </p:nvSpPr>
        <p:spPr>
          <a:xfrm>
            <a:off x="9015984" y="6336792"/>
            <a:ext cx="100584" cy="100584"/>
          </a:xfrm>
          <a:prstGeom prst="ellipse">
            <a:avLst/>
          </a:prstGeom>
          <a:solidFill>
            <a:srgbClr val="38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89720"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다시 나누다</a:t>
            </a:r>
          </a:p>
        </p:txBody>
      </p:sp>
      <p:sp>
        <p:nvSpPr>
          <p:cNvPr id="17" name="TextBox 16"/>
          <p:cNvSpPr txBox="1"/>
          <p:nvPr/>
        </p:nvSpPr>
        <p:spPr>
          <a:xfrm>
            <a:off x="685800" y="3127248"/>
            <a:ext cx="10789920" cy="457200"/>
          </a:xfrm>
          <a:prstGeom prst="rect">
            <a:avLst/>
          </a:prstGeom>
          <a:noFill/>
        </p:spPr>
        <p:txBody>
          <a:bodyPr wrap="square" lIns="0" rIns="0" tIns="0" bIns="0">
            <a:spAutoFit/>
          </a:bodyPr>
          <a:lstStyle/>
          <a:p>
            <a:pPr algn="l">
              <a:spcAft>
                <a:spcPts val="400"/>
              </a:spcAft>
            </a:pPr>
            <a:r>
              <a:rPr sz="2300" b="1">
                <a:solidFill>
                  <a:srgbClr val="83E8C5"/>
                </a:solidFill>
                <a:latin typeface="맑은 고딕"/>
                <a:ea typeface="맑은 고딕"/>
              </a:rPr>
              <a:t>IAP  /  Infra Agent Platform</a:t>
            </a:r>
          </a:p>
        </p:txBody>
      </p:sp>
      <p:sp>
        <p:nvSpPr>
          <p:cNvPr id="18" name="Rounded Rectangle 17"/>
          <p:cNvSpPr/>
          <p:nvPr/>
        </p:nvSpPr>
        <p:spPr>
          <a:xfrm>
            <a:off x="685800" y="3813048"/>
            <a:ext cx="3374136" cy="1252728"/>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4050791"/>
            <a:ext cx="2953512" cy="420624"/>
          </a:xfrm>
          <a:prstGeom prst="rect">
            <a:avLst/>
          </a:prstGeom>
          <a:noFill/>
        </p:spPr>
        <p:txBody>
          <a:bodyPr wrap="square" lIns="0" rIns="0" tIns="0" bIns="0">
            <a:spAutoFit/>
          </a:bodyPr>
          <a:lstStyle/>
          <a:p>
            <a:pPr algn="l">
              <a:spcAft>
                <a:spcPts val="400"/>
              </a:spcAft>
            </a:pPr>
            <a:r>
              <a:rPr sz="2400" b="1">
                <a:solidFill>
                  <a:srgbClr val="83E8C5"/>
                </a:solidFill>
                <a:latin typeface="맑은 고딕"/>
                <a:ea typeface="맑은 고딕"/>
              </a:rPr>
              <a:t>로그 패턴 감지</a:t>
            </a:r>
          </a:p>
        </p:txBody>
      </p:sp>
      <p:sp>
        <p:nvSpPr>
          <p:cNvPr id="20" name="TextBox 19"/>
          <p:cNvSpPr txBox="1"/>
          <p:nvPr/>
        </p:nvSpPr>
        <p:spPr>
          <a:xfrm>
            <a:off x="896112" y="4581144"/>
            <a:ext cx="2953512" cy="292608"/>
          </a:xfrm>
          <a:prstGeom prst="rect">
            <a:avLst/>
          </a:prstGeom>
          <a:noFill/>
        </p:spPr>
        <p:txBody>
          <a:bodyPr wrap="square" lIns="0" rIns="0" tIns="0" bIns="0">
            <a:spAutoFit/>
          </a:bodyPr>
          <a:lstStyle/>
          <a:p>
            <a:pPr algn="l">
              <a:spcAft>
                <a:spcPts val="400"/>
              </a:spcAft>
            </a:pPr>
            <a:r>
              <a:rPr sz="1500" b="0">
                <a:solidFill>
                  <a:srgbClr val="B4C6D4"/>
                </a:solidFill>
                <a:latin typeface="맑은 고딕"/>
                <a:ea typeface="맑은 고딕"/>
              </a:rPr>
              <a:t>서버 로그의 특정 패턴</a:t>
            </a:r>
          </a:p>
        </p:txBody>
      </p:sp>
      <p:cxnSp>
        <p:nvCxnSpPr>
          <p:cNvPr id="21" name="Connector 20"/>
          <p:cNvCxnSpPr/>
          <p:nvPr/>
        </p:nvCxnSpPr>
        <p:spPr>
          <a:xfrm>
            <a:off x="4114800" y="4425696"/>
            <a:ext cx="246888" cy="0"/>
          </a:xfrm>
          <a:prstGeom prst="line">
            <a:avLst/>
          </a:prstGeom>
          <a:ln w="25400">
            <a:solidFill>
              <a:srgbClr val="83E8C5"/>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416552" y="3813048"/>
            <a:ext cx="3374136" cy="1252728"/>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26864" y="4050791"/>
            <a:ext cx="2953512" cy="420624"/>
          </a:xfrm>
          <a:prstGeom prst="rect">
            <a:avLst/>
          </a:prstGeom>
          <a:noFill/>
        </p:spPr>
        <p:txBody>
          <a:bodyPr wrap="square" lIns="0" rIns="0" tIns="0" bIns="0">
            <a:spAutoFit/>
          </a:bodyPr>
          <a:lstStyle/>
          <a:p>
            <a:pPr algn="l">
              <a:spcAft>
                <a:spcPts val="400"/>
              </a:spcAft>
            </a:pPr>
            <a:r>
              <a:rPr sz="2400" b="1">
                <a:solidFill>
                  <a:srgbClr val="C1B3F4"/>
                </a:solidFill>
                <a:latin typeface="맑은 고딕"/>
                <a:ea typeface="맑은 고딕"/>
              </a:rPr>
              <a:t>정형 메시지</a:t>
            </a:r>
          </a:p>
        </p:txBody>
      </p:sp>
      <p:sp>
        <p:nvSpPr>
          <p:cNvPr id="24" name="TextBox 23"/>
          <p:cNvSpPr txBox="1"/>
          <p:nvPr/>
        </p:nvSpPr>
        <p:spPr>
          <a:xfrm>
            <a:off x="4626864" y="4581144"/>
            <a:ext cx="2953512" cy="292608"/>
          </a:xfrm>
          <a:prstGeom prst="rect">
            <a:avLst/>
          </a:prstGeom>
          <a:noFill/>
        </p:spPr>
        <p:txBody>
          <a:bodyPr wrap="square" lIns="0" rIns="0" tIns="0" bIns="0">
            <a:spAutoFit/>
          </a:bodyPr>
          <a:lstStyle/>
          <a:p>
            <a:pPr algn="l">
              <a:spcAft>
                <a:spcPts val="400"/>
              </a:spcAft>
            </a:pPr>
            <a:r>
              <a:rPr sz="1500" b="0">
                <a:solidFill>
                  <a:srgbClr val="B4C6D4"/>
                </a:solidFill>
                <a:latin typeface="맑은 고딕"/>
                <a:ea typeface="맑은 고딕"/>
              </a:rPr>
              <a:t>정해진 포맷으로 구성</a:t>
            </a:r>
          </a:p>
        </p:txBody>
      </p:sp>
      <p:cxnSp>
        <p:nvCxnSpPr>
          <p:cNvPr id="25" name="Connector 24"/>
          <p:cNvCxnSpPr/>
          <p:nvPr/>
        </p:nvCxnSpPr>
        <p:spPr>
          <a:xfrm>
            <a:off x="7845552" y="4425696"/>
            <a:ext cx="246888" cy="0"/>
          </a:xfrm>
          <a:prstGeom prst="line">
            <a:avLst/>
          </a:prstGeom>
          <a:ln w="25400">
            <a:solidFill>
              <a:srgbClr val="83E8C5"/>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8147304" y="3813048"/>
            <a:ext cx="3374136" cy="1252728"/>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57616" y="4050791"/>
            <a:ext cx="2953512" cy="420624"/>
          </a:xfrm>
          <a:prstGeom prst="rect">
            <a:avLst/>
          </a:prstGeom>
          <a:noFill/>
        </p:spPr>
        <p:txBody>
          <a:bodyPr wrap="square" lIns="0" rIns="0" tIns="0" bIns="0">
            <a:spAutoFit/>
          </a:bodyPr>
          <a:lstStyle/>
          <a:p>
            <a:pPr algn="l">
              <a:spcAft>
                <a:spcPts val="400"/>
              </a:spcAft>
            </a:pPr>
            <a:r>
              <a:rPr sz="2400" b="1">
                <a:solidFill>
                  <a:srgbClr val="83E8C5"/>
                </a:solidFill>
                <a:latin typeface="맑은 고딕"/>
                <a:ea typeface="맑은 고딕"/>
              </a:rPr>
              <a:t>메신저 동보</a:t>
            </a:r>
          </a:p>
        </p:txBody>
      </p:sp>
      <p:sp>
        <p:nvSpPr>
          <p:cNvPr id="28" name="TextBox 27"/>
          <p:cNvSpPr txBox="1"/>
          <p:nvPr/>
        </p:nvSpPr>
        <p:spPr>
          <a:xfrm>
            <a:off x="8357616" y="4581144"/>
            <a:ext cx="2953512" cy="292608"/>
          </a:xfrm>
          <a:prstGeom prst="rect">
            <a:avLst/>
          </a:prstGeom>
          <a:noFill/>
        </p:spPr>
        <p:txBody>
          <a:bodyPr wrap="square" lIns="0" rIns="0" tIns="0" bIns="0">
            <a:spAutoFit/>
          </a:bodyPr>
          <a:lstStyle/>
          <a:p>
            <a:pPr algn="l">
              <a:spcAft>
                <a:spcPts val="400"/>
              </a:spcAft>
            </a:pPr>
            <a:r>
              <a:rPr sz="1500" b="0">
                <a:solidFill>
                  <a:srgbClr val="B4C6D4"/>
                </a:solidFill>
                <a:latin typeface="맑은 고딕"/>
                <a:ea typeface="맑은 고딕"/>
              </a:rPr>
              <a:t>알림 자동 전달</a:t>
            </a:r>
          </a:p>
        </p:txBody>
      </p:sp>
      <p:sp>
        <p:nvSpPr>
          <p:cNvPr id="29" name="TextBox 28"/>
          <p:cNvSpPr txBox="1"/>
          <p:nvPr/>
        </p:nvSpPr>
        <p:spPr>
          <a:xfrm>
            <a:off x="685800" y="5376672"/>
            <a:ext cx="10789920" cy="384048"/>
          </a:xfrm>
          <a:prstGeom prst="rect">
            <a:avLst/>
          </a:prstGeom>
          <a:noFill/>
        </p:spPr>
        <p:txBody>
          <a:bodyPr wrap="square" lIns="0" rIns="0" tIns="0" bIns="0">
            <a:spAutoFit/>
          </a:bodyPr>
          <a:lstStyle/>
          <a:p>
            <a:pPr algn="l">
              <a:spcAft>
                <a:spcPts val="400"/>
              </a:spcAft>
            </a:pPr>
            <a:r>
              <a:rPr sz="1900" b="1">
                <a:solidFill>
                  <a:srgbClr val="F6F8F9"/>
                </a:solidFill>
                <a:latin typeface="맑은 고딕"/>
                <a:ea typeface="맑은 고딕"/>
              </a:rPr>
              <a:t>현재 사례: 수작업 대체   /   확대 방향: 팀 인프라 전반</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643616" y="448056"/>
            <a:ext cx="777240" cy="320040"/>
          </a:xfrm>
          <a:prstGeom prst="rect">
            <a:avLst/>
          </a:prstGeom>
          <a:noFill/>
        </p:spPr>
        <p:txBody>
          <a:bodyPr wrap="square" lIns="0" rIns="0" tIns="0" bIns="0">
            <a:spAutoFit/>
          </a:bodyPr>
          <a:lstStyle/>
          <a:p>
            <a:pPr algn="r">
              <a:spcAft>
                <a:spcPts val="400"/>
              </a:spcAft>
            </a:pPr>
            <a:r>
              <a:rPr sz="1300" b="1">
                <a:solidFill>
                  <a:srgbClr val="83E8C5"/>
                </a:solidFill>
                <a:latin typeface="맑은 고딕"/>
                <a:ea typeface="맑은 고딕"/>
              </a:rPr>
              <a:t>P07</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다시 나누다 / IAP</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3200" b="1">
                <a:solidFill>
                  <a:srgbClr val="F6F8F9"/>
                </a:solidFill>
                <a:latin typeface="맑은 고딕"/>
                <a:ea typeface="맑은 고딕"/>
              </a:rPr>
              <a:t>만든 사람이,</a:t>
            </a:r>
          </a:p>
          <a:p>
            <a:pPr algn="l">
              <a:spcAft>
                <a:spcPts val="400"/>
              </a:spcAft>
            </a:pPr>
            <a:r>
              <a:rPr sz="3200" b="1">
                <a:solidFill>
                  <a:srgbClr val="F6F8F9"/>
                </a:solidFill>
                <a:latin typeface="맑은 고딕"/>
                <a:ea typeface="맑은 고딕"/>
              </a:rPr>
              <a:t>함께 쓰는 사람에게.</a:t>
            </a:r>
          </a:p>
        </p:txBody>
      </p:sp>
      <p:cxnSp>
        <p:nvCxnSpPr>
          <p:cNvPr id="7" name="Connector 6"/>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731520"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밖에서 배우다</a:t>
            </a:r>
          </a:p>
        </p:txBody>
      </p:sp>
      <p:sp>
        <p:nvSpPr>
          <p:cNvPr id="10" name="Oval 9"/>
          <p:cNvSpPr/>
          <p:nvPr/>
        </p:nvSpPr>
        <p:spPr>
          <a:xfrm>
            <a:off x="3493008"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66744"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서로를 이해하다</a:t>
            </a:r>
          </a:p>
        </p:txBody>
      </p:sp>
      <p:sp>
        <p:nvSpPr>
          <p:cNvPr id="12" name="Oval 11"/>
          <p:cNvSpPr/>
          <p:nvPr/>
        </p:nvSpPr>
        <p:spPr>
          <a:xfrm>
            <a:off x="6254496"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함께 바꾸다</a:t>
            </a:r>
          </a:p>
        </p:txBody>
      </p:sp>
      <p:sp>
        <p:nvSpPr>
          <p:cNvPr id="14" name="Oval 13"/>
          <p:cNvSpPr/>
          <p:nvPr/>
        </p:nvSpPr>
        <p:spPr>
          <a:xfrm>
            <a:off x="9015984"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89720" y="6263640"/>
            <a:ext cx="2423160" cy="320040"/>
          </a:xfrm>
          <a:prstGeom prst="rect">
            <a:avLst/>
          </a:prstGeom>
          <a:noFill/>
        </p:spPr>
        <p:txBody>
          <a:bodyPr wrap="square" lIns="0" rIns="0" tIns="0" bIns="0">
            <a:spAutoFit/>
          </a:bodyPr>
          <a:lstStyle/>
          <a:p>
            <a:pPr algn="l">
              <a:spcAft>
                <a:spcPts val="400"/>
              </a:spcAft>
            </a:pPr>
            <a:r>
              <a:rPr sz="1200" b="1">
                <a:solidFill>
                  <a:srgbClr val="F6F8F9"/>
                </a:solidFill>
                <a:latin typeface="맑은 고딕"/>
                <a:ea typeface="맑은 고딕"/>
              </a:rPr>
              <a:t>다시 나누다</a:t>
            </a:r>
          </a:p>
        </p:txBody>
      </p:sp>
      <p:sp>
        <p:nvSpPr>
          <p:cNvPr id="16" name="TextBox 15"/>
          <p:cNvSpPr txBox="1"/>
          <p:nvPr/>
        </p:nvSpPr>
        <p:spPr>
          <a:xfrm>
            <a:off x="685800" y="2926080"/>
            <a:ext cx="5120640" cy="457200"/>
          </a:xfrm>
          <a:prstGeom prst="rect">
            <a:avLst/>
          </a:prstGeom>
          <a:noFill/>
        </p:spPr>
        <p:txBody>
          <a:bodyPr wrap="square" lIns="0" rIns="0" tIns="0" bIns="0">
            <a:spAutoFit/>
          </a:bodyPr>
          <a:lstStyle/>
          <a:p>
            <a:pPr algn="l">
              <a:spcAft>
                <a:spcPts val="400"/>
              </a:spcAft>
            </a:pPr>
            <a:r>
              <a:rPr sz="2600" b="1">
                <a:solidFill>
                  <a:srgbClr val="83E8C5"/>
                </a:solidFill>
                <a:latin typeface="맑은 고딕"/>
                <a:ea typeface="맑은 고딕"/>
              </a:rPr>
              <a:t>6월 · 팀 소개</a:t>
            </a:r>
          </a:p>
        </p:txBody>
      </p:sp>
      <p:sp>
        <p:nvSpPr>
          <p:cNvPr id="17" name="TextBox 16"/>
          <p:cNvSpPr txBox="1"/>
          <p:nvPr/>
        </p:nvSpPr>
        <p:spPr>
          <a:xfrm>
            <a:off x="685800" y="3483864"/>
            <a:ext cx="5120640" cy="411480"/>
          </a:xfrm>
          <a:prstGeom prst="rect">
            <a:avLst/>
          </a:prstGeom>
          <a:noFill/>
        </p:spPr>
        <p:txBody>
          <a:bodyPr wrap="square" lIns="0" rIns="0" tIns="0" bIns="0">
            <a:spAutoFit/>
          </a:bodyPr>
          <a:lstStyle/>
          <a:p>
            <a:pPr algn="l">
              <a:spcAft>
                <a:spcPts val="400"/>
              </a:spcAft>
            </a:pPr>
            <a:r>
              <a:rPr sz="1800" b="0">
                <a:solidFill>
                  <a:srgbClr val="B4C6D4"/>
                </a:solidFill>
                <a:latin typeface="맑은 고딕"/>
                <a:ea typeface="맑은 고딕"/>
              </a:rPr>
              <a:t>개발 경험을 공유</a:t>
            </a:r>
          </a:p>
        </p:txBody>
      </p:sp>
      <p:sp>
        <p:nvSpPr>
          <p:cNvPr id="18" name="Rounded Rectangle 17"/>
          <p:cNvSpPr/>
          <p:nvPr/>
        </p:nvSpPr>
        <p:spPr>
          <a:xfrm>
            <a:off x="685800" y="4096512"/>
            <a:ext cx="5285232" cy="1545336"/>
          </a:xfrm>
          <a:prstGeom prst="roundRect">
            <a:avLst/>
          </a:prstGeom>
          <a:solidFill>
            <a:srgbClr val="1B2D3E"/>
          </a:solidFill>
          <a:ln w="12700">
            <a:solidFill>
              <a:srgbClr val="38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242816"/>
            <a:ext cx="4828032" cy="256032"/>
          </a:xfrm>
          <a:prstGeom prst="rect">
            <a:avLst/>
          </a:prstGeom>
          <a:noFill/>
        </p:spPr>
        <p:txBody>
          <a:bodyPr wrap="square" lIns="0" rIns="0" tIns="0" bIns="0">
            <a:spAutoFit/>
          </a:bodyPr>
          <a:lstStyle/>
          <a:p>
            <a:pPr algn="l">
              <a:spcAft>
                <a:spcPts val="400"/>
              </a:spcAft>
            </a:pPr>
            <a:r>
              <a:rPr sz="1300" b="1">
                <a:solidFill>
                  <a:srgbClr val="83E8C5"/>
                </a:solidFill>
                <a:latin typeface="맑은 고딕"/>
                <a:ea typeface="맑은 고딕"/>
              </a:rPr>
              <a:t>실제 원본 삽입</a:t>
            </a:r>
          </a:p>
        </p:txBody>
      </p:sp>
      <p:sp>
        <p:nvSpPr>
          <p:cNvPr id="20" name="TextBox 19"/>
          <p:cNvSpPr txBox="1"/>
          <p:nvPr/>
        </p:nvSpPr>
        <p:spPr>
          <a:xfrm>
            <a:off x="914400" y="4654296"/>
            <a:ext cx="4828032" cy="676656"/>
          </a:xfrm>
          <a:prstGeom prst="rect">
            <a:avLst/>
          </a:prstGeom>
          <a:noFill/>
        </p:spPr>
        <p:txBody>
          <a:bodyPr wrap="square" lIns="0" rIns="0" tIns="0" bIns="0">
            <a:spAutoFit/>
          </a:bodyPr>
          <a:lstStyle/>
          <a:p>
            <a:pPr algn="l">
              <a:spcAft>
                <a:spcPts val="400"/>
              </a:spcAft>
            </a:pPr>
            <a:r>
              <a:rPr sz="1900" b="1">
                <a:solidFill>
                  <a:srgbClr val="F6F8F9"/>
                </a:solidFill>
                <a:latin typeface="맑은 고딕"/>
                <a:ea typeface="맑은 고딕"/>
              </a:rPr>
              <a:t>IAP 소개 세미나</a:t>
            </a:r>
          </a:p>
        </p:txBody>
      </p:sp>
      <p:sp>
        <p:nvSpPr>
          <p:cNvPr id="21" name="TextBox 20"/>
          <p:cNvSpPr txBox="1"/>
          <p:nvPr/>
        </p:nvSpPr>
        <p:spPr>
          <a:xfrm>
            <a:off x="914400" y="5321808"/>
            <a:ext cx="4828032" cy="237744"/>
          </a:xfrm>
          <a:prstGeom prst="rect">
            <a:avLst/>
          </a:prstGeom>
          <a:noFill/>
        </p:spPr>
        <p:txBody>
          <a:bodyPr wrap="square" lIns="0" rIns="0" tIns="0" bIns="0">
            <a:spAutoFit/>
          </a:bodyPr>
          <a:lstStyle/>
          <a:p>
            <a:pPr algn="l">
              <a:spcAft>
                <a:spcPts val="400"/>
              </a:spcAft>
            </a:pPr>
            <a:r>
              <a:rPr sz="1100" b="0">
                <a:solidFill>
                  <a:srgbClr val="B4C6D4"/>
                </a:solidFill>
                <a:latin typeface="맑은 고딕"/>
                <a:ea typeface="맑은 고딕"/>
              </a:rPr>
              <a:t>IMG09</a:t>
            </a:r>
          </a:p>
        </p:txBody>
      </p:sp>
      <p:sp>
        <p:nvSpPr>
          <p:cNvPr id="22" name="TextBox 21"/>
          <p:cNvSpPr txBox="1"/>
          <p:nvPr/>
        </p:nvSpPr>
        <p:spPr>
          <a:xfrm>
            <a:off x="6217920" y="2926080"/>
            <a:ext cx="5120640" cy="457200"/>
          </a:xfrm>
          <a:prstGeom prst="rect">
            <a:avLst/>
          </a:prstGeom>
          <a:noFill/>
        </p:spPr>
        <p:txBody>
          <a:bodyPr wrap="square" lIns="0" rIns="0" tIns="0" bIns="0">
            <a:spAutoFit/>
          </a:bodyPr>
          <a:lstStyle/>
          <a:p>
            <a:pPr algn="l">
              <a:spcAft>
                <a:spcPts val="400"/>
              </a:spcAft>
            </a:pPr>
            <a:r>
              <a:rPr sz="2600" b="1">
                <a:solidFill>
                  <a:srgbClr val="83E8C5"/>
                </a:solidFill>
                <a:latin typeface="맑은 고딕"/>
                <a:ea typeface="맑은 고딕"/>
              </a:rPr>
              <a:t>7월 · 실무 실습</a:t>
            </a:r>
          </a:p>
        </p:txBody>
      </p:sp>
      <p:sp>
        <p:nvSpPr>
          <p:cNvPr id="23" name="TextBox 22"/>
          <p:cNvSpPr txBox="1"/>
          <p:nvPr/>
        </p:nvSpPr>
        <p:spPr>
          <a:xfrm>
            <a:off x="6217920" y="3483864"/>
            <a:ext cx="5120640" cy="411480"/>
          </a:xfrm>
          <a:prstGeom prst="rect">
            <a:avLst/>
          </a:prstGeom>
          <a:noFill/>
        </p:spPr>
        <p:txBody>
          <a:bodyPr wrap="square" lIns="0" rIns="0" tIns="0" bIns="0">
            <a:spAutoFit/>
          </a:bodyPr>
          <a:lstStyle/>
          <a:p>
            <a:pPr algn="l">
              <a:spcAft>
                <a:spcPts val="400"/>
              </a:spcAft>
            </a:pPr>
            <a:r>
              <a:rPr sz="1800" b="0">
                <a:solidFill>
                  <a:srgbClr val="B4C6D4"/>
                </a:solidFill>
                <a:latin typeface="맑은 고딕"/>
                <a:ea typeface="맑은 고딕"/>
              </a:rPr>
              <a:t>담당자 25명과 활용 방법 익히기</a:t>
            </a:r>
          </a:p>
        </p:txBody>
      </p:sp>
      <p:sp>
        <p:nvSpPr>
          <p:cNvPr id="24" name="Rounded Rectangle 23"/>
          <p:cNvSpPr/>
          <p:nvPr/>
        </p:nvSpPr>
        <p:spPr>
          <a:xfrm>
            <a:off x="6217920" y="4096512"/>
            <a:ext cx="5285232" cy="1545336"/>
          </a:xfrm>
          <a:prstGeom prst="roundRect">
            <a:avLst/>
          </a:prstGeom>
          <a:solidFill>
            <a:srgbClr val="1B2D3E"/>
          </a:solidFill>
          <a:ln w="12700">
            <a:solidFill>
              <a:srgbClr val="38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4242816"/>
            <a:ext cx="4828032" cy="256032"/>
          </a:xfrm>
          <a:prstGeom prst="rect">
            <a:avLst/>
          </a:prstGeom>
          <a:noFill/>
        </p:spPr>
        <p:txBody>
          <a:bodyPr wrap="square" lIns="0" rIns="0" tIns="0" bIns="0">
            <a:spAutoFit/>
          </a:bodyPr>
          <a:lstStyle/>
          <a:p>
            <a:pPr algn="l">
              <a:spcAft>
                <a:spcPts val="400"/>
              </a:spcAft>
            </a:pPr>
            <a:r>
              <a:rPr sz="1300" b="1">
                <a:solidFill>
                  <a:srgbClr val="83E8C5"/>
                </a:solidFill>
                <a:latin typeface="맑은 고딕"/>
                <a:ea typeface="맑은 고딕"/>
              </a:rPr>
              <a:t>실제 원본 삽입</a:t>
            </a:r>
          </a:p>
        </p:txBody>
      </p:sp>
      <p:sp>
        <p:nvSpPr>
          <p:cNvPr id="26" name="TextBox 25"/>
          <p:cNvSpPr txBox="1"/>
          <p:nvPr/>
        </p:nvSpPr>
        <p:spPr>
          <a:xfrm>
            <a:off x="6446520" y="4654296"/>
            <a:ext cx="4828032" cy="676656"/>
          </a:xfrm>
          <a:prstGeom prst="rect">
            <a:avLst/>
          </a:prstGeom>
          <a:noFill/>
        </p:spPr>
        <p:txBody>
          <a:bodyPr wrap="square" lIns="0" rIns="0" tIns="0" bIns="0">
            <a:spAutoFit/>
          </a:bodyPr>
          <a:lstStyle/>
          <a:p>
            <a:pPr algn="l">
              <a:spcAft>
                <a:spcPts val="400"/>
              </a:spcAft>
            </a:pPr>
            <a:r>
              <a:rPr sz="1900" b="1">
                <a:solidFill>
                  <a:srgbClr val="F6F8F9"/>
                </a:solidFill>
                <a:latin typeface="맑은 고딕"/>
                <a:ea typeface="맑은 고딕"/>
              </a:rPr>
              <a:t>Agent 등록 실습</a:t>
            </a:r>
          </a:p>
        </p:txBody>
      </p:sp>
      <p:sp>
        <p:nvSpPr>
          <p:cNvPr id="27" name="TextBox 26"/>
          <p:cNvSpPr txBox="1"/>
          <p:nvPr/>
        </p:nvSpPr>
        <p:spPr>
          <a:xfrm>
            <a:off x="6446520" y="5321808"/>
            <a:ext cx="4828032" cy="237744"/>
          </a:xfrm>
          <a:prstGeom prst="rect">
            <a:avLst/>
          </a:prstGeom>
          <a:noFill/>
        </p:spPr>
        <p:txBody>
          <a:bodyPr wrap="square" lIns="0" rIns="0" tIns="0" bIns="0">
            <a:spAutoFit/>
          </a:bodyPr>
          <a:lstStyle/>
          <a:p>
            <a:pPr algn="l">
              <a:spcAft>
                <a:spcPts val="400"/>
              </a:spcAft>
            </a:pPr>
            <a:r>
              <a:rPr sz="1100" b="0">
                <a:solidFill>
                  <a:srgbClr val="B4C6D4"/>
                </a:solidFill>
                <a:latin typeface="맑은 고딕"/>
                <a:ea typeface="맑은 고딕"/>
              </a:rPr>
              <a:t>IMG10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643616" y="448056"/>
            <a:ext cx="777240" cy="320040"/>
          </a:xfrm>
          <a:prstGeom prst="rect">
            <a:avLst/>
          </a:prstGeom>
          <a:noFill/>
        </p:spPr>
        <p:txBody>
          <a:bodyPr wrap="square" lIns="0" rIns="0" tIns="0" bIns="0">
            <a:spAutoFit/>
          </a:bodyPr>
          <a:lstStyle/>
          <a:p>
            <a:pPr algn="r">
              <a:spcAft>
                <a:spcPts val="400"/>
              </a:spcAft>
            </a:pPr>
            <a:r>
              <a:rPr sz="1300" b="1">
                <a:solidFill>
                  <a:srgbClr val="83E8C5"/>
                </a:solidFill>
                <a:latin typeface="맑은 고딕"/>
                <a:ea typeface="맑은 고딕"/>
              </a:rPr>
              <a:t>P08</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다시 나누다 / 명장 투어</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3200" b="1">
                <a:solidFill>
                  <a:srgbClr val="F6F8F9"/>
                </a:solidFill>
                <a:latin typeface="맑은 고딕"/>
                <a:ea typeface="맑은 고딕"/>
              </a:rPr>
              <a:t>경험은 현장에서도 전해집니다.</a:t>
            </a:r>
          </a:p>
        </p:txBody>
      </p:sp>
      <p:cxnSp>
        <p:nvCxnSpPr>
          <p:cNvPr id="7" name="Connector 6"/>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731520"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밖에서 배우다</a:t>
            </a:r>
          </a:p>
        </p:txBody>
      </p:sp>
      <p:sp>
        <p:nvSpPr>
          <p:cNvPr id="10" name="Oval 9"/>
          <p:cNvSpPr/>
          <p:nvPr/>
        </p:nvSpPr>
        <p:spPr>
          <a:xfrm>
            <a:off x="3493008"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66744"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서로를 이해하다</a:t>
            </a:r>
          </a:p>
        </p:txBody>
      </p:sp>
      <p:sp>
        <p:nvSpPr>
          <p:cNvPr id="12" name="Oval 11"/>
          <p:cNvSpPr/>
          <p:nvPr/>
        </p:nvSpPr>
        <p:spPr>
          <a:xfrm>
            <a:off x="6254496"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함께 바꾸다</a:t>
            </a:r>
          </a:p>
        </p:txBody>
      </p:sp>
      <p:sp>
        <p:nvSpPr>
          <p:cNvPr id="14" name="Oval 13"/>
          <p:cNvSpPr/>
          <p:nvPr/>
        </p:nvSpPr>
        <p:spPr>
          <a:xfrm>
            <a:off x="9015984"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89720" y="6263640"/>
            <a:ext cx="2423160" cy="320040"/>
          </a:xfrm>
          <a:prstGeom prst="rect">
            <a:avLst/>
          </a:prstGeom>
          <a:noFill/>
        </p:spPr>
        <p:txBody>
          <a:bodyPr wrap="square" lIns="0" rIns="0" tIns="0" bIns="0">
            <a:spAutoFit/>
          </a:bodyPr>
          <a:lstStyle/>
          <a:p>
            <a:pPr algn="l">
              <a:spcAft>
                <a:spcPts val="400"/>
              </a:spcAft>
            </a:pPr>
            <a:r>
              <a:rPr sz="1200" b="1">
                <a:solidFill>
                  <a:srgbClr val="F6F8F9"/>
                </a:solidFill>
                <a:latin typeface="맑은 고딕"/>
                <a:ea typeface="맑은 고딕"/>
              </a:rPr>
              <a:t>다시 나누다</a:t>
            </a:r>
          </a:p>
        </p:txBody>
      </p:sp>
      <p:sp>
        <p:nvSpPr>
          <p:cNvPr id="16" name="TextBox 15"/>
          <p:cNvSpPr txBox="1"/>
          <p:nvPr/>
        </p:nvSpPr>
        <p:spPr>
          <a:xfrm>
            <a:off x="685800" y="2898648"/>
            <a:ext cx="4709160" cy="685800"/>
          </a:xfrm>
          <a:prstGeom prst="rect">
            <a:avLst/>
          </a:prstGeom>
          <a:noFill/>
        </p:spPr>
        <p:txBody>
          <a:bodyPr wrap="square" lIns="0" rIns="0" tIns="0" bIns="0">
            <a:spAutoFit/>
          </a:bodyPr>
          <a:lstStyle/>
          <a:p>
            <a:pPr algn="l">
              <a:spcAft>
                <a:spcPts val="400"/>
              </a:spcAft>
            </a:pPr>
            <a:r>
              <a:rPr sz="3800" b="1">
                <a:solidFill>
                  <a:srgbClr val="83E8C5"/>
                </a:solidFill>
                <a:latin typeface="맑은 고딕"/>
                <a:ea typeface="맑은 고딕"/>
              </a:rPr>
              <a:t>7월 · 8명</a:t>
            </a:r>
          </a:p>
        </p:txBody>
      </p:sp>
      <p:sp>
        <p:nvSpPr>
          <p:cNvPr id="17" name="TextBox 16"/>
          <p:cNvSpPr txBox="1"/>
          <p:nvPr/>
        </p:nvSpPr>
        <p:spPr>
          <a:xfrm>
            <a:off x="685800" y="3803904"/>
            <a:ext cx="4709160" cy="704088"/>
          </a:xfrm>
          <a:prstGeom prst="rect">
            <a:avLst/>
          </a:prstGeom>
          <a:noFill/>
        </p:spPr>
        <p:txBody>
          <a:bodyPr wrap="square" lIns="0" rIns="0" tIns="0" bIns="0">
            <a:spAutoFit/>
          </a:bodyPr>
          <a:lstStyle/>
          <a:p>
            <a:pPr algn="l">
              <a:spcAft>
                <a:spcPts val="400"/>
              </a:spcAft>
            </a:pPr>
            <a:r>
              <a:rPr sz="2200" b="1">
                <a:solidFill>
                  <a:srgbClr val="F6F8F9"/>
                </a:solidFill>
                <a:latin typeface="맑은 고딕"/>
                <a:ea typeface="맑은 고딕"/>
              </a:rPr>
              <a:t>명장과 함께한 화성 HPC센터</a:t>
            </a:r>
          </a:p>
        </p:txBody>
      </p:sp>
      <p:sp>
        <p:nvSpPr>
          <p:cNvPr id="18" name="TextBox 17"/>
          <p:cNvSpPr txBox="1"/>
          <p:nvPr/>
        </p:nvSpPr>
        <p:spPr>
          <a:xfrm>
            <a:off x="685800" y="4764024"/>
            <a:ext cx="4709160" cy="822960"/>
          </a:xfrm>
          <a:prstGeom prst="rect">
            <a:avLst/>
          </a:prstGeom>
          <a:noFill/>
        </p:spPr>
        <p:txBody>
          <a:bodyPr wrap="square" lIns="0" rIns="0" tIns="0" bIns="0">
            <a:spAutoFit/>
          </a:bodyPr>
          <a:lstStyle/>
          <a:p>
            <a:pPr algn="l">
              <a:spcAft>
                <a:spcPts val="400"/>
              </a:spcAft>
            </a:pPr>
            <a:r>
              <a:rPr sz="1900" b="0">
                <a:solidFill>
                  <a:srgbClr val="B4C6D4"/>
                </a:solidFill>
                <a:latin typeface="맑은 고딕"/>
                <a:ea typeface="맑은 고딕"/>
              </a:rPr>
              <a:t>시험 중 수냉식 서버</a:t>
            </a:r>
          </a:p>
          <a:p>
            <a:pPr algn="l">
              <a:spcAft>
                <a:spcPts val="400"/>
              </a:spcAft>
            </a:pPr>
            <a:r>
              <a:rPr sz="1900" b="0">
                <a:solidFill>
                  <a:srgbClr val="B4C6D4"/>
                </a:solidFill>
                <a:latin typeface="맑은 고딕"/>
                <a:ea typeface="맑은 고딕"/>
              </a:rPr>
              <a:t>공냉식 서버랙</a:t>
            </a:r>
          </a:p>
        </p:txBody>
      </p:sp>
      <p:sp>
        <p:nvSpPr>
          <p:cNvPr id="19" name="Rounded Rectangle 18"/>
          <p:cNvSpPr/>
          <p:nvPr/>
        </p:nvSpPr>
        <p:spPr>
          <a:xfrm>
            <a:off x="5660136" y="2953512"/>
            <a:ext cx="5843016" cy="2697480"/>
          </a:xfrm>
          <a:prstGeom prst="roundRect">
            <a:avLst/>
          </a:prstGeom>
          <a:solidFill>
            <a:srgbClr val="1B2D3E"/>
          </a:solidFill>
          <a:ln w="12700">
            <a:solidFill>
              <a:srgbClr val="38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88736" y="3099816"/>
            <a:ext cx="5385816" cy="256032"/>
          </a:xfrm>
          <a:prstGeom prst="rect">
            <a:avLst/>
          </a:prstGeom>
          <a:noFill/>
        </p:spPr>
        <p:txBody>
          <a:bodyPr wrap="square" lIns="0" rIns="0" tIns="0" bIns="0">
            <a:spAutoFit/>
          </a:bodyPr>
          <a:lstStyle/>
          <a:p>
            <a:pPr algn="l">
              <a:spcAft>
                <a:spcPts val="400"/>
              </a:spcAft>
            </a:pPr>
            <a:r>
              <a:rPr sz="1300" b="1">
                <a:solidFill>
                  <a:srgbClr val="83E8C5"/>
                </a:solidFill>
                <a:latin typeface="맑은 고딕"/>
                <a:ea typeface="맑은 고딕"/>
              </a:rPr>
              <a:t>실제 원본 삽입</a:t>
            </a:r>
          </a:p>
        </p:txBody>
      </p:sp>
      <p:sp>
        <p:nvSpPr>
          <p:cNvPr id="21" name="TextBox 20"/>
          <p:cNvSpPr txBox="1"/>
          <p:nvPr/>
        </p:nvSpPr>
        <p:spPr>
          <a:xfrm>
            <a:off x="5888736" y="3813048"/>
            <a:ext cx="5385816" cy="676656"/>
          </a:xfrm>
          <a:prstGeom prst="rect">
            <a:avLst/>
          </a:prstGeom>
          <a:noFill/>
        </p:spPr>
        <p:txBody>
          <a:bodyPr wrap="square" lIns="0" rIns="0" tIns="0" bIns="0">
            <a:spAutoFit/>
          </a:bodyPr>
          <a:lstStyle/>
          <a:p>
            <a:pPr algn="l">
              <a:spcAft>
                <a:spcPts val="400"/>
              </a:spcAft>
            </a:pPr>
            <a:r>
              <a:rPr sz="2300" b="1">
                <a:solidFill>
                  <a:srgbClr val="F6F8F9"/>
                </a:solidFill>
                <a:latin typeface="맑은 고딕"/>
                <a:ea typeface="맑은 고딕"/>
              </a:rPr>
              <a:t>실제 투어 / 서버 체험 사진</a:t>
            </a:r>
          </a:p>
        </p:txBody>
      </p:sp>
      <p:sp>
        <p:nvSpPr>
          <p:cNvPr id="22" name="TextBox 21"/>
          <p:cNvSpPr txBox="1"/>
          <p:nvPr/>
        </p:nvSpPr>
        <p:spPr>
          <a:xfrm>
            <a:off x="5888736" y="5330952"/>
            <a:ext cx="5385816" cy="237744"/>
          </a:xfrm>
          <a:prstGeom prst="rect">
            <a:avLst/>
          </a:prstGeom>
          <a:noFill/>
        </p:spPr>
        <p:txBody>
          <a:bodyPr wrap="square" lIns="0" rIns="0" tIns="0" bIns="0">
            <a:spAutoFit/>
          </a:bodyPr>
          <a:lstStyle/>
          <a:p>
            <a:pPr algn="l">
              <a:spcAft>
                <a:spcPts val="400"/>
              </a:spcAft>
            </a:pPr>
            <a:r>
              <a:rPr sz="1100" b="0">
                <a:solidFill>
                  <a:srgbClr val="B4C6D4"/>
                </a:solidFill>
                <a:latin typeface="맑은 고딕"/>
                <a:ea typeface="맑은 고딕"/>
              </a:rPr>
              <a:t>IMG11 · IMG12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643616" y="448056"/>
            <a:ext cx="777240" cy="320040"/>
          </a:xfrm>
          <a:prstGeom prst="rect">
            <a:avLst/>
          </a:prstGeom>
          <a:noFill/>
        </p:spPr>
        <p:txBody>
          <a:bodyPr wrap="square" lIns="0" rIns="0" tIns="0" bIns="0">
            <a:spAutoFit/>
          </a:bodyPr>
          <a:lstStyle/>
          <a:p>
            <a:pPr algn="r">
              <a:spcAft>
                <a:spcPts val="400"/>
              </a:spcAft>
            </a:pPr>
            <a:r>
              <a:rPr sz="1300" b="1">
                <a:solidFill>
                  <a:srgbClr val="83E8C5"/>
                </a:solidFill>
                <a:latin typeface="맑은 고딕"/>
                <a:ea typeface="맑은 고딕"/>
              </a:rPr>
              <a:t>P09</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다시 나누다 / 지식 자산과 확산 제안</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3200" b="1">
                <a:solidFill>
                  <a:srgbClr val="F6F8F9"/>
                </a:solidFill>
                <a:latin typeface="맑은 고딕"/>
                <a:ea typeface="맑은 고딕"/>
              </a:rPr>
              <a:t>한 번의 배움을,</a:t>
            </a:r>
          </a:p>
          <a:p>
            <a:pPr algn="l">
              <a:spcAft>
                <a:spcPts val="400"/>
              </a:spcAft>
            </a:pPr>
            <a:r>
              <a:rPr sz="3200" b="1">
                <a:solidFill>
                  <a:srgbClr val="F6F8F9"/>
                </a:solidFill>
                <a:latin typeface="맑은 고딕"/>
                <a:ea typeface="맑은 고딕"/>
              </a:rPr>
              <a:t>다음 사람의 출발점으로.</a:t>
            </a:r>
          </a:p>
        </p:txBody>
      </p:sp>
      <p:cxnSp>
        <p:nvCxnSpPr>
          <p:cNvPr id="7" name="Connector 6"/>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731520"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밖에서 배우다</a:t>
            </a:r>
          </a:p>
        </p:txBody>
      </p:sp>
      <p:sp>
        <p:nvSpPr>
          <p:cNvPr id="10" name="Oval 9"/>
          <p:cNvSpPr/>
          <p:nvPr/>
        </p:nvSpPr>
        <p:spPr>
          <a:xfrm>
            <a:off x="3493008"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66744"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서로를 이해하다</a:t>
            </a:r>
          </a:p>
        </p:txBody>
      </p:sp>
      <p:sp>
        <p:nvSpPr>
          <p:cNvPr id="12" name="Oval 11"/>
          <p:cNvSpPr/>
          <p:nvPr/>
        </p:nvSpPr>
        <p:spPr>
          <a:xfrm>
            <a:off x="6254496"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함께 바꾸다</a:t>
            </a:r>
          </a:p>
        </p:txBody>
      </p:sp>
      <p:sp>
        <p:nvSpPr>
          <p:cNvPr id="14" name="Oval 13"/>
          <p:cNvSpPr/>
          <p:nvPr/>
        </p:nvSpPr>
        <p:spPr>
          <a:xfrm>
            <a:off x="9015984"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89720" y="6263640"/>
            <a:ext cx="2423160" cy="320040"/>
          </a:xfrm>
          <a:prstGeom prst="rect">
            <a:avLst/>
          </a:prstGeom>
          <a:noFill/>
        </p:spPr>
        <p:txBody>
          <a:bodyPr wrap="square" lIns="0" rIns="0" tIns="0" bIns="0">
            <a:spAutoFit/>
          </a:bodyPr>
          <a:lstStyle/>
          <a:p>
            <a:pPr algn="l">
              <a:spcAft>
                <a:spcPts val="400"/>
              </a:spcAft>
            </a:pPr>
            <a:r>
              <a:rPr sz="1200" b="1">
                <a:solidFill>
                  <a:srgbClr val="F6F8F9"/>
                </a:solidFill>
                <a:latin typeface="맑은 고딕"/>
                <a:ea typeface="맑은 고딕"/>
              </a:rPr>
              <a:t>다시 나누다</a:t>
            </a:r>
          </a:p>
        </p:txBody>
      </p:sp>
      <p:sp>
        <p:nvSpPr>
          <p:cNvPr id="16" name="TextBox 15"/>
          <p:cNvSpPr txBox="1"/>
          <p:nvPr/>
        </p:nvSpPr>
        <p:spPr>
          <a:xfrm>
            <a:off x="685800" y="2953512"/>
            <a:ext cx="10789920" cy="457200"/>
          </a:xfrm>
          <a:prstGeom prst="rect">
            <a:avLst/>
          </a:prstGeom>
          <a:noFill/>
        </p:spPr>
        <p:txBody>
          <a:bodyPr wrap="square" lIns="0" rIns="0" tIns="0" bIns="0">
            <a:spAutoFit/>
          </a:bodyPr>
          <a:lstStyle/>
          <a:p>
            <a:pPr algn="l">
              <a:spcAft>
                <a:spcPts val="400"/>
              </a:spcAft>
            </a:pPr>
            <a:r>
              <a:rPr sz="2200" b="1">
                <a:solidFill>
                  <a:srgbClr val="83E8C5"/>
                </a:solidFill>
                <a:latin typeface="맑은 고딕"/>
                <a:ea typeface="맑은 고딕"/>
              </a:rPr>
              <a:t>AI 4 AI 녹화 → 교육 플랫폼 공유</a:t>
            </a:r>
          </a:p>
        </p:txBody>
      </p:sp>
      <p:sp>
        <p:nvSpPr>
          <p:cNvPr id="17" name="Rounded Rectangle 16"/>
          <p:cNvSpPr/>
          <p:nvPr/>
        </p:nvSpPr>
        <p:spPr>
          <a:xfrm>
            <a:off x="685800" y="3657600"/>
            <a:ext cx="2368296" cy="868680"/>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849624"/>
            <a:ext cx="2093976" cy="457200"/>
          </a:xfrm>
          <a:prstGeom prst="rect">
            <a:avLst/>
          </a:prstGeom>
          <a:noFill/>
        </p:spPr>
        <p:txBody>
          <a:bodyPr wrap="square" lIns="0" rIns="0" tIns="0" bIns="0">
            <a:spAutoFit/>
          </a:bodyPr>
          <a:lstStyle/>
          <a:p>
            <a:pPr algn="ctr">
              <a:spcAft>
                <a:spcPts val="400"/>
              </a:spcAft>
            </a:pPr>
            <a:r>
              <a:rPr sz="2500" b="1">
                <a:solidFill>
                  <a:srgbClr val="83E8C5"/>
                </a:solidFill>
                <a:latin typeface="맑은 고딕"/>
                <a:ea typeface="맑은 고딕"/>
              </a:rPr>
              <a:t>배움</a:t>
            </a:r>
          </a:p>
        </p:txBody>
      </p:sp>
      <p:cxnSp>
        <p:nvCxnSpPr>
          <p:cNvPr id="19" name="Connector 18"/>
          <p:cNvCxnSpPr/>
          <p:nvPr/>
        </p:nvCxnSpPr>
        <p:spPr>
          <a:xfrm>
            <a:off x="3154680" y="4096512"/>
            <a:ext cx="237744" cy="0"/>
          </a:xfrm>
          <a:prstGeom prst="line">
            <a:avLst/>
          </a:prstGeom>
          <a:ln w="25400">
            <a:solidFill>
              <a:srgbClr val="83E8C5"/>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502152" y="3657600"/>
            <a:ext cx="2368296" cy="868680"/>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39312" y="3849624"/>
            <a:ext cx="2093976" cy="457200"/>
          </a:xfrm>
          <a:prstGeom prst="rect">
            <a:avLst/>
          </a:prstGeom>
          <a:noFill/>
        </p:spPr>
        <p:txBody>
          <a:bodyPr wrap="square" lIns="0" rIns="0" tIns="0" bIns="0">
            <a:spAutoFit/>
          </a:bodyPr>
          <a:lstStyle/>
          <a:p>
            <a:pPr algn="ctr">
              <a:spcAft>
                <a:spcPts val="400"/>
              </a:spcAft>
            </a:pPr>
            <a:r>
              <a:rPr sz="2500" b="1">
                <a:solidFill>
                  <a:srgbClr val="83E8C5"/>
                </a:solidFill>
                <a:latin typeface="맑은 고딕"/>
                <a:ea typeface="맑은 고딕"/>
              </a:rPr>
              <a:t>이해</a:t>
            </a:r>
          </a:p>
        </p:txBody>
      </p:sp>
      <p:cxnSp>
        <p:nvCxnSpPr>
          <p:cNvPr id="22" name="Connector 21"/>
          <p:cNvCxnSpPr/>
          <p:nvPr/>
        </p:nvCxnSpPr>
        <p:spPr>
          <a:xfrm>
            <a:off x="5971032" y="4096512"/>
            <a:ext cx="237744" cy="0"/>
          </a:xfrm>
          <a:prstGeom prst="line">
            <a:avLst/>
          </a:prstGeom>
          <a:ln w="25400">
            <a:solidFill>
              <a:srgbClr val="83E8C5"/>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318504" y="3657600"/>
            <a:ext cx="2368296" cy="868680"/>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55664" y="3849624"/>
            <a:ext cx="2093976" cy="457200"/>
          </a:xfrm>
          <a:prstGeom prst="rect">
            <a:avLst/>
          </a:prstGeom>
          <a:noFill/>
        </p:spPr>
        <p:txBody>
          <a:bodyPr wrap="square" lIns="0" rIns="0" tIns="0" bIns="0">
            <a:spAutoFit/>
          </a:bodyPr>
          <a:lstStyle/>
          <a:p>
            <a:pPr algn="ctr">
              <a:spcAft>
                <a:spcPts val="400"/>
              </a:spcAft>
            </a:pPr>
            <a:r>
              <a:rPr sz="2500" b="1">
                <a:solidFill>
                  <a:srgbClr val="83E8C5"/>
                </a:solidFill>
                <a:latin typeface="맑은 고딕"/>
                <a:ea typeface="맑은 고딕"/>
              </a:rPr>
              <a:t>실행</a:t>
            </a:r>
          </a:p>
        </p:txBody>
      </p:sp>
      <p:cxnSp>
        <p:nvCxnSpPr>
          <p:cNvPr id="25" name="Connector 24"/>
          <p:cNvCxnSpPr/>
          <p:nvPr/>
        </p:nvCxnSpPr>
        <p:spPr>
          <a:xfrm>
            <a:off x="8787384" y="4096512"/>
            <a:ext cx="237744" cy="0"/>
          </a:xfrm>
          <a:prstGeom prst="line">
            <a:avLst/>
          </a:prstGeom>
          <a:ln w="25400">
            <a:solidFill>
              <a:srgbClr val="83E8C5"/>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134856" y="3657600"/>
            <a:ext cx="2368296" cy="868680"/>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72016" y="3849624"/>
            <a:ext cx="2093976" cy="457200"/>
          </a:xfrm>
          <a:prstGeom prst="rect">
            <a:avLst/>
          </a:prstGeom>
          <a:noFill/>
        </p:spPr>
        <p:txBody>
          <a:bodyPr wrap="square" lIns="0" rIns="0" tIns="0" bIns="0">
            <a:spAutoFit/>
          </a:bodyPr>
          <a:lstStyle/>
          <a:p>
            <a:pPr algn="ctr">
              <a:spcAft>
                <a:spcPts val="400"/>
              </a:spcAft>
            </a:pPr>
            <a:r>
              <a:rPr sz="2500" b="1">
                <a:solidFill>
                  <a:srgbClr val="83E8C5"/>
                </a:solidFill>
                <a:latin typeface="맑은 고딕"/>
                <a:ea typeface="맑은 고딕"/>
              </a:rPr>
              <a:t>공유</a:t>
            </a:r>
          </a:p>
        </p:txBody>
      </p:sp>
      <p:cxnSp>
        <p:nvCxnSpPr>
          <p:cNvPr id="28" name="Connector 27"/>
          <p:cNvCxnSpPr/>
          <p:nvPr/>
        </p:nvCxnSpPr>
        <p:spPr>
          <a:xfrm>
            <a:off x="10323576" y="4636008"/>
            <a:ext cx="0" cy="210312"/>
          </a:xfrm>
          <a:prstGeom prst="line">
            <a:avLst/>
          </a:prstGeom>
          <a:ln w="25400">
            <a:solidFill>
              <a:srgbClr val="C1B3F4"/>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1865376" y="4846320"/>
            <a:ext cx="8458200" cy="0"/>
          </a:xfrm>
          <a:prstGeom prst="line">
            <a:avLst/>
          </a:prstGeom>
          <a:ln w="25400">
            <a:solidFill>
              <a:srgbClr val="C1B3F4"/>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1865376" y="4636008"/>
            <a:ext cx="0" cy="210312"/>
          </a:xfrm>
          <a:prstGeom prst="line">
            <a:avLst/>
          </a:prstGeom>
          <a:ln w="25400">
            <a:solidFill>
              <a:srgbClr val="C1B3F4"/>
            </a:solidFill>
            <a:tailEnd type="triangle"/>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85800" y="5102352"/>
            <a:ext cx="10789920" cy="320040"/>
          </a:xfrm>
          <a:prstGeom prst="rect">
            <a:avLst/>
          </a:prstGeom>
          <a:noFill/>
        </p:spPr>
        <p:txBody>
          <a:bodyPr wrap="square" lIns="0" rIns="0" tIns="0" bIns="0">
            <a:spAutoFit/>
          </a:bodyPr>
          <a:lstStyle/>
          <a:p>
            <a:pPr algn="l">
              <a:spcAft>
                <a:spcPts val="400"/>
              </a:spcAft>
            </a:pPr>
            <a:r>
              <a:rPr sz="1500" b="0">
                <a:solidFill>
                  <a:srgbClr val="B4C6D4"/>
                </a:solidFill>
                <a:latin typeface="맑은 고딕"/>
                <a:ea typeface="맑은 고딕"/>
              </a:rPr>
              <a:t>다른 조직의 시작 제안</a:t>
            </a:r>
          </a:p>
        </p:txBody>
      </p:sp>
      <p:sp>
        <p:nvSpPr>
          <p:cNvPr id="32" name="TextBox 31"/>
          <p:cNvSpPr txBox="1"/>
          <p:nvPr/>
        </p:nvSpPr>
        <p:spPr>
          <a:xfrm>
            <a:off x="685800" y="5504688"/>
            <a:ext cx="10789920" cy="393192"/>
          </a:xfrm>
          <a:prstGeom prst="rect">
            <a:avLst/>
          </a:prstGeom>
          <a:noFill/>
        </p:spPr>
        <p:txBody>
          <a:bodyPr wrap="square" lIns="0" rIns="0" tIns="0" bIns="0">
            <a:spAutoFit/>
          </a:bodyPr>
          <a:lstStyle/>
          <a:p>
            <a:pPr algn="l">
              <a:spcAft>
                <a:spcPts val="400"/>
              </a:spcAft>
            </a:pPr>
            <a:r>
              <a:rPr sz="2200" b="1">
                <a:solidFill>
                  <a:srgbClr val="F6F8F9"/>
                </a:solidFill>
                <a:latin typeface="맑은 고딕"/>
                <a:ea typeface="맑은 고딕"/>
              </a:rPr>
              <a:t>교류 열기 → 작은 공동 과제 → 다시 공유</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643616" y="448056"/>
            <a:ext cx="777240" cy="320040"/>
          </a:xfrm>
          <a:prstGeom prst="rect">
            <a:avLst/>
          </a:prstGeom>
          <a:noFill/>
        </p:spPr>
        <p:txBody>
          <a:bodyPr wrap="square" lIns="0" rIns="0" tIns="0" bIns="0">
            <a:spAutoFit/>
          </a:bodyPr>
          <a:lstStyle/>
          <a:p>
            <a:pPr algn="r">
              <a:spcAft>
                <a:spcPts val="400"/>
              </a:spcAft>
            </a:pPr>
            <a:r>
              <a:rPr sz="1300" b="1">
                <a:solidFill>
                  <a:srgbClr val="83E8C5"/>
                </a:solidFill>
                <a:latin typeface="맑은 고딕"/>
                <a:ea typeface="맑은 고딕"/>
              </a:rPr>
              <a:t>P10</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우리의 성장 방식</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5800" b="1">
                <a:solidFill>
                  <a:srgbClr val="F6F8F9"/>
                </a:solidFill>
                <a:latin typeface="맑은 고딕"/>
                <a:ea typeface="맑은 고딕"/>
              </a:rPr>
              <a:t>AI 4 AI</a:t>
            </a:r>
          </a:p>
        </p:txBody>
      </p:sp>
      <p:cxnSp>
        <p:nvCxnSpPr>
          <p:cNvPr id="7" name="Connector 6"/>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85800" y="6272784"/>
            <a:ext cx="108813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검토용 초안 · 회사 KV/폰트 수급 후 교체</a:t>
            </a:r>
          </a:p>
        </p:txBody>
      </p:sp>
      <p:sp>
        <p:nvSpPr>
          <p:cNvPr id="9" name="TextBox 8"/>
          <p:cNvSpPr txBox="1"/>
          <p:nvPr/>
        </p:nvSpPr>
        <p:spPr>
          <a:xfrm>
            <a:off x="685800" y="3264408"/>
            <a:ext cx="10789920" cy="822960"/>
          </a:xfrm>
          <a:prstGeom prst="rect">
            <a:avLst/>
          </a:prstGeom>
          <a:noFill/>
        </p:spPr>
        <p:txBody>
          <a:bodyPr wrap="square" lIns="0" rIns="0" tIns="0" bIns="0">
            <a:spAutoFit/>
          </a:bodyPr>
          <a:lstStyle/>
          <a:p>
            <a:pPr algn="l">
              <a:spcAft>
                <a:spcPts val="400"/>
              </a:spcAft>
            </a:pPr>
            <a:r>
              <a:rPr sz="3500" b="1">
                <a:solidFill>
                  <a:srgbClr val="83E8C5"/>
                </a:solidFill>
                <a:latin typeface="맑은 고딕"/>
                <a:ea typeface="맑은 고딕"/>
              </a:rPr>
              <a:t>연결이 성장의 인프라가 되다</a:t>
            </a:r>
          </a:p>
        </p:txBody>
      </p:sp>
      <p:sp>
        <p:nvSpPr>
          <p:cNvPr id="10" name="TextBox 9"/>
          <p:cNvSpPr txBox="1"/>
          <p:nvPr/>
        </p:nvSpPr>
        <p:spPr>
          <a:xfrm>
            <a:off x="685800" y="4764024"/>
            <a:ext cx="10789920" cy="502920"/>
          </a:xfrm>
          <a:prstGeom prst="rect">
            <a:avLst/>
          </a:prstGeom>
          <a:noFill/>
        </p:spPr>
        <p:txBody>
          <a:bodyPr wrap="square" lIns="0" rIns="0" tIns="0" bIns="0">
            <a:spAutoFit/>
          </a:bodyPr>
          <a:lstStyle/>
          <a:p>
            <a:pPr algn="l">
              <a:spcAft>
                <a:spcPts val="400"/>
              </a:spcAft>
            </a:pPr>
            <a:r>
              <a:rPr sz="2300" b="0">
                <a:solidFill>
                  <a:srgbClr val="B4C6D4"/>
                </a:solidFill>
                <a:latin typeface="맑은 고딕"/>
                <a:ea typeface="맑은 고딕"/>
              </a:rPr>
              <a:t>함께 배우고 · 함께 실행하고 · 다시 나눕니다</a:t>
            </a:r>
          </a:p>
        </p:txBody>
      </p:sp>
      <p:sp>
        <p:nvSpPr>
          <p:cNvPr id="11" name="TextBox 10"/>
          <p:cNvSpPr txBox="1"/>
          <p:nvPr/>
        </p:nvSpPr>
        <p:spPr>
          <a:xfrm>
            <a:off x="685800" y="5477256"/>
            <a:ext cx="10789920" cy="384048"/>
          </a:xfrm>
          <a:prstGeom prst="rect">
            <a:avLst/>
          </a:prstGeom>
          <a:noFill/>
        </p:spPr>
        <p:txBody>
          <a:bodyPr wrap="square" lIns="0" rIns="0" tIns="0" bIns="0">
            <a:spAutoFit/>
          </a:bodyPr>
          <a:lstStyle/>
          <a:p>
            <a:pPr algn="l">
              <a:spcAft>
                <a:spcPts val="400"/>
              </a:spcAft>
            </a:pPr>
            <a:r>
              <a:rPr sz="1900" b="0">
                <a:solidFill>
                  <a:srgbClr val="F6F8F9"/>
                </a:solidFill>
                <a:latin typeface="맑은 고딕"/>
                <a:ea typeface="맑은 고딕"/>
              </a:rPr>
              <a:t>Data Center팀</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643616" y="448056"/>
            <a:ext cx="777240" cy="320040"/>
          </a:xfrm>
          <a:prstGeom prst="rect">
            <a:avLst/>
          </a:prstGeom>
          <a:noFill/>
        </p:spPr>
        <p:txBody>
          <a:bodyPr wrap="square" lIns="0" rIns="0" tIns="0" bIns="0">
            <a:spAutoFit/>
          </a:bodyPr>
          <a:lstStyle/>
          <a:p>
            <a:pPr algn="r">
              <a:spcAft>
                <a:spcPts val="400"/>
              </a:spcAft>
            </a:pPr>
            <a:r>
              <a:rPr sz="1300" b="1">
                <a:solidFill>
                  <a:srgbClr val="83E8C5"/>
                </a:solidFill>
                <a:latin typeface="맑은 고딕"/>
                <a:ea typeface="맑은 고딕"/>
              </a:rPr>
              <a:t>A01</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참고 부록 / 본편 사용 제외</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3200" b="1">
                <a:solidFill>
                  <a:srgbClr val="F6F8F9"/>
                </a:solidFill>
                <a:latin typeface="맑은 고딕"/>
                <a:ea typeface="맑은 고딕"/>
              </a:rPr>
              <a:t>AI 4 AI 세미나 참고 목록</a:t>
            </a:r>
          </a:p>
        </p:txBody>
      </p:sp>
      <p:cxnSp>
        <p:nvCxnSpPr>
          <p:cNvPr id="7" name="Connector 6"/>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85800" y="6272784"/>
            <a:ext cx="108813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검토용 초안 · 회사 KV/폰트 수급 후 교체</a:t>
            </a:r>
          </a:p>
        </p:txBody>
      </p:sp>
      <p:sp>
        <p:nvSpPr>
          <p:cNvPr id="9" name="Rectangle 8"/>
          <p:cNvSpPr/>
          <p:nvPr/>
        </p:nvSpPr>
        <p:spPr>
          <a:xfrm>
            <a:off x="685800" y="2761488"/>
            <a:ext cx="10817352" cy="347472"/>
          </a:xfrm>
          <a:prstGeom prst="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2788920"/>
            <a:ext cx="1344168" cy="283464"/>
          </a:xfrm>
          <a:prstGeom prst="rect">
            <a:avLst/>
          </a:prstGeom>
          <a:noFill/>
        </p:spPr>
        <p:txBody>
          <a:bodyPr wrap="square" lIns="0" rIns="0" tIns="0" bIns="0">
            <a:spAutoFit/>
          </a:bodyPr>
          <a:lstStyle/>
          <a:p>
            <a:pPr algn="l">
              <a:spcAft>
                <a:spcPts val="400"/>
              </a:spcAft>
            </a:pPr>
            <a:r>
              <a:rPr sz="1400" b="1">
                <a:solidFill>
                  <a:srgbClr val="83E8C5"/>
                </a:solidFill>
                <a:latin typeface="맑은 고딕"/>
                <a:ea typeface="맑은 고딕"/>
              </a:rPr>
              <a:t>3월</a:t>
            </a:r>
          </a:p>
        </p:txBody>
      </p:sp>
      <p:sp>
        <p:nvSpPr>
          <p:cNvPr id="11" name="TextBox 10"/>
          <p:cNvSpPr txBox="1"/>
          <p:nvPr/>
        </p:nvSpPr>
        <p:spPr>
          <a:xfrm>
            <a:off x="2304288" y="2788920"/>
            <a:ext cx="2743200" cy="283464"/>
          </a:xfrm>
          <a:prstGeom prst="rect">
            <a:avLst/>
          </a:prstGeom>
          <a:noFill/>
        </p:spPr>
        <p:txBody>
          <a:bodyPr wrap="square" lIns="0" rIns="0" tIns="0" bIns="0">
            <a:spAutoFit/>
          </a:bodyPr>
          <a:lstStyle/>
          <a:p>
            <a:pPr algn="l">
              <a:spcAft>
                <a:spcPts val="400"/>
              </a:spcAft>
            </a:pPr>
            <a:r>
              <a:rPr sz="1400" b="0">
                <a:solidFill>
                  <a:srgbClr val="F6F8F9"/>
                </a:solidFill>
                <a:latin typeface="맑은 고딕"/>
                <a:ea typeface="맑은 고딕"/>
              </a:rPr>
              <a:t>Cisco</a:t>
            </a:r>
          </a:p>
        </p:txBody>
      </p:sp>
      <p:sp>
        <p:nvSpPr>
          <p:cNvPr id="12" name="TextBox 11"/>
          <p:cNvSpPr txBox="1"/>
          <p:nvPr/>
        </p:nvSpPr>
        <p:spPr>
          <a:xfrm>
            <a:off x="5166360" y="2788920"/>
            <a:ext cx="6016752" cy="283464"/>
          </a:xfrm>
          <a:prstGeom prst="rect">
            <a:avLst/>
          </a:prstGeom>
          <a:noFill/>
        </p:spPr>
        <p:txBody>
          <a:bodyPr wrap="square" lIns="0" rIns="0" tIns="0" bIns="0">
            <a:spAutoFit/>
          </a:bodyPr>
          <a:lstStyle/>
          <a:p>
            <a:pPr algn="l">
              <a:spcAft>
                <a:spcPts val="400"/>
              </a:spcAft>
            </a:pPr>
            <a:r>
              <a:rPr sz="1400" b="0">
                <a:solidFill>
                  <a:srgbClr val="F6F8F9"/>
                </a:solidFill>
                <a:latin typeface="맑은 고딕"/>
                <a:ea typeface="맑은 고딕"/>
              </a:rPr>
              <a:t>AIOps</a:t>
            </a:r>
          </a:p>
        </p:txBody>
      </p:sp>
      <p:sp>
        <p:nvSpPr>
          <p:cNvPr id="13" name="TextBox 12"/>
          <p:cNvSpPr txBox="1"/>
          <p:nvPr/>
        </p:nvSpPr>
        <p:spPr>
          <a:xfrm>
            <a:off x="841248" y="3145536"/>
            <a:ext cx="1344168" cy="283464"/>
          </a:xfrm>
          <a:prstGeom prst="rect">
            <a:avLst/>
          </a:prstGeom>
          <a:noFill/>
        </p:spPr>
        <p:txBody>
          <a:bodyPr wrap="square" lIns="0" rIns="0" tIns="0" bIns="0">
            <a:spAutoFit/>
          </a:bodyPr>
          <a:lstStyle/>
          <a:p>
            <a:pPr algn="l">
              <a:spcAft>
                <a:spcPts val="400"/>
              </a:spcAft>
            </a:pPr>
            <a:r>
              <a:rPr sz="1400" b="1">
                <a:solidFill>
                  <a:srgbClr val="83E8C5"/>
                </a:solidFill>
                <a:latin typeface="맑은 고딕"/>
                <a:ea typeface="맑은 고딕"/>
              </a:rPr>
              <a:t>4월</a:t>
            </a:r>
          </a:p>
        </p:txBody>
      </p:sp>
      <p:sp>
        <p:nvSpPr>
          <p:cNvPr id="14" name="TextBox 13"/>
          <p:cNvSpPr txBox="1"/>
          <p:nvPr/>
        </p:nvSpPr>
        <p:spPr>
          <a:xfrm>
            <a:off x="2304288" y="3145536"/>
            <a:ext cx="2743200" cy="283464"/>
          </a:xfrm>
          <a:prstGeom prst="rect">
            <a:avLst/>
          </a:prstGeom>
          <a:noFill/>
        </p:spPr>
        <p:txBody>
          <a:bodyPr wrap="square" lIns="0" rIns="0" tIns="0" bIns="0">
            <a:spAutoFit/>
          </a:bodyPr>
          <a:lstStyle/>
          <a:p>
            <a:pPr algn="l">
              <a:spcAft>
                <a:spcPts val="400"/>
              </a:spcAft>
            </a:pPr>
            <a:r>
              <a:rPr sz="1400" b="0">
                <a:solidFill>
                  <a:srgbClr val="F6F8F9"/>
                </a:solidFill>
                <a:latin typeface="맑은 고딕"/>
                <a:ea typeface="맑은 고딕"/>
              </a:rPr>
              <a:t>NVIDIA</a:t>
            </a:r>
          </a:p>
        </p:txBody>
      </p:sp>
      <p:sp>
        <p:nvSpPr>
          <p:cNvPr id="15" name="TextBox 14"/>
          <p:cNvSpPr txBox="1"/>
          <p:nvPr/>
        </p:nvSpPr>
        <p:spPr>
          <a:xfrm>
            <a:off x="5166360" y="3145536"/>
            <a:ext cx="6016752" cy="283464"/>
          </a:xfrm>
          <a:prstGeom prst="rect">
            <a:avLst/>
          </a:prstGeom>
          <a:noFill/>
        </p:spPr>
        <p:txBody>
          <a:bodyPr wrap="square" lIns="0" rIns="0" tIns="0" bIns="0">
            <a:spAutoFit/>
          </a:bodyPr>
          <a:lstStyle/>
          <a:p>
            <a:pPr algn="l">
              <a:spcAft>
                <a:spcPts val="400"/>
              </a:spcAft>
            </a:pPr>
            <a:r>
              <a:rPr sz="1400" b="0">
                <a:solidFill>
                  <a:srgbClr val="F6F8F9"/>
                </a:solidFill>
                <a:latin typeface="맑은 고딕"/>
                <a:ea typeface="맑은 고딕"/>
              </a:rPr>
              <a:t>GTC 2026 · 신규 제품 · 전략</a:t>
            </a:r>
          </a:p>
        </p:txBody>
      </p:sp>
      <p:sp>
        <p:nvSpPr>
          <p:cNvPr id="16" name="Rectangle 15"/>
          <p:cNvSpPr/>
          <p:nvPr/>
        </p:nvSpPr>
        <p:spPr>
          <a:xfrm>
            <a:off x="685800" y="3474720"/>
            <a:ext cx="10817352" cy="347472"/>
          </a:xfrm>
          <a:prstGeom prst="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 y="3502151"/>
            <a:ext cx="1344168" cy="283464"/>
          </a:xfrm>
          <a:prstGeom prst="rect">
            <a:avLst/>
          </a:prstGeom>
          <a:noFill/>
        </p:spPr>
        <p:txBody>
          <a:bodyPr wrap="square" lIns="0" rIns="0" tIns="0" bIns="0">
            <a:spAutoFit/>
          </a:bodyPr>
          <a:lstStyle/>
          <a:p>
            <a:pPr algn="l">
              <a:spcAft>
                <a:spcPts val="400"/>
              </a:spcAft>
            </a:pPr>
            <a:r>
              <a:rPr sz="1400" b="1">
                <a:solidFill>
                  <a:srgbClr val="83E8C5"/>
                </a:solidFill>
                <a:latin typeface="맑은 고딕"/>
                <a:ea typeface="맑은 고딕"/>
              </a:rPr>
              <a:t>5월</a:t>
            </a:r>
          </a:p>
        </p:txBody>
      </p:sp>
      <p:sp>
        <p:nvSpPr>
          <p:cNvPr id="18" name="TextBox 17"/>
          <p:cNvSpPr txBox="1"/>
          <p:nvPr/>
        </p:nvSpPr>
        <p:spPr>
          <a:xfrm>
            <a:off x="2304288" y="3502151"/>
            <a:ext cx="2743200" cy="283464"/>
          </a:xfrm>
          <a:prstGeom prst="rect">
            <a:avLst/>
          </a:prstGeom>
          <a:noFill/>
        </p:spPr>
        <p:txBody>
          <a:bodyPr wrap="square" lIns="0" rIns="0" tIns="0" bIns="0">
            <a:spAutoFit/>
          </a:bodyPr>
          <a:lstStyle/>
          <a:p>
            <a:pPr algn="l">
              <a:spcAft>
                <a:spcPts val="400"/>
              </a:spcAft>
            </a:pPr>
            <a:r>
              <a:rPr sz="1400" b="0">
                <a:solidFill>
                  <a:srgbClr val="F6F8F9"/>
                </a:solidFill>
                <a:latin typeface="맑은 고딕"/>
                <a:ea typeface="맑은 고딕"/>
              </a:rPr>
              <a:t>KISTI</a:t>
            </a:r>
          </a:p>
        </p:txBody>
      </p:sp>
      <p:sp>
        <p:nvSpPr>
          <p:cNvPr id="19" name="TextBox 18"/>
          <p:cNvSpPr txBox="1"/>
          <p:nvPr/>
        </p:nvSpPr>
        <p:spPr>
          <a:xfrm>
            <a:off x="5166360" y="3502151"/>
            <a:ext cx="6016752" cy="283464"/>
          </a:xfrm>
          <a:prstGeom prst="rect">
            <a:avLst/>
          </a:prstGeom>
          <a:noFill/>
        </p:spPr>
        <p:txBody>
          <a:bodyPr wrap="square" lIns="0" rIns="0" tIns="0" bIns="0">
            <a:spAutoFit/>
          </a:bodyPr>
          <a:lstStyle/>
          <a:p>
            <a:pPr algn="l">
              <a:spcAft>
                <a:spcPts val="400"/>
              </a:spcAft>
            </a:pPr>
            <a:r>
              <a:rPr sz="1400" b="0">
                <a:solidFill>
                  <a:srgbClr val="F6F8F9"/>
                </a:solidFill>
                <a:latin typeface="맑은 고딕"/>
                <a:ea typeface="맑은 고딕"/>
              </a:rPr>
              <a:t>국가슈퍼컴퓨터 6호기 · 슈퍼컴 트렌드</a:t>
            </a:r>
          </a:p>
        </p:txBody>
      </p:sp>
      <p:sp>
        <p:nvSpPr>
          <p:cNvPr id="20" name="TextBox 19"/>
          <p:cNvSpPr txBox="1"/>
          <p:nvPr/>
        </p:nvSpPr>
        <p:spPr>
          <a:xfrm>
            <a:off x="841248" y="3858768"/>
            <a:ext cx="1344168" cy="283464"/>
          </a:xfrm>
          <a:prstGeom prst="rect">
            <a:avLst/>
          </a:prstGeom>
          <a:noFill/>
        </p:spPr>
        <p:txBody>
          <a:bodyPr wrap="square" lIns="0" rIns="0" tIns="0" bIns="0">
            <a:spAutoFit/>
          </a:bodyPr>
          <a:lstStyle/>
          <a:p>
            <a:pPr algn="l">
              <a:spcAft>
                <a:spcPts val="400"/>
              </a:spcAft>
            </a:pPr>
            <a:r>
              <a:rPr sz="1400" b="1">
                <a:solidFill>
                  <a:srgbClr val="83E8C5"/>
                </a:solidFill>
                <a:latin typeface="맑은 고딕"/>
                <a:ea typeface="맑은 고딕"/>
              </a:rPr>
              <a:t>6월</a:t>
            </a:r>
          </a:p>
        </p:txBody>
      </p:sp>
      <p:sp>
        <p:nvSpPr>
          <p:cNvPr id="21" name="TextBox 20"/>
          <p:cNvSpPr txBox="1"/>
          <p:nvPr/>
        </p:nvSpPr>
        <p:spPr>
          <a:xfrm>
            <a:off x="2304288" y="3858768"/>
            <a:ext cx="2743200" cy="283464"/>
          </a:xfrm>
          <a:prstGeom prst="rect">
            <a:avLst/>
          </a:prstGeom>
          <a:noFill/>
        </p:spPr>
        <p:txBody>
          <a:bodyPr wrap="square" lIns="0" rIns="0" tIns="0" bIns="0">
            <a:spAutoFit/>
          </a:bodyPr>
          <a:lstStyle/>
          <a:p>
            <a:pPr algn="l">
              <a:spcAft>
                <a:spcPts val="400"/>
              </a:spcAft>
            </a:pPr>
            <a:r>
              <a:rPr sz="1400" b="0">
                <a:solidFill>
                  <a:srgbClr val="F6F8F9"/>
                </a:solidFill>
                <a:latin typeface="맑은 고딕"/>
                <a:ea typeface="맑은 고딕"/>
              </a:rPr>
              <a:t>Pure Storage</a:t>
            </a:r>
          </a:p>
        </p:txBody>
      </p:sp>
      <p:sp>
        <p:nvSpPr>
          <p:cNvPr id="22" name="TextBox 21"/>
          <p:cNvSpPr txBox="1"/>
          <p:nvPr/>
        </p:nvSpPr>
        <p:spPr>
          <a:xfrm>
            <a:off x="5166360" y="3858768"/>
            <a:ext cx="6016752" cy="283464"/>
          </a:xfrm>
          <a:prstGeom prst="rect">
            <a:avLst/>
          </a:prstGeom>
          <a:noFill/>
        </p:spPr>
        <p:txBody>
          <a:bodyPr wrap="square" lIns="0" rIns="0" tIns="0" bIns="0">
            <a:spAutoFit/>
          </a:bodyPr>
          <a:lstStyle/>
          <a:p>
            <a:pPr algn="l">
              <a:spcAft>
                <a:spcPts val="400"/>
              </a:spcAft>
            </a:pPr>
            <a:r>
              <a:rPr sz="1400" b="0">
                <a:solidFill>
                  <a:srgbClr val="F6F8F9"/>
                </a:solidFill>
                <a:latin typeface="맑은 고딕"/>
                <a:ea typeface="맑은 고딕"/>
              </a:rPr>
              <a:t>AI Ready Data 스토리지 플랫폼</a:t>
            </a:r>
          </a:p>
        </p:txBody>
      </p:sp>
      <p:sp>
        <p:nvSpPr>
          <p:cNvPr id="23" name="Rectangle 22"/>
          <p:cNvSpPr/>
          <p:nvPr/>
        </p:nvSpPr>
        <p:spPr>
          <a:xfrm>
            <a:off x="685800" y="4187952"/>
            <a:ext cx="10817352" cy="347472"/>
          </a:xfrm>
          <a:prstGeom prst="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1248" y="4215384"/>
            <a:ext cx="1344168" cy="283464"/>
          </a:xfrm>
          <a:prstGeom prst="rect">
            <a:avLst/>
          </a:prstGeom>
          <a:noFill/>
        </p:spPr>
        <p:txBody>
          <a:bodyPr wrap="square" lIns="0" rIns="0" tIns="0" bIns="0">
            <a:spAutoFit/>
          </a:bodyPr>
          <a:lstStyle/>
          <a:p>
            <a:pPr algn="l">
              <a:spcAft>
                <a:spcPts val="400"/>
              </a:spcAft>
            </a:pPr>
            <a:r>
              <a:rPr sz="1400" b="1">
                <a:solidFill>
                  <a:srgbClr val="83E8C5"/>
                </a:solidFill>
                <a:latin typeface="맑은 고딕"/>
                <a:ea typeface="맑은 고딕"/>
              </a:rPr>
              <a:t>7월</a:t>
            </a:r>
          </a:p>
        </p:txBody>
      </p:sp>
      <p:sp>
        <p:nvSpPr>
          <p:cNvPr id="25" name="TextBox 24"/>
          <p:cNvSpPr txBox="1"/>
          <p:nvPr/>
        </p:nvSpPr>
        <p:spPr>
          <a:xfrm>
            <a:off x="2304288" y="4215384"/>
            <a:ext cx="2743200" cy="283464"/>
          </a:xfrm>
          <a:prstGeom prst="rect">
            <a:avLst/>
          </a:prstGeom>
          <a:noFill/>
        </p:spPr>
        <p:txBody>
          <a:bodyPr wrap="square" lIns="0" rIns="0" tIns="0" bIns="0">
            <a:spAutoFit/>
          </a:bodyPr>
          <a:lstStyle/>
          <a:p>
            <a:pPr algn="l">
              <a:spcAft>
                <a:spcPts val="400"/>
              </a:spcAft>
            </a:pPr>
            <a:r>
              <a:rPr sz="1400" b="0">
                <a:solidFill>
                  <a:srgbClr val="F6F8F9"/>
                </a:solidFill>
                <a:latin typeface="맑은 고딕"/>
                <a:ea typeface="맑은 고딕"/>
              </a:rPr>
              <a:t>윤덕환 박사</a:t>
            </a:r>
          </a:p>
        </p:txBody>
      </p:sp>
      <p:sp>
        <p:nvSpPr>
          <p:cNvPr id="26" name="TextBox 25"/>
          <p:cNvSpPr txBox="1"/>
          <p:nvPr/>
        </p:nvSpPr>
        <p:spPr>
          <a:xfrm>
            <a:off x="5166360" y="4215384"/>
            <a:ext cx="6016752" cy="283464"/>
          </a:xfrm>
          <a:prstGeom prst="rect">
            <a:avLst/>
          </a:prstGeom>
          <a:noFill/>
        </p:spPr>
        <p:txBody>
          <a:bodyPr wrap="square" lIns="0" rIns="0" tIns="0" bIns="0">
            <a:spAutoFit/>
          </a:bodyPr>
          <a:lstStyle/>
          <a:p>
            <a:pPr algn="l">
              <a:spcAft>
                <a:spcPts val="400"/>
              </a:spcAft>
            </a:pPr>
            <a:r>
              <a:rPr sz="1400" b="0">
                <a:solidFill>
                  <a:srgbClr val="F6F8F9"/>
                </a:solidFill>
                <a:latin typeface="맑은 고딕"/>
                <a:ea typeface="맑은 고딕"/>
              </a:rPr>
              <a:t>AI 시대 외로운 개인 · 동반자 AI</a:t>
            </a:r>
          </a:p>
        </p:txBody>
      </p:sp>
      <p:sp>
        <p:nvSpPr>
          <p:cNvPr id="27" name="TextBox 26"/>
          <p:cNvSpPr txBox="1"/>
          <p:nvPr/>
        </p:nvSpPr>
        <p:spPr>
          <a:xfrm>
            <a:off x="841248" y="4572000"/>
            <a:ext cx="1344168" cy="283464"/>
          </a:xfrm>
          <a:prstGeom prst="rect">
            <a:avLst/>
          </a:prstGeom>
          <a:noFill/>
        </p:spPr>
        <p:txBody>
          <a:bodyPr wrap="square" lIns="0" rIns="0" tIns="0" bIns="0">
            <a:spAutoFit/>
          </a:bodyPr>
          <a:lstStyle/>
          <a:p>
            <a:pPr algn="l">
              <a:spcAft>
                <a:spcPts val="400"/>
              </a:spcAft>
            </a:pPr>
            <a:r>
              <a:rPr sz="1400" b="1">
                <a:solidFill>
                  <a:srgbClr val="83E8C5"/>
                </a:solidFill>
                <a:latin typeface="맑은 고딕"/>
                <a:ea typeface="맑은 고딕"/>
              </a:rPr>
              <a:t>8월</a:t>
            </a:r>
          </a:p>
        </p:txBody>
      </p:sp>
      <p:sp>
        <p:nvSpPr>
          <p:cNvPr id="28" name="TextBox 27"/>
          <p:cNvSpPr txBox="1"/>
          <p:nvPr/>
        </p:nvSpPr>
        <p:spPr>
          <a:xfrm>
            <a:off x="2304288" y="4572000"/>
            <a:ext cx="2743200" cy="283464"/>
          </a:xfrm>
          <a:prstGeom prst="rect">
            <a:avLst/>
          </a:prstGeom>
          <a:noFill/>
        </p:spPr>
        <p:txBody>
          <a:bodyPr wrap="square" lIns="0" rIns="0" tIns="0" bIns="0">
            <a:spAutoFit/>
          </a:bodyPr>
          <a:lstStyle/>
          <a:p>
            <a:pPr algn="l">
              <a:spcAft>
                <a:spcPts val="400"/>
              </a:spcAft>
            </a:pPr>
            <a:r>
              <a:rPr sz="1400" b="0">
                <a:solidFill>
                  <a:srgbClr val="F6F8F9"/>
                </a:solidFill>
                <a:latin typeface="맑은 고딕"/>
                <a:ea typeface="맑은 고딕"/>
              </a:rPr>
              <a:t>류훈 금오공대 교수</a:t>
            </a:r>
          </a:p>
        </p:txBody>
      </p:sp>
      <p:sp>
        <p:nvSpPr>
          <p:cNvPr id="29" name="TextBox 28"/>
          <p:cNvSpPr txBox="1"/>
          <p:nvPr/>
        </p:nvSpPr>
        <p:spPr>
          <a:xfrm>
            <a:off x="5166360" y="4572000"/>
            <a:ext cx="6016752" cy="283464"/>
          </a:xfrm>
          <a:prstGeom prst="rect">
            <a:avLst/>
          </a:prstGeom>
          <a:noFill/>
        </p:spPr>
        <p:txBody>
          <a:bodyPr wrap="square" lIns="0" rIns="0" tIns="0" bIns="0">
            <a:spAutoFit/>
          </a:bodyPr>
          <a:lstStyle/>
          <a:p>
            <a:pPr algn="l">
              <a:spcAft>
                <a:spcPts val="400"/>
              </a:spcAft>
            </a:pPr>
            <a:r>
              <a:rPr sz="1400" b="0">
                <a:solidFill>
                  <a:srgbClr val="F6F8F9"/>
                </a:solidFill>
                <a:latin typeface="맑은 고딕"/>
                <a:ea typeface="맑은 고딕"/>
              </a:rPr>
              <a:t>양자컴퓨터</a:t>
            </a:r>
          </a:p>
        </p:txBody>
      </p:sp>
      <p:sp>
        <p:nvSpPr>
          <p:cNvPr id="30" name="Rectangle 29"/>
          <p:cNvSpPr/>
          <p:nvPr/>
        </p:nvSpPr>
        <p:spPr>
          <a:xfrm>
            <a:off x="685800" y="4901183"/>
            <a:ext cx="10817352" cy="347472"/>
          </a:xfrm>
          <a:prstGeom prst="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1248" y="4928616"/>
            <a:ext cx="1344168" cy="283464"/>
          </a:xfrm>
          <a:prstGeom prst="rect">
            <a:avLst/>
          </a:prstGeom>
          <a:noFill/>
        </p:spPr>
        <p:txBody>
          <a:bodyPr wrap="square" lIns="0" rIns="0" tIns="0" bIns="0">
            <a:spAutoFit/>
          </a:bodyPr>
          <a:lstStyle/>
          <a:p>
            <a:pPr algn="l">
              <a:spcAft>
                <a:spcPts val="400"/>
              </a:spcAft>
            </a:pPr>
            <a:r>
              <a:rPr sz="1400" b="1">
                <a:solidFill>
                  <a:srgbClr val="83E8C5"/>
                </a:solidFill>
                <a:latin typeface="맑은 고딕"/>
                <a:ea typeface="맑은 고딕"/>
              </a:rPr>
              <a:t>9월</a:t>
            </a:r>
          </a:p>
        </p:txBody>
      </p:sp>
      <p:sp>
        <p:nvSpPr>
          <p:cNvPr id="32" name="TextBox 31"/>
          <p:cNvSpPr txBox="1"/>
          <p:nvPr/>
        </p:nvSpPr>
        <p:spPr>
          <a:xfrm>
            <a:off x="2304288" y="4928616"/>
            <a:ext cx="2743200" cy="283464"/>
          </a:xfrm>
          <a:prstGeom prst="rect">
            <a:avLst/>
          </a:prstGeom>
          <a:noFill/>
        </p:spPr>
        <p:txBody>
          <a:bodyPr wrap="square" lIns="0" rIns="0" tIns="0" bIns="0">
            <a:spAutoFit/>
          </a:bodyPr>
          <a:lstStyle/>
          <a:p>
            <a:pPr algn="l">
              <a:spcAft>
                <a:spcPts val="400"/>
              </a:spcAft>
            </a:pPr>
            <a:r>
              <a:rPr sz="1400" b="0">
                <a:solidFill>
                  <a:srgbClr val="F6F8F9"/>
                </a:solidFill>
                <a:latin typeface="맑은 고딕"/>
                <a:ea typeface="맑은 고딕"/>
              </a:rPr>
              <a:t>xFusion</a:t>
            </a:r>
          </a:p>
        </p:txBody>
      </p:sp>
      <p:sp>
        <p:nvSpPr>
          <p:cNvPr id="33" name="TextBox 32"/>
          <p:cNvSpPr txBox="1"/>
          <p:nvPr/>
        </p:nvSpPr>
        <p:spPr>
          <a:xfrm>
            <a:off x="5166360" y="4928616"/>
            <a:ext cx="6016752" cy="283464"/>
          </a:xfrm>
          <a:prstGeom prst="rect">
            <a:avLst/>
          </a:prstGeom>
          <a:noFill/>
        </p:spPr>
        <p:txBody>
          <a:bodyPr wrap="square" lIns="0" rIns="0" tIns="0" bIns="0">
            <a:spAutoFit/>
          </a:bodyPr>
          <a:lstStyle/>
          <a:p>
            <a:pPr algn="l">
              <a:spcAft>
                <a:spcPts val="400"/>
              </a:spcAft>
            </a:pPr>
            <a:r>
              <a:rPr sz="1400" b="0">
                <a:solidFill>
                  <a:srgbClr val="F6F8F9"/>
                </a:solidFill>
                <a:latin typeface="맑은 고딕"/>
                <a:ea typeface="맑은 고딕"/>
              </a:rPr>
              <a:t>중국 AI 산업</a:t>
            </a:r>
          </a:p>
        </p:txBody>
      </p:sp>
      <p:sp>
        <p:nvSpPr>
          <p:cNvPr id="34" name="TextBox 33"/>
          <p:cNvSpPr txBox="1"/>
          <p:nvPr/>
        </p:nvSpPr>
        <p:spPr>
          <a:xfrm>
            <a:off x="841248" y="5285232"/>
            <a:ext cx="1344168" cy="283464"/>
          </a:xfrm>
          <a:prstGeom prst="rect">
            <a:avLst/>
          </a:prstGeom>
          <a:noFill/>
        </p:spPr>
        <p:txBody>
          <a:bodyPr wrap="square" lIns="0" rIns="0" tIns="0" bIns="0">
            <a:spAutoFit/>
          </a:bodyPr>
          <a:lstStyle/>
          <a:p>
            <a:pPr algn="l">
              <a:spcAft>
                <a:spcPts val="400"/>
              </a:spcAft>
            </a:pPr>
            <a:r>
              <a:rPr sz="1400" b="1">
                <a:solidFill>
                  <a:srgbClr val="F0CB7B"/>
                </a:solidFill>
                <a:latin typeface="맑은 고딕"/>
                <a:ea typeface="맑은 고딕"/>
              </a:rPr>
              <a:t>10월 · 예정</a:t>
            </a:r>
          </a:p>
        </p:txBody>
      </p:sp>
      <p:sp>
        <p:nvSpPr>
          <p:cNvPr id="35" name="TextBox 34"/>
          <p:cNvSpPr txBox="1"/>
          <p:nvPr/>
        </p:nvSpPr>
        <p:spPr>
          <a:xfrm>
            <a:off x="2304288" y="5285232"/>
            <a:ext cx="2743200" cy="283464"/>
          </a:xfrm>
          <a:prstGeom prst="rect">
            <a:avLst/>
          </a:prstGeom>
          <a:noFill/>
        </p:spPr>
        <p:txBody>
          <a:bodyPr wrap="square" lIns="0" rIns="0" tIns="0" bIns="0">
            <a:spAutoFit/>
          </a:bodyPr>
          <a:lstStyle/>
          <a:p>
            <a:pPr algn="l">
              <a:spcAft>
                <a:spcPts val="400"/>
              </a:spcAft>
            </a:pPr>
            <a:r>
              <a:rPr sz="1400" b="0">
                <a:solidFill>
                  <a:srgbClr val="F6F8F9"/>
                </a:solidFill>
                <a:latin typeface="맑은 고딕"/>
                <a:ea typeface="맑은 고딕"/>
              </a:rPr>
              <a:t>OutSystems</a:t>
            </a:r>
          </a:p>
        </p:txBody>
      </p:sp>
      <p:sp>
        <p:nvSpPr>
          <p:cNvPr id="36" name="TextBox 35"/>
          <p:cNvSpPr txBox="1"/>
          <p:nvPr/>
        </p:nvSpPr>
        <p:spPr>
          <a:xfrm>
            <a:off x="5166360" y="5285232"/>
            <a:ext cx="6016752" cy="283464"/>
          </a:xfrm>
          <a:prstGeom prst="rect">
            <a:avLst/>
          </a:prstGeom>
          <a:noFill/>
        </p:spPr>
        <p:txBody>
          <a:bodyPr wrap="square" lIns="0" rIns="0" tIns="0" bIns="0">
            <a:spAutoFit/>
          </a:bodyPr>
          <a:lstStyle/>
          <a:p>
            <a:pPr algn="l">
              <a:spcAft>
                <a:spcPts val="400"/>
              </a:spcAft>
            </a:pPr>
            <a:r>
              <a:rPr sz="1400" b="0">
                <a:solidFill>
                  <a:srgbClr val="F6F8F9"/>
                </a:solidFill>
                <a:latin typeface="맑은 고딕"/>
                <a:ea typeface="맑은 고딕"/>
              </a:rPr>
              <a:t>AI 시대의 Vibe Code Platform 전략</a:t>
            </a:r>
          </a:p>
        </p:txBody>
      </p:sp>
      <p:sp>
        <p:nvSpPr>
          <p:cNvPr id="37" name="TextBox 36"/>
          <p:cNvSpPr txBox="1"/>
          <p:nvPr/>
        </p:nvSpPr>
        <p:spPr>
          <a:xfrm>
            <a:off x="685800" y="5687568"/>
            <a:ext cx="10789920" cy="274320"/>
          </a:xfrm>
          <a:prstGeom prst="rect">
            <a:avLst/>
          </a:prstGeom>
          <a:noFill/>
        </p:spPr>
        <p:txBody>
          <a:bodyPr wrap="square" lIns="0" rIns="0" tIns="0" bIns="0">
            <a:spAutoFit/>
          </a:bodyPr>
          <a:lstStyle/>
          <a:p>
            <a:pPr algn="l">
              <a:spcAft>
                <a:spcPts val="400"/>
              </a:spcAft>
            </a:pPr>
            <a:r>
              <a:rPr sz="1200" b="0">
                <a:solidFill>
                  <a:srgbClr val="F0CB7B"/>
                </a:solidFill>
                <a:latin typeface="맑은 고딕"/>
                <a:ea typeface="맑은 고딕"/>
              </a:rPr>
              <a:t>10월은 2026-10-09 현재 미개최 · 촬영 전 개최 예정</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643616" y="448056"/>
            <a:ext cx="777240" cy="320040"/>
          </a:xfrm>
          <a:prstGeom prst="rect">
            <a:avLst/>
          </a:prstGeom>
          <a:noFill/>
        </p:spPr>
        <p:txBody>
          <a:bodyPr wrap="square" lIns="0" rIns="0" tIns="0" bIns="0">
            <a:spAutoFit/>
          </a:bodyPr>
          <a:lstStyle/>
          <a:p>
            <a:pPr algn="r">
              <a:spcAft>
                <a:spcPts val="400"/>
              </a:spcAft>
            </a:pPr>
            <a:r>
              <a:rPr sz="1300" b="1">
                <a:solidFill>
                  <a:srgbClr val="83E8C5"/>
                </a:solidFill>
                <a:latin typeface="맑은 고딕"/>
                <a:ea typeface="맑은 고딕"/>
              </a:rPr>
              <a:t>A02</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제작 체크 / 본편 사용 제외</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3200" b="1">
                <a:solidFill>
                  <a:srgbClr val="F6F8F9"/>
                </a:solidFill>
                <a:latin typeface="맑은 고딕"/>
                <a:ea typeface="맑은 고딕"/>
              </a:rPr>
              <a:t>원본 자료 수집과 최종 확인</a:t>
            </a:r>
          </a:p>
        </p:txBody>
      </p:sp>
      <p:cxnSp>
        <p:nvCxnSpPr>
          <p:cNvPr id="7" name="Connector 6"/>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85800" y="6272784"/>
            <a:ext cx="108813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검토용 초안 · 회사 KV/폰트 수급 후 교체</a:t>
            </a:r>
          </a:p>
        </p:txBody>
      </p:sp>
      <p:sp>
        <p:nvSpPr>
          <p:cNvPr id="9" name="TextBox 8"/>
          <p:cNvSpPr txBox="1"/>
          <p:nvPr/>
        </p:nvSpPr>
        <p:spPr>
          <a:xfrm>
            <a:off x="685800" y="2752344"/>
            <a:ext cx="2514600" cy="347472"/>
          </a:xfrm>
          <a:prstGeom prst="rect">
            <a:avLst/>
          </a:prstGeom>
          <a:noFill/>
        </p:spPr>
        <p:txBody>
          <a:bodyPr wrap="square" lIns="0" rIns="0" tIns="0" bIns="0">
            <a:spAutoFit/>
          </a:bodyPr>
          <a:lstStyle/>
          <a:p>
            <a:pPr algn="l">
              <a:spcAft>
                <a:spcPts val="400"/>
              </a:spcAft>
            </a:pPr>
            <a:r>
              <a:rPr sz="1800" b="1">
                <a:solidFill>
                  <a:srgbClr val="83E8C5"/>
                </a:solidFill>
                <a:latin typeface="맑은 고딕"/>
                <a:ea typeface="맑은 고딕"/>
              </a:rPr>
              <a:t>IAP 실질 성과</a:t>
            </a:r>
          </a:p>
        </p:txBody>
      </p:sp>
      <p:sp>
        <p:nvSpPr>
          <p:cNvPr id="10" name="TextBox 9"/>
          <p:cNvSpPr txBox="1"/>
          <p:nvPr/>
        </p:nvSpPr>
        <p:spPr>
          <a:xfrm>
            <a:off x="3236976" y="2752344"/>
            <a:ext cx="8083296" cy="338328"/>
          </a:xfrm>
          <a:prstGeom prst="rect">
            <a:avLst/>
          </a:prstGeom>
          <a:noFill/>
        </p:spPr>
        <p:txBody>
          <a:bodyPr wrap="square" lIns="0" rIns="0" tIns="0" bIns="0">
            <a:spAutoFit/>
          </a:bodyPr>
          <a:lstStyle/>
          <a:p>
            <a:pPr algn="l">
              <a:spcAft>
                <a:spcPts val="400"/>
              </a:spcAft>
            </a:pPr>
            <a:r>
              <a:rPr sz="1700" b="0">
                <a:solidFill>
                  <a:srgbClr val="F6F8F9"/>
                </a:solidFill>
                <a:latin typeface="맑은 고딕"/>
                <a:ea typeface="맑은 고딕"/>
              </a:rPr>
              <a:t>IMG08 · 실제 로그 감지 / 메신저 알림 화면</a:t>
            </a:r>
          </a:p>
        </p:txBody>
      </p:sp>
      <p:sp>
        <p:nvSpPr>
          <p:cNvPr id="11" name="TextBox 10"/>
          <p:cNvSpPr txBox="1"/>
          <p:nvPr/>
        </p:nvSpPr>
        <p:spPr>
          <a:xfrm>
            <a:off x="3236976" y="3108960"/>
            <a:ext cx="8083296" cy="274320"/>
          </a:xfrm>
          <a:prstGeom prst="rect">
            <a:avLst/>
          </a:prstGeom>
          <a:noFill/>
        </p:spPr>
        <p:txBody>
          <a:bodyPr wrap="square" lIns="0" rIns="0" tIns="0" bIns="0">
            <a:spAutoFit/>
          </a:bodyPr>
          <a:lstStyle/>
          <a:p>
            <a:pPr algn="l">
              <a:spcAft>
                <a:spcPts val="400"/>
              </a:spcAft>
            </a:pPr>
            <a:r>
              <a:rPr sz="1300" b="0">
                <a:solidFill>
                  <a:srgbClr val="B4C6D4"/>
                </a:solidFill>
                <a:latin typeface="맑은 고딕"/>
                <a:ea typeface="맑은 고딕"/>
              </a:rPr>
              <a:t>실제 적용 범위 확인 · 계정/IP/서버명 등 가림</a:t>
            </a:r>
          </a:p>
        </p:txBody>
      </p:sp>
      <p:sp>
        <p:nvSpPr>
          <p:cNvPr id="12" name="TextBox 11"/>
          <p:cNvSpPr txBox="1"/>
          <p:nvPr/>
        </p:nvSpPr>
        <p:spPr>
          <a:xfrm>
            <a:off x="685800" y="3465576"/>
            <a:ext cx="2514600" cy="347472"/>
          </a:xfrm>
          <a:prstGeom prst="rect">
            <a:avLst/>
          </a:prstGeom>
          <a:noFill/>
        </p:spPr>
        <p:txBody>
          <a:bodyPr wrap="square" lIns="0" rIns="0" tIns="0" bIns="0">
            <a:spAutoFit/>
          </a:bodyPr>
          <a:lstStyle/>
          <a:p>
            <a:pPr algn="l">
              <a:spcAft>
                <a:spcPts val="400"/>
              </a:spcAft>
            </a:pPr>
            <a:r>
              <a:rPr sz="1800" b="1">
                <a:solidFill>
                  <a:srgbClr val="83E8C5"/>
                </a:solidFill>
                <a:latin typeface="맑은 고딕"/>
                <a:ea typeface="맑은 고딕"/>
              </a:rPr>
              <a:t>교류 장면</a:t>
            </a:r>
          </a:p>
        </p:txBody>
      </p:sp>
      <p:sp>
        <p:nvSpPr>
          <p:cNvPr id="13" name="TextBox 12"/>
          <p:cNvSpPr txBox="1"/>
          <p:nvPr/>
        </p:nvSpPr>
        <p:spPr>
          <a:xfrm>
            <a:off x="3236976" y="3465576"/>
            <a:ext cx="8083296" cy="338328"/>
          </a:xfrm>
          <a:prstGeom prst="rect">
            <a:avLst/>
          </a:prstGeom>
          <a:noFill/>
        </p:spPr>
        <p:txBody>
          <a:bodyPr wrap="square" lIns="0" rIns="0" tIns="0" bIns="0">
            <a:spAutoFit/>
          </a:bodyPr>
          <a:lstStyle/>
          <a:p>
            <a:pPr algn="l">
              <a:spcAft>
                <a:spcPts val="400"/>
              </a:spcAft>
            </a:pPr>
            <a:r>
              <a:rPr sz="1700" b="0">
                <a:solidFill>
                  <a:srgbClr val="F6F8F9"/>
                </a:solidFill>
                <a:latin typeface="맑은 고딕"/>
                <a:ea typeface="맑은 고딕"/>
              </a:rPr>
              <a:t>IMG02~07 · 세미나 / 부스 / DCIS / Tech X</a:t>
            </a:r>
          </a:p>
        </p:txBody>
      </p:sp>
      <p:sp>
        <p:nvSpPr>
          <p:cNvPr id="14" name="TextBox 13"/>
          <p:cNvSpPr txBox="1"/>
          <p:nvPr/>
        </p:nvSpPr>
        <p:spPr>
          <a:xfrm>
            <a:off x="3236976" y="3822191"/>
            <a:ext cx="8083296" cy="274320"/>
          </a:xfrm>
          <a:prstGeom prst="rect">
            <a:avLst/>
          </a:prstGeom>
          <a:noFill/>
        </p:spPr>
        <p:txBody>
          <a:bodyPr wrap="square" lIns="0" rIns="0" tIns="0" bIns="0">
            <a:spAutoFit/>
          </a:bodyPr>
          <a:lstStyle/>
          <a:p>
            <a:pPr algn="l">
              <a:spcAft>
                <a:spcPts val="400"/>
              </a:spcAft>
            </a:pPr>
            <a:r>
              <a:rPr sz="1300" b="0">
                <a:solidFill>
                  <a:srgbClr val="B4C6D4"/>
                </a:solidFill>
                <a:latin typeface="맑은 고딕"/>
                <a:ea typeface="맑은 고딕"/>
              </a:rPr>
              <a:t>대표 사진과 공식 명칭 · 숫자 최신성 확인</a:t>
            </a:r>
          </a:p>
        </p:txBody>
      </p:sp>
      <p:sp>
        <p:nvSpPr>
          <p:cNvPr id="15" name="TextBox 14"/>
          <p:cNvSpPr txBox="1"/>
          <p:nvPr/>
        </p:nvSpPr>
        <p:spPr>
          <a:xfrm>
            <a:off x="685800" y="4178808"/>
            <a:ext cx="2514600" cy="347472"/>
          </a:xfrm>
          <a:prstGeom prst="rect">
            <a:avLst/>
          </a:prstGeom>
          <a:noFill/>
        </p:spPr>
        <p:txBody>
          <a:bodyPr wrap="square" lIns="0" rIns="0" tIns="0" bIns="0">
            <a:spAutoFit/>
          </a:bodyPr>
          <a:lstStyle/>
          <a:p>
            <a:pPr algn="l">
              <a:spcAft>
                <a:spcPts val="400"/>
              </a:spcAft>
            </a:pPr>
            <a:r>
              <a:rPr sz="1800" b="1">
                <a:solidFill>
                  <a:srgbClr val="83E8C5"/>
                </a:solidFill>
                <a:latin typeface="맑은 고딕"/>
                <a:ea typeface="맑은 고딕"/>
              </a:rPr>
              <a:t>실습·현장·기록</a:t>
            </a:r>
          </a:p>
        </p:txBody>
      </p:sp>
      <p:sp>
        <p:nvSpPr>
          <p:cNvPr id="16" name="TextBox 15"/>
          <p:cNvSpPr txBox="1"/>
          <p:nvPr/>
        </p:nvSpPr>
        <p:spPr>
          <a:xfrm>
            <a:off x="3236976" y="4178808"/>
            <a:ext cx="8083296" cy="338328"/>
          </a:xfrm>
          <a:prstGeom prst="rect">
            <a:avLst/>
          </a:prstGeom>
          <a:noFill/>
        </p:spPr>
        <p:txBody>
          <a:bodyPr wrap="square" lIns="0" rIns="0" tIns="0" bIns="0">
            <a:spAutoFit/>
          </a:bodyPr>
          <a:lstStyle/>
          <a:p>
            <a:pPr algn="l">
              <a:spcAft>
                <a:spcPts val="400"/>
              </a:spcAft>
            </a:pPr>
            <a:r>
              <a:rPr sz="1700" b="0">
                <a:solidFill>
                  <a:srgbClr val="F6F8F9"/>
                </a:solidFill>
                <a:latin typeface="맑은 고딕"/>
                <a:ea typeface="맑은 고딕"/>
              </a:rPr>
              <a:t>IMG09~13 · IAP 실습 / HPC 투어 / 플랫폼</a:t>
            </a:r>
          </a:p>
        </p:txBody>
      </p:sp>
      <p:sp>
        <p:nvSpPr>
          <p:cNvPr id="17" name="TextBox 16"/>
          <p:cNvSpPr txBox="1"/>
          <p:nvPr/>
        </p:nvSpPr>
        <p:spPr>
          <a:xfrm>
            <a:off x="3236976" y="4535424"/>
            <a:ext cx="8083296" cy="274320"/>
          </a:xfrm>
          <a:prstGeom prst="rect">
            <a:avLst/>
          </a:prstGeom>
          <a:noFill/>
        </p:spPr>
        <p:txBody>
          <a:bodyPr wrap="square" lIns="0" rIns="0" tIns="0" bIns="0">
            <a:spAutoFit/>
          </a:bodyPr>
          <a:lstStyle/>
          <a:p>
            <a:pPr algn="l">
              <a:spcAft>
                <a:spcPts val="400"/>
              </a:spcAft>
            </a:pPr>
            <a:r>
              <a:rPr sz="1300" b="0">
                <a:solidFill>
                  <a:srgbClr val="B4C6D4"/>
                </a:solidFill>
                <a:latin typeface="맑은 고딕"/>
                <a:ea typeface="맑은 고딕"/>
              </a:rPr>
              <a:t>실제 행사 원본 · 시설/인물 공개 범위 확인</a:t>
            </a:r>
          </a:p>
        </p:txBody>
      </p:sp>
      <p:sp>
        <p:nvSpPr>
          <p:cNvPr id="18" name="TextBox 17"/>
          <p:cNvSpPr txBox="1"/>
          <p:nvPr/>
        </p:nvSpPr>
        <p:spPr>
          <a:xfrm>
            <a:off x="685800" y="4892040"/>
            <a:ext cx="2514600" cy="347472"/>
          </a:xfrm>
          <a:prstGeom prst="rect">
            <a:avLst/>
          </a:prstGeom>
          <a:noFill/>
        </p:spPr>
        <p:txBody>
          <a:bodyPr wrap="square" lIns="0" rIns="0" tIns="0" bIns="0">
            <a:spAutoFit/>
          </a:bodyPr>
          <a:lstStyle/>
          <a:p>
            <a:pPr algn="l">
              <a:spcAft>
                <a:spcPts val="400"/>
              </a:spcAft>
            </a:pPr>
            <a:r>
              <a:rPr sz="1800" b="1">
                <a:solidFill>
                  <a:srgbClr val="83E8C5"/>
                </a:solidFill>
                <a:latin typeface="맑은 고딕"/>
                <a:ea typeface="맑은 고딕"/>
              </a:rPr>
              <a:t>최종 제작</a:t>
            </a:r>
          </a:p>
        </p:txBody>
      </p:sp>
      <p:sp>
        <p:nvSpPr>
          <p:cNvPr id="19" name="TextBox 18"/>
          <p:cNvSpPr txBox="1"/>
          <p:nvPr/>
        </p:nvSpPr>
        <p:spPr>
          <a:xfrm>
            <a:off x="3236976" y="4892040"/>
            <a:ext cx="8083296" cy="338328"/>
          </a:xfrm>
          <a:prstGeom prst="rect">
            <a:avLst/>
          </a:prstGeom>
          <a:noFill/>
        </p:spPr>
        <p:txBody>
          <a:bodyPr wrap="square" lIns="0" rIns="0" tIns="0" bIns="0">
            <a:spAutoFit/>
          </a:bodyPr>
          <a:lstStyle/>
          <a:p>
            <a:pPr algn="l">
              <a:spcAft>
                <a:spcPts val="400"/>
              </a:spcAft>
            </a:pPr>
            <a:r>
              <a:rPr sz="1700" b="0">
                <a:solidFill>
                  <a:srgbClr val="F6F8F9"/>
                </a:solidFill>
                <a:latin typeface="맑은 고딕"/>
                <a:ea typeface="맑은 고딕"/>
              </a:rPr>
              <a:t>IMG14 · 회사 인트로/아웃트로 / KV / 폰트</a:t>
            </a:r>
          </a:p>
        </p:txBody>
      </p:sp>
      <p:sp>
        <p:nvSpPr>
          <p:cNvPr id="20" name="TextBox 19"/>
          <p:cNvSpPr txBox="1"/>
          <p:nvPr/>
        </p:nvSpPr>
        <p:spPr>
          <a:xfrm>
            <a:off x="3236976" y="5248655"/>
            <a:ext cx="8083296" cy="274320"/>
          </a:xfrm>
          <a:prstGeom prst="rect">
            <a:avLst/>
          </a:prstGeom>
          <a:noFill/>
        </p:spPr>
        <p:txBody>
          <a:bodyPr wrap="square" lIns="0" rIns="0" tIns="0" bIns="0">
            <a:spAutoFit/>
          </a:bodyPr>
          <a:lstStyle/>
          <a:p>
            <a:pPr algn="l">
              <a:spcAft>
                <a:spcPts val="400"/>
              </a:spcAft>
            </a:pPr>
            <a:r>
              <a:rPr sz="1300" b="0">
                <a:solidFill>
                  <a:srgbClr val="B4C6D4"/>
                </a:solidFill>
                <a:latin typeface="맑은 고딕"/>
                <a:ea typeface="맑은 고딕"/>
              </a:rPr>
              <a:t>10월 개최 상태 갱신 · 리허설 실측 · 본편 275초</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643616" y="448056"/>
            <a:ext cx="777240" cy="320040"/>
          </a:xfrm>
          <a:prstGeom prst="rect">
            <a:avLst/>
          </a:prstGeom>
          <a:noFill/>
        </p:spPr>
        <p:txBody>
          <a:bodyPr wrap="square" lIns="0" rIns="0" tIns="0" bIns="0">
            <a:spAutoFit/>
          </a:bodyPr>
          <a:lstStyle/>
          <a:p>
            <a:pPr algn="r">
              <a:spcAft>
                <a:spcPts val="400"/>
              </a:spcAft>
            </a:pPr>
            <a:r>
              <a:rPr sz="1300" b="1">
                <a:solidFill>
                  <a:srgbClr val="83E8C5"/>
                </a:solidFill>
                <a:latin typeface="맑은 고딕"/>
                <a:ea typeface="맑은 고딕"/>
              </a:rPr>
              <a:t>A03</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외부 시각 참고 / 본편 사용 제외</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3200" b="1">
                <a:solidFill>
                  <a:srgbClr val="F6F8F9"/>
                </a:solidFill>
                <a:latin typeface="맑은 고딕"/>
                <a:ea typeface="맑은 고딕"/>
              </a:rPr>
              <a:t>범용 서버랙·냉각 참고 이미지</a:t>
            </a:r>
          </a:p>
        </p:txBody>
      </p:sp>
      <p:cxnSp>
        <p:nvCxnSpPr>
          <p:cNvPr id="7" name="Connector 6"/>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85800" y="6272784"/>
            <a:ext cx="108813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검토용 초안 · 회사 KV/폰트 수급 후 교체</a:t>
            </a:r>
          </a:p>
        </p:txBody>
      </p:sp>
      <p:pic>
        <p:nvPicPr>
          <p:cNvPr id="9" name="Picture 8" descr="nersc-server-racks-cc0.jpg"/>
          <p:cNvPicPr>
            <a:picLocks noChangeAspect="1"/>
          </p:cNvPicPr>
          <p:nvPr/>
        </p:nvPicPr>
        <p:blipFill>
          <a:blip r:embed="rId2"/>
          <a:srcRect t="15888" b="15888"/>
          <a:stretch>
            <a:fillRect/>
          </a:stretch>
        </p:blipFill>
        <p:spPr>
          <a:xfrm>
            <a:off x="685800" y="2898648"/>
            <a:ext cx="5266944" cy="2386584"/>
          </a:xfrm>
          <a:prstGeom prst="rect">
            <a:avLst/>
          </a:prstGeom>
        </p:spPr>
      </p:pic>
      <p:sp>
        <p:nvSpPr>
          <p:cNvPr id="10" name="TextBox 9"/>
          <p:cNvSpPr txBox="1"/>
          <p:nvPr/>
        </p:nvSpPr>
        <p:spPr>
          <a:xfrm>
            <a:off x="685800" y="5394960"/>
            <a:ext cx="5266944" cy="329184"/>
          </a:xfrm>
          <a:prstGeom prst="rect">
            <a:avLst/>
          </a:prstGeom>
          <a:noFill/>
        </p:spPr>
        <p:txBody>
          <a:bodyPr wrap="square" lIns="0" rIns="0" tIns="0" bIns="0">
            <a:spAutoFit/>
          </a:bodyPr>
          <a:lstStyle/>
          <a:p>
            <a:pPr algn="l">
              <a:spcAft>
                <a:spcPts val="400"/>
              </a:spcAft>
            </a:pPr>
            <a:r>
              <a:rPr sz="1700" b="1">
                <a:solidFill>
                  <a:srgbClr val="F6F8F9"/>
                </a:solidFill>
                <a:latin typeface="맑은 고딕"/>
                <a:ea typeface="맑은 고딕"/>
              </a:rPr>
              <a:t>NERSC 서버랙, 2011</a:t>
            </a:r>
          </a:p>
        </p:txBody>
      </p:sp>
      <p:sp>
        <p:nvSpPr>
          <p:cNvPr id="11" name="TextBox 10"/>
          <p:cNvSpPr txBox="1"/>
          <p:nvPr/>
        </p:nvSpPr>
        <p:spPr>
          <a:xfrm>
            <a:off x="685800" y="5779008"/>
            <a:ext cx="5266944" cy="246888"/>
          </a:xfrm>
          <a:prstGeom prst="rect">
            <a:avLst/>
          </a:prstGeom>
          <a:noFill/>
        </p:spPr>
        <p:txBody>
          <a:bodyPr wrap="square" lIns="0" rIns="0" tIns="0" bIns="0">
            <a:spAutoFit/>
          </a:bodyPr>
          <a:lstStyle/>
          <a:p>
            <a:pPr algn="l">
              <a:spcAft>
                <a:spcPts val="400"/>
              </a:spcAft>
            </a:pPr>
            <a:r>
              <a:rPr sz="1100" b="0">
                <a:solidFill>
                  <a:srgbClr val="B4C6D4"/>
                </a:solidFill>
                <a:latin typeface="맑은 고딕"/>
                <a:ea typeface="맑은 고딕"/>
              </a:rPr>
              <a:t>Derrick Coetzee · CC0 1.0</a:t>
            </a:r>
          </a:p>
        </p:txBody>
      </p:sp>
      <p:pic>
        <p:nvPicPr>
          <p:cNvPr id="12" name="Picture 11" descr="server-air-cooling-cc0.jpg"/>
          <p:cNvPicPr>
            <a:picLocks noChangeAspect="1"/>
          </p:cNvPicPr>
          <p:nvPr/>
        </p:nvPicPr>
        <p:blipFill>
          <a:blip r:embed="rId3"/>
          <a:srcRect t="20829" b="20829"/>
          <a:stretch>
            <a:fillRect/>
          </a:stretch>
        </p:blipFill>
        <p:spPr>
          <a:xfrm>
            <a:off x="6217920" y="2898648"/>
            <a:ext cx="5266944" cy="2386584"/>
          </a:xfrm>
          <a:prstGeom prst="rect">
            <a:avLst/>
          </a:prstGeom>
        </p:spPr>
      </p:pic>
      <p:sp>
        <p:nvSpPr>
          <p:cNvPr id="13" name="TextBox 12"/>
          <p:cNvSpPr txBox="1"/>
          <p:nvPr/>
        </p:nvSpPr>
        <p:spPr>
          <a:xfrm>
            <a:off x="6217920" y="5394960"/>
            <a:ext cx="5266944" cy="329184"/>
          </a:xfrm>
          <a:prstGeom prst="rect">
            <a:avLst/>
          </a:prstGeom>
          <a:noFill/>
        </p:spPr>
        <p:txBody>
          <a:bodyPr wrap="square" lIns="0" rIns="0" tIns="0" bIns="0">
            <a:spAutoFit/>
          </a:bodyPr>
          <a:lstStyle/>
          <a:p>
            <a:pPr algn="l">
              <a:spcAft>
                <a:spcPts val="400"/>
              </a:spcAft>
            </a:pPr>
            <a:r>
              <a:rPr sz="1700" b="1">
                <a:solidFill>
                  <a:srgbClr val="F6F8F9"/>
                </a:solidFill>
                <a:latin typeface="맑은 고딕"/>
                <a:ea typeface="맑은 고딕"/>
              </a:rPr>
              <a:t>1U 서버 공냉 구성, 2011</a:t>
            </a:r>
          </a:p>
        </p:txBody>
      </p:sp>
      <p:sp>
        <p:nvSpPr>
          <p:cNvPr id="14" name="TextBox 13"/>
          <p:cNvSpPr txBox="1"/>
          <p:nvPr/>
        </p:nvSpPr>
        <p:spPr>
          <a:xfrm>
            <a:off x="6217920" y="5779008"/>
            <a:ext cx="5266944" cy="246888"/>
          </a:xfrm>
          <a:prstGeom prst="rect">
            <a:avLst/>
          </a:prstGeom>
          <a:noFill/>
        </p:spPr>
        <p:txBody>
          <a:bodyPr wrap="square" lIns="0" rIns="0" tIns="0" bIns="0">
            <a:spAutoFit/>
          </a:bodyPr>
          <a:lstStyle/>
          <a:p>
            <a:pPr algn="l">
              <a:spcAft>
                <a:spcPts val="400"/>
              </a:spcAft>
            </a:pPr>
            <a:r>
              <a:rPr sz="1100" b="0">
                <a:solidFill>
                  <a:srgbClr val="B4C6D4"/>
                </a:solidFill>
                <a:latin typeface="맑은 고딕"/>
                <a:ea typeface="맑은 고딕"/>
              </a:rPr>
              <a:t>Tobias Maier · CC0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4 AI — 연결이 성장의 인프라가 되다</dc:title>
  <dc:subject>2026 Learning Fair 촬영·리디자인용 초안</dc:subject>
  <dc:creator>Data Center팀 교육담당 이관우</dc:creator>
  <cp:keywords/>
  <dc:description>본편 10장, 참고 부록 3장. 내부 사진 자리표시자. 회사 KV 미적용.</dc:description>
  <cp:lastModifiedBy>Steve Canny</cp:lastModifiedBy>
  <cp:revision>1</cp:revision>
  <dcterms:created xsi:type="dcterms:W3CDTF">2013-01-27T09:14:16Z</dcterms:created>
  <dcterms:modified xsi:type="dcterms:W3CDTF">2013-01-27T09:15:58Z</dcterms:modified>
  <cp:category/>
</cp:coreProperties>
</file>