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/ S01 / 최종 00:05–00:25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성장에 관한 밸런스 게임입니다</a:t>
            </a:r>
          </a:p>
          <a:p>
            <a:r>
              <a:t>P01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팀장님, 오늘은 [P01 등장] 성장에 관한 밸런스 게임입니다. 하나만 고르시죠.</a:t>
            </a:r>
          </a:p>
          <a:p>
            <a:r>
              <a:t>류경동 팀장: 이유는 말씀드려도 되죠?</a:t>
            </a:r>
          </a:p>
          <a:p>
            <a:r>
              <a:t>이관우 교육담당: 그 이유가 오늘의 주제입니다. 먼저 저희 팀부터 보시죠.</a:t>
            </a:r>
          </a:p>
          <a:p>
            <a:r>
              <a:t>00:25에서 대사를 마치고 F01 AI 팀 소개 15초로 전환한다. 자료 P01의 팀 소개를 읽는 추가 발화는 없다. 00:40에 첫 질문으로 돌아온다.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/ S02 / 최종 00:40–01:05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새로운 기술을 배운다면</a:t>
            </a:r>
          </a:p>
          <a:p>
            <a:r>
              <a:t>P02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[P02 등장] 새로운 기술을 배운다면, 외부 전문가와 옆 부서 동료 중 누구를 먼저 찾으시겠습니까?</a:t>
            </a:r>
          </a:p>
          <a:p>
            <a:r>
              <a:t>류경동 팀장: [R01 선택 A 공개] 저는 외부 전문가요. 익숙하지 않은 기술과 시각부터 만나보고 싶습니다.</a:t>
            </a:r>
          </a:p>
          <a:p>
            <a:r>
              <a:t>이관우 교육담당: 저는 동료요. 우리 업무와 연결해 물어볼 수 있으니까요.</a:t>
            </a:r>
          </a:p>
          <a:p>
            <a:r>
              <a:t>추가 큐: 저는 외부 전문가요 / R01 선택 A 공개 / R01-POST-A로 교체. A 카드만 강조하고 B 카드는 남겨둔다. 순위·탈락 표시는 없다.</a:t>
            </a:r>
          </a:p>
          <a:p>
            <a:r>
              <a:t>발화 중 자료를 겹쳐 사용한다. 남는 시간에는 사진·표정·제목을 읽을 시간을 주며 새 설명을 추가하지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R01 / 촬영 제안 선택: A / 공개 발화: 저는 외부 전문가요</a:t>
            </a:r>
          </a:p>
          <a:p>
            <a:r>
              <a:t>선택은 실제 취향에 따라 바꿀 수 있다. 프로그램 순위나 승패가 아니다.</a:t>
            </a:r>
          </a:p>
          <a:p>
            <a:r>
              <a:t>A 선택 시 공개 발화: 저는 외부 전문가요</a:t>
            </a:r>
          </a:p>
          <a:p>
            <a:r>
              <a:t>본문의 촬영 제안 대사를 사용한다.</a:t>
            </a:r>
          </a:p>
          <a:p>
            <a:r>
              <a:t>B 선택 시 공개 발화: 저는 옆 부서 동료요</a:t>
            </a:r>
          </a:p>
          <a:p>
            <a:r>
              <a:t>S02 / 2번째 발화 교체 · 류경동 팀장: 저는 옆 부서 동료요. 우리와 가까운 문제를 어떻게 풀고 있는지 먼저 듣고 싶습니다.</a:t>
            </a:r>
          </a:p>
          <a:p>
            <a:r>
              <a:t>S02 / 3번째 발화 교체 · 이관우 교육담당: 저는 외부 전문가요. 처음 만나는 기술도 궁금합니다.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/ S03 / 최종 01:05–01:45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AI 4 AI 세미나에는</a:t>
            </a:r>
          </a:p>
          <a:p>
            <a:r>
              <a:t>P03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IMG02, IMG03, IMG13, IMG06</a:t>
            </a:r>
          </a:p>
          <a:p>
            <a:r>
              <a:t>스크립트:</a:t>
            </a:r>
          </a:p>
          <a:p>
            <a:r>
              <a:t>이관우 교육담당: [P03 등장] AI 4 AI 세미나에는 매달 외부 전문가를 초대합니다. 녹화는 교육 플랫폼에 공유하고요.</a:t>
            </a:r>
          </a:p>
          <a:p>
            <a:r>
              <a:t>류경동 팀장: 듣고 나면 우리 일에는 어떻게 쓰일지 궁금해집니다. 그때는 동료의 경험을 듣고 싶어요.</a:t>
            </a:r>
          </a:p>
          <a:p>
            <a:r>
              <a:t>이관우 교육담당: [DCIS 자료 강조] 동료의 경험은 DCIS에서 듣습니다. 매달 부서의 주요 과제와 서비스, 연구 중인 기술을 소개합니다.</a:t>
            </a:r>
          </a:p>
          <a:p>
            <a:r>
              <a:t>추가 큐: 동료의 경험은 DCIS에서 듣습니다 / DCIS 자료 강조 / 오른쪽 동료 경험 카드를 강조. 두 프로그램의 확인된 공동 운영·사업 인과를 의미하는 화살표는 넣지 않는다.</a:t>
            </a:r>
          </a:p>
          <a:p>
            <a:r>
              <a:t>AI 4 AI 소개 때 왼쪽 포스터와 녹화 목록, DCIS 발화 때 오른쪽 실제 자료를 보여준다. 두 세미나가 공식 연계 과정이라는 뜻은 아니다. 10월까지 8회 완료 자막은 넣지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IMG03 / AI 4 AI</a:t>
            </a:r>
          </a:p>
          <a:p>
            <a:r>
              <a:t>실제 세미나 포스터 / 대표 1회 포스터. Cisco·NVIDIA·KISTI 등 실제 자료 중 선택. IMG02 행사 사진, IMG13 녹화 목록을 같은 자리에서 교체 가능.</a:t>
            </a:r>
          </a:p>
          <a:p>
            <a:r>
              <a:t>IMG06 / DCIS</a:t>
            </a:r>
          </a:p>
          <a:p>
            <a:r>
              <a:t>실제 발표 자료 / Data Center Idea Sync 실제 공지·표지·발표 장면. 주제와 날짜를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/ S04 / 최종 01:45–02:10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이번에는 익숙한 일을 더 깊이 파기</a:t>
            </a:r>
          </a:p>
          <a:p>
            <a:r>
              <a:t>P04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[P04 등장] 이번에는 익숙한 일을 더 깊이 파기, 다른 부서의 관심 과제에 도전하기. 어느 쪽이세요?</a:t>
            </a:r>
          </a:p>
          <a:p>
            <a:r>
              <a:t>류경동 팀장: [R02 선택 B 공개] 저는 새로운 과제에 도전하겠습니다. 다른 분야에서는 문제를 어떻게 푸는지 함께 일하며 보고 싶어요.</a:t>
            </a:r>
          </a:p>
          <a:p>
            <a:r>
              <a:t>추가 큐: 저는 새로운 과제에 도전하겠습니다 / R02 선택 B 공개 / R02-POST-B로 교체. B 카드만 강조하고 상대 선택을 낮춰 평가하지 않는다.</a:t>
            </a:r>
          </a:p>
          <a:p>
            <a:r>
              <a:t>발화 중 자료를 겹쳐 사용한다. 남는 시간에는 사진·표정·제목을 읽을 시간을 주며 새 설명을 추가하지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R02 / 촬영 제안 선택: B / 공개 발화: 저는 새로운 과제에 도전하겠습니다</a:t>
            </a:r>
          </a:p>
          <a:p>
            <a:r>
              <a:t>선택은 실제 취향에 따라 바꿀 수 있다. 프로그램 순위나 승패가 아니다.</a:t>
            </a:r>
          </a:p>
          <a:p>
            <a:r>
              <a:t>A 선택 시 공개 발화: 저는 익숙한 일을 더 깊게 파겠습니다</a:t>
            </a:r>
          </a:p>
          <a:p>
            <a:r>
              <a:t>S04 / 2번째 발화 교체 · 류경동 팀장: 저는 익숙한 일을 더 깊게 파겠습니다. 잘 안다고 생각했던 일에도 아직 모르는 게 있을 테니까요.</a:t>
            </a:r>
          </a:p>
          <a:p>
            <a:r>
              <a:t>S05 / 1번째 발화 교체 · 이관우 교육담당: 저는 Tech X에서 다른 부서 과제에 도전했습니다. k8s GPU 자원 효율화 과제였는데요. 부서마다 접근하는 관점이 다르더라고요.</a:t>
            </a:r>
          </a:p>
          <a:p>
            <a:r>
              <a:t>B 선택 시 공개 발화: 저는 새로운 과제에 도전하겠습니다</a:t>
            </a:r>
          </a:p>
          <a:p>
            <a:r>
              <a:t>본문의 촬영 제안 대사를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/ S05 / 최종 02:10–02:35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저도 Tech X에서</a:t>
            </a:r>
          </a:p>
          <a:p>
            <a:r>
              <a:t>P05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IMG16, IMG17</a:t>
            </a:r>
          </a:p>
          <a:p>
            <a:r>
              <a:t>스크립트:</a:t>
            </a:r>
          </a:p>
          <a:p>
            <a:r>
              <a:t>이관우 교육담당: [P05 등장] 저도 Tech X에서 k8s GPU 자원 효율화 과제에 참여했습니다. 같은 과제에 모여도 부서마다 접근하는 관점이 다르더라고요.</a:t>
            </a:r>
          </a:p>
          <a:p>
            <a:r>
              <a:t>류경동 팀장: 일을 같이하면서 배우는 거군요.</a:t>
            </a:r>
          </a:p>
          <a:p>
            <a:r>
              <a:t>이관우 교육담당: 네. 그 차이를 이해하며 배울 수 있었습니다.</a:t>
            </a:r>
          </a:p>
          <a:p>
            <a:r>
              <a:t>화면 숫자는 Tech X 전체 참여 현황이며 GPU 과제 인원이나 완료 실적이 아니다. 모집은 3월, 착수는 4월이다. 사진 2장을 발화 중 활용하고 별도 시간을 더하지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IMG16 / 참여 사진 1 / 이관우의 k8s GPU 과제 참여 사진. 실제 사진 미수급. 본인 경험만 설명한다.</a:t>
            </a:r>
          </a:p>
          <a:p>
            <a:r>
              <a:t>IMG17 / 참여 사진 2 / 동일 GPU 과제 참여 사진. IAP 사진과 혼용하지 않는다. 미확인 논의 내용·개선 수치는 붙이지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/ S06 / 최종 02:35–03:00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다른 Tech X 과제인 IAP는</a:t>
            </a:r>
          </a:p>
          <a:p>
            <a:r>
              <a:t>P06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IMG08, IMG09, IMG10</a:t>
            </a:r>
          </a:p>
          <a:p>
            <a:r>
              <a:t>스크립트:</a:t>
            </a:r>
          </a:p>
          <a:p>
            <a:r>
              <a:t>이관우 교육담당: [P06 등장] 다른 Tech X 과제인 IAP는 팀의 주요 미션이 됐습니다. [IAP 기능 흐름 강조] 로그의 특정 패턴을 찾아 정해진 형식으로 메신저에 알립니다.</a:t>
            </a:r>
          </a:p>
          <a:p>
            <a:r>
              <a:t>류경동 팀장: 만든 뒤에는 어떻게 나눴나요?</a:t>
            </a:r>
          </a:p>
          <a:p>
            <a:r>
              <a:t>이관우 교육담당: [소개·실습 자료 전환] 6월에 팀에 소개하고, 7월에는 담당자 25명을 대상으로 실습했습니다.</a:t>
            </a:r>
          </a:p>
          <a:p>
            <a:r>
              <a:t>추가 큐: 로그의 특정 패턴을 찾아 / IAP 기능 흐름 강조 / 감지 → 형식 → 메신저 알림 순서로 선을 강조. 원본 IMG08 확보 시 같은 자리에 실제 가림 처리 화면 사용.</a:t>
            </a:r>
          </a:p>
          <a:p>
            <a:r>
              <a:t>추가 큐: 6월에 팀에 소개하고 / 소개·실습 자료 전환 / 하단 소개→실습을 강조. IMG09 또는 IMG10 확보 시 발화 위에 한 컷 사용.</a:t>
            </a:r>
          </a:p>
          <a:p>
            <a:r>
              <a:t>IAP는 25초의 업무 변화 사례다. 전체 프로그램이 IAP를 만들었다는 인과나 모든 인프라 전면 적용을 주장하지 않는다. 절감 시간·자동 복구를 추가하지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/ S07 / 최종 03:00–03:25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동료의 일을 이해할 때</a:t>
            </a:r>
          </a:p>
          <a:p>
            <a:r>
              <a:t>P07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[P07 등장] 동료의 일을 이해할 때, 설명을 먼저 들으시겠습니까, 현장에 먼저 가보시겠습니까?</a:t>
            </a:r>
          </a:p>
          <a:p>
            <a:r>
              <a:t>류경동 팀장: [R03 선택 B 공개] 저는 현장부터요. 직접 보고 나면, 동료에게 무엇을 물어볼지도 더 구체적이겠죠.</a:t>
            </a:r>
          </a:p>
          <a:p>
            <a:r>
              <a:t>추가 큐: 저는 현장부터요 / R03 선택 B 공개 / R03-POST-B로 교체. 실제 팀장님의 현장 방문 경험을 뜻하는 회상 화면은 넣지 않는다.</a:t>
            </a:r>
          </a:p>
          <a:p>
            <a:r>
              <a:t>발화 중 자료를 겹쳐 사용한다. 남는 시간에는 사진·표정·제목을 읽을 시간을 주며 새 설명을 추가하지 않는다.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R03 / 촬영 제안 선택: B / 공개 발화: 저는 현장부터요</a:t>
            </a:r>
          </a:p>
          <a:p>
            <a:r>
              <a:t>선택은 실제 취향에 따라 바꿀 수 있다. 프로그램 순위나 승패가 아니다.</a:t>
            </a:r>
          </a:p>
          <a:p>
            <a:r>
              <a:t>A 선택 시 공개 발화: 저는 설명부터요</a:t>
            </a:r>
          </a:p>
          <a:p>
            <a:r>
              <a:t>S07 / 2번째 발화 교체 · 류경동 팀장: 저는 설명부터요. 어떤 일을 왜 하는지 듣고 가면, 현장에서도 더 많이 보일 것 같습니다.</a:t>
            </a:r>
          </a:p>
          <a:p>
            <a:r>
              <a:t>S08 / 2번째 발화 교체 · 류경동 팀장: 현장을 보는 것도 좋죠. 제가 고른 것처럼 동료의 설명을 직접 들을 자리도 있었나요?</a:t>
            </a:r>
          </a:p>
          <a:p>
            <a:r>
              <a:t>B 선택 시 공개 발화: 저는 현장부터요</a:t>
            </a:r>
          </a:p>
          <a:p>
            <a:r>
              <a:t>본문의 촬영 제안 대사를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/ S08 / 최종 03:25–04:05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7월에는 새로 합류하거나</a:t>
            </a:r>
          </a:p>
          <a:p>
            <a:r>
              <a:t>P08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IMG11, IMG12, IMG04, IMG05</a:t>
            </a:r>
          </a:p>
          <a:p>
            <a:r>
              <a:t>스크립트:</a:t>
            </a:r>
          </a:p>
          <a:p>
            <a:r>
              <a:t>이관우 교육담당: [P08 등장] 7월에는 새로 합류하거나 복귀한 동료 등 8명이 명장님과 화성 HPC센터를 둘러봤습니다.</a:t>
            </a:r>
          </a:p>
          <a:p>
            <a:r>
              <a:t>류경동 팀장: 현장에 가기 어려운 동료도 있잖아요. 서로의 일을 물어볼 자리는요?</a:t>
            </a:r>
          </a:p>
          <a:p>
            <a:r>
              <a:t>이관우 교육담당: [Job Fair 자료 강조] 8월 Job Fair에서는 11개 부서가 부스를 열었습니다. 업무 소개 패널을 보며 담당 동료에게 직접 묻는 자리였죠.</a:t>
            </a:r>
          </a:p>
          <a:p>
            <a:r>
              <a:t>류경동 팀장: 저는 그렇게 얼굴을 마주하고 묻는 기회를 더 만들고 싶습니다.</a:t>
            </a:r>
          </a:p>
          <a:p>
            <a:r>
              <a:t>추가 큐: 8월 Job Fair에서는 / Job Fair 자료 강조 / 투어 사진에서 Job Fair 부스 사진으로 중심 전환. 실제 시기는 7월·8월로 화면에 표시한다.</a:t>
            </a:r>
          </a:p>
          <a:p>
            <a:r>
              <a:t>투어와 Job Fair는 대상과 목적이 다른 실제 활동이다. 전원이 현장을 체험했다는 식으로 합치지 않는다. 프로그램별 완결 설명 대신 질문을 할 수 있는 기회라는 관점으로 묶는다.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>
            <a:r>
              <a:t>IMG11 / 명장 투어</a:t>
            </a:r>
          </a:p>
          <a:p>
            <a:r>
              <a:t>화성 HPC센터 / 실제 투어 원본. IMG12 시험 중 수냉 서버·공냉 서버랙 사진으로 보조 가능. 팀장님이 방문했다는 묘사는 하지 않는다.</a:t>
            </a:r>
          </a:p>
          <a:p>
            <a:r>
              <a:t>IMG04 / Job Fair</a:t>
            </a:r>
          </a:p>
          <a:p>
            <a:r>
              <a:t>부스와 동료 / 실제 11개 부서 교류 현장. IMG05 A0 업무 패널을 보조로 사용. 팀원 전원 참석 수치는 단정하지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/ S09 / 최종 04:05–04:35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다른 팀과 이야기를 나눈다면</a:t>
            </a:r>
          </a:p>
          <a:p>
            <a:r>
              <a:t>P09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이관우 교육담당: 세 번을 골라보셨는데요. [P09 등장] 다른 팀과 이야기를 나눈다면, 무엇부터 묻고 싶으세요?</a:t>
            </a:r>
          </a:p>
          <a:p>
            <a:r>
              <a:t>류경동 팀장: 같은 문제를 어떻게 풀고 계신지요. 저희 경험도 나누고, 다른 방식도 배우고 싶습니다.</a:t>
            </a:r>
          </a:p>
          <a:p>
            <a:r>
              <a:t>이관우 교육담당: 이 영상을 보시는 여러분은 어떠세요? 함께 나눠보고 싶은 경험이 있다면, 저희도 듣고 싶습니다.</a:t>
            </a:r>
          </a:p>
          <a:p>
            <a:r>
              <a:t>최종 질문은 초대이며 네 번째 승부가 아니다. 행사 신청·일정·타 조직 참여 확정을 만들지 않는다. 다른 조직 사례를 기다리는 2인 화면으로 마무리한다.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/ S10 / 최종 04:35–04:55</a:t>
            </a:r>
          </a:p>
          <a:p>
            <a:r>
              <a:t>원본 버전: balance-v03 / 2026-10-11</a:t>
            </a:r>
          </a:p>
          <a:p>
            <a:r>
              <a:t>자료 큐는 발화 기준. 타임코드는 최종 편집 목표이며 실측 발화 시점이 아니다.</a:t>
            </a:r>
          </a:p>
          <a:p>
            <a:r>
              <a:t>자료 등장: AI 인프라도 결국 사람이</a:t>
            </a:r>
          </a:p>
          <a:p>
            <a:r>
              <a:t>P10 표시. 제목은 한 번에 제시하고 설명하는 자료만 발화에 맞춰 강조한다. 사진·전환·반응은 장면 배정 시간 안에 포함한다.</a:t>
            </a:r>
          </a:p>
          <a:p>
            <a:r>
              <a:t>촬영: 2인 미디엄샷으로 질문 → 답변자 클로즈업 → 자료와 인물 분할. 과장된 반응을 요구하지 않는다. 첫 개인 화면에 류경동 팀장 / 이관우 교육담당 이름 표시.</a:t>
            </a:r>
          </a:p>
          <a:p>
            <a:r>
              <a:t>원본: 편집 가능한 키워드·도식</a:t>
            </a:r>
          </a:p>
          <a:p>
            <a:r>
              <a:t>스크립트:</a:t>
            </a:r>
          </a:p>
          <a:p>
            <a:r>
              <a:t>류경동 팀장: [P10 등장] AI 인프라도 결국 사람이 만들고 운영합니다. 서로의 경험을 나누며 함께 성장하겠습니다.</a:t>
            </a:r>
          </a:p>
          <a:p>
            <a:r>
              <a:t>이관우 교육담당: AI 4 AI. 오늘의 선택은 달라도, 대화는 계속됩니다. 감사합니다.</a:t>
            </a:r>
          </a:p>
          <a:p>
            <a:r>
              <a:t>세 라운드의 카드 선이 사람 사이 연결로 정리되고 타이틀 회수. 승패·우승·모두 정답 자막은 넣지 않는다. 04:55에 회사 클로징으로 전환한다.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  <a:p>
            <a:r>
              <a:t>PPTX에는 실제 애니메이션이 없다. 효과와 자료 전환은 영상팀 편집 지시다.</a:t>
            </a:r>
          </a:p>
          <a:p>
            <a:r>
              <a:t>내부 행사 사진·화면 원본은 현재 미수급이다. 범용 외부 사진으로 실제 행사를 대체하지 않는다.</a:t>
            </a:r>
          </a:p>
          <a:p>
            <a:r>
              <a:t>출처: 사용자 브리프·추가 확인. 사실과 원본 ID 기준: docs/03-facts-and-assets.md.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{"id": "A01", "title": "실제 자료를 넣을 자리", "body": "기본 PPTX를 복사해 사진을 넣습니다. 안내 글자·ID는 제출 화면에서 제거합니다.", "items": [{"label": "P03 · 배움", "value": "IMG03 · IMG06", "detail": "AI 4 AI 포스터 / DCIS 실제 발표 자료"}, {"label": "P05 · 경험", "value": "IMG16 · IMG17", "detail": "이관우 GPU 과제 사진 1·2. IAP와 구분"}, {"label": "P06 · 변화", "value": "IMG08 · IMG09 · IMG10", "detail": "로그 알림 화면 / 팀 소개 / 담당자 실습"}, {"label": "P08 · 이해", "value": "IMG11 · IMG04", "detail": "HPC센터 명장 투어 / Job Fair 부스"}]}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{"id": "A02", "title": "선택과 사실을 구분합니다", "body": "팀장님 답변은 촬영용 제안입니다. 다른 선택을 하시면 공개 화면과 연결 대사도 바꿉니다.", "items": [{"label": "제안 선택", "value": "외부 전문가 / 도전 / 현장", "detail": "실제 취향·평가·투표 결과가 아님"}, {"label": "팀 역할", "value": "DS부문 IT 인프라 제공·운영", "detail": "별도 AI 소개에서 역할 설명. 성과 지표로 쓰지 않음"}, {"label": "Tech X", "value": "6개 과제 · 44명 진행 중", "detail": "GPU 경험과 IAP는 별개 과제"}, {"label": "IAP", "value": "로그 감지 → 메신저 동보", "detail": "수작업 대체 사례. 절감률·전면 적용은 미확인"}]}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{"id": "A03", "title": "제출·촬영 일정", "body": "2026-10-11 기준. 예정 행사의 결과는 확인한 뒤 반영합니다.", "items": [{"label": "10월 12일", "value": "OutSystems 세미나 예정", "detail": "개최 확인 후 상태·자료 갱신"}, {"label": "10월 14일", "value": "자료 제출", "detail": "16일 최종 발표 결과를 미리 넣지 않음"}, {"label": "10월 16일", "value": "Tech X 최종 발표 예정", "detail": "프로젝트 완료·시상일로 확정된 날짜가 아님"}, {"label": "10월 19일", "value": "영상 촬영", "detail": "같은 버전의 대본·PPT·자료 큐 사용"}]}</a:t>
            </a:r>
          </a:p>
          <a:p>
            <a:r>
              <a:t>2026-10-11 사용자 요청에 따라 공유 대화 마지막의 밸런스 게임 방향을 새로 구성했다. 실제 운영 사실은 docs/03-facts-and-assets.md 기준이다. 팀장님의 선택·의견은 촬영용 제안이며 과거 발언이나 확정된 취향이 아니다. GPU 과제 참여 경험과 IAP는 서로 다른 Tech X 과제다. 학습활동 전체와 개별 업무 변화 사례를 구분하며 미확인 효과·실적을 만들지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3616" y="44805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2026 Learning Fair · Data Center팀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5600" b="1">
                <a:solidFill>
                  <a:srgbClr val="F6F8F9"/>
                </a:solidFill>
                <a:latin typeface="맑은 고딕"/>
                <a:ea typeface="맑은 고딕"/>
              </a:rPr>
              <a:t>AI 4 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검토용 초안 · 회사 KV/폰트 수급 후 교체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71216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83E8C5"/>
                </a:solidFill>
                <a:latin typeface="맑은 고딕"/>
                <a:ea typeface="맑은 고딕"/>
              </a:rPr>
              <a:t>세 번의 선택, 함께 성장하는 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23944"/>
            <a:ext cx="108173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0">
                <a:solidFill>
                  <a:srgbClr val="F6F8F9"/>
                </a:solidFill>
                <a:latin typeface="맑은 고딕"/>
                <a:ea typeface="맑은 고딕"/>
              </a:rPr>
              <a:t>세 번의 선택, 그 이유를 듣습니다.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66944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4C6D4"/>
                </a:solidFill>
                <a:latin typeface="맑은 고딕"/>
                <a:ea typeface="맑은 고딕"/>
              </a:rPr>
              <a:t>류경동 팀장 · 이관우 교육담당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3616" y="44805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ROUND 1 · 누구에게 배울까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새로운 기술,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누구에게 먼저 배울까요?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A · 외부 전문가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우리 밖의 기술과 시각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먼저 만나보고 싶은 사람은?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1B3F4"/>
                </a:solidFill>
                <a:latin typeface="맑은 고딕"/>
                <a:ea typeface="맑은 고딕"/>
              </a:rPr>
              <a:t>B · 옆 부서 동료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우리 일과 가까운 경험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둘 중 하나를 선택해 주세요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1383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B4C6D4"/>
                </a:solidFill>
                <a:latin typeface="맑은 고딕"/>
                <a:ea typeface="맑은 고딕"/>
              </a:rPr>
              <a:t>지금 더 끌리는 쪽을 골라주세요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3616" y="44805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ROUND 1 · 배움과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밖에서 만난 기술,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동료와 이어가는 질문.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70632"/>
            <a:ext cx="5276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83E8C5"/>
                </a:solidFill>
                <a:latin typeface="맑은 고딕"/>
                <a:ea typeface="맑은 고딕"/>
              </a:rPr>
              <a:t>AI 4 AI 세미나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18688"/>
            <a:ext cx="527608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6F8F9"/>
                </a:solidFill>
                <a:latin typeface="맑은 고딕"/>
                <a:ea typeface="맑은 고딕"/>
              </a:rPr>
              <a:t>외부 전문가 · 월 1회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39312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4C6D4"/>
                </a:solidFill>
                <a:latin typeface="맑은 고딕"/>
                <a:ea typeface="맑은 고딕"/>
              </a:rPr>
              <a:t>센터 대상 · 녹화 후 교육 플랫폼 공유</a:t>
            </a:r>
          </a:p>
        </p:txBody>
      </p:sp>
      <p:sp>
        <p:nvSpPr>
          <p:cNvPr id="19" name="P03-asset-frame-IMG03"/>
          <p:cNvSpPr/>
          <p:nvPr/>
        </p:nvSpPr>
        <p:spPr>
          <a:xfrm>
            <a:off x="685800" y="4041648"/>
            <a:ext cx="5276088" cy="1371600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3-asset-instruction-IMG03"/>
          <p:cNvSpPr txBox="1"/>
          <p:nvPr/>
        </p:nvSpPr>
        <p:spPr>
          <a:xfrm>
            <a:off x="868680" y="4151376"/>
            <a:ext cx="491032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3E8C5"/>
                </a:solidFill>
                <a:latin typeface="맑은 고딕"/>
                <a:ea typeface="맑은 고딕"/>
              </a:rPr>
              <a:t>실제 자료 삽입</a:t>
            </a:r>
          </a:p>
        </p:txBody>
      </p:sp>
      <p:sp>
        <p:nvSpPr>
          <p:cNvPr id="21" name="P03-asset-label-IMG03"/>
          <p:cNvSpPr txBox="1"/>
          <p:nvPr/>
        </p:nvSpPr>
        <p:spPr>
          <a:xfrm>
            <a:off x="868680" y="4407408"/>
            <a:ext cx="491032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AI 4 AI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실제 세미나 포스터</a:t>
            </a:r>
          </a:p>
        </p:txBody>
      </p:sp>
      <p:sp>
        <p:nvSpPr>
          <p:cNvPr id="22" name="P03-asset-id-IMG03"/>
          <p:cNvSpPr txBox="1"/>
          <p:nvPr/>
        </p:nvSpPr>
        <p:spPr>
          <a:xfrm>
            <a:off x="868680" y="5148072"/>
            <a:ext cx="491032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4C6D4"/>
                </a:solidFill>
                <a:latin typeface="맑은 고딕"/>
                <a:ea typeface="맑은 고딕"/>
              </a:rPr>
              <a:t>IMG03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2770632"/>
            <a:ext cx="5276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C1B3F4"/>
                </a:solidFill>
                <a:latin typeface="맑은 고딕"/>
                <a:ea typeface="맑은 고딕"/>
              </a:rPr>
              <a:t>DCIS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3218688"/>
            <a:ext cx="527608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6F8F9"/>
                </a:solidFill>
                <a:latin typeface="맑은 고딕"/>
                <a:ea typeface="맑은 고딕"/>
              </a:rPr>
              <a:t>동료의 경험 · 월 1회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7064" y="3639312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4C6D4"/>
                </a:solidFill>
                <a:latin typeface="맑은 고딕"/>
                <a:ea typeface="맑은 고딕"/>
              </a:rPr>
              <a:t>주요 과제 · 서비스 · 연구 기술</a:t>
            </a:r>
          </a:p>
        </p:txBody>
      </p:sp>
      <p:sp>
        <p:nvSpPr>
          <p:cNvPr id="26" name="P03-asset-frame-IMG06"/>
          <p:cNvSpPr/>
          <p:nvPr/>
        </p:nvSpPr>
        <p:spPr>
          <a:xfrm>
            <a:off x="6227064" y="4041648"/>
            <a:ext cx="5276088" cy="1371600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03-asset-instruction-IMG06"/>
          <p:cNvSpPr txBox="1"/>
          <p:nvPr/>
        </p:nvSpPr>
        <p:spPr>
          <a:xfrm>
            <a:off x="6409944" y="4151376"/>
            <a:ext cx="491032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3E8C5"/>
                </a:solidFill>
                <a:latin typeface="맑은 고딕"/>
                <a:ea typeface="맑은 고딕"/>
              </a:rPr>
              <a:t>실제 자료 삽입</a:t>
            </a:r>
          </a:p>
        </p:txBody>
      </p:sp>
      <p:sp>
        <p:nvSpPr>
          <p:cNvPr id="28" name="P03-asset-label-IMG06"/>
          <p:cNvSpPr txBox="1"/>
          <p:nvPr/>
        </p:nvSpPr>
        <p:spPr>
          <a:xfrm>
            <a:off x="6409944" y="4407408"/>
            <a:ext cx="491032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DCIS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실제 발표 자료</a:t>
            </a:r>
          </a:p>
        </p:txBody>
      </p:sp>
      <p:sp>
        <p:nvSpPr>
          <p:cNvPr id="29" name="P03-asset-id-IMG06"/>
          <p:cNvSpPr txBox="1"/>
          <p:nvPr/>
        </p:nvSpPr>
        <p:spPr>
          <a:xfrm>
            <a:off x="6409944" y="5148072"/>
            <a:ext cx="491032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4C6D4"/>
                </a:solidFill>
                <a:latin typeface="맑은 고딕"/>
                <a:ea typeface="맑은 고딕"/>
              </a:rPr>
              <a:t>IMG06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559552"/>
            <a:ext cx="1081735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83E8C5"/>
                </a:solidFill>
                <a:latin typeface="맑은 고딕"/>
                <a:ea typeface="맑은 고딕"/>
              </a:rPr>
              <a:t>새로운 시각을 만난 뒤, 우리 일에 던지는 질문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3616" y="44805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ROUND 2 · 어떤 일에 도전할까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익숙한 일을 더 깊게,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새로운 일에 도전?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A · 익숙한 일을 더 깊게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내 분야의 전문성을 쌓다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지금 더 해보고 싶은 경험은?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1B3F4"/>
                </a:solidFill>
                <a:latin typeface="맑은 고딕"/>
                <a:ea typeface="맑은 고딕"/>
              </a:rPr>
              <a:t>B · 다른 부서 과제에 도전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다른 관점으로 함께 풀다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둘 중 하나를 선택해 주세요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1383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B4C6D4"/>
                </a:solidFill>
                <a:latin typeface="맑은 고딕"/>
                <a:ea typeface="맑은 고딕"/>
              </a:rPr>
              <a:t>지금 더 끌리는 쪽을 골라주세요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3616" y="44805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P05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Tech X · 이관우의 실제 참여 경험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같은 과제에 모여,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다른 관점을 배우다.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61488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83E8C5"/>
                </a:solidFill>
                <a:latin typeface="맑은 고딕"/>
                <a:ea typeface="맑은 고딕"/>
              </a:rPr>
              <a:t>6개 과제 · 44명 참여 중  |  3월 모집 → 4월 착수</a:t>
            </a:r>
          </a:p>
        </p:txBody>
      </p:sp>
      <p:sp>
        <p:nvSpPr>
          <p:cNvPr id="17" name="P05-asset-frame-IMG16"/>
          <p:cNvSpPr/>
          <p:nvPr/>
        </p:nvSpPr>
        <p:spPr>
          <a:xfrm>
            <a:off x="685800" y="3511296"/>
            <a:ext cx="5276088" cy="170078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05-asset-instruction-IMG16"/>
          <p:cNvSpPr txBox="1"/>
          <p:nvPr/>
        </p:nvSpPr>
        <p:spPr>
          <a:xfrm>
            <a:off x="868680" y="3621024"/>
            <a:ext cx="491032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3E8C5"/>
                </a:solidFill>
                <a:latin typeface="맑은 고딕"/>
                <a:ea typeface="맑은 고딕"/>
              </a:rPr>
              <a:t>실제 자료 삽입</a:t>
            </a:r>
          </a:p>
        </p:txBody>
      </p:sp>
      <p:sp>
        <p:nvSpPr>
          <p:cNvPr id="19" name="P05-asset-label-IMG16"/>
          <p:cNvSpPr txBox="1"/>
          <p:nvPr/>
        </p:nvSpPr>
        <p:spPr>
          <a:xfrm>
            <a:off x="868680" y="4169663"/>
            <a:ext cx="491032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6F8F9"/>
                </a:solidFill>
                <a:latin typeface="맑은 고딕"/>
                <a:ea typeface="맑은 고딕"/>
              </a:rPr>
              <a:t>참여 사진 1</a:t>
            </a:r>
          </a:p>
        </p:txBody>
      </p:sp>
      <p:sp>
        <p:nvSpPr>
          <p:cNvPr id="20" name="P05-asset-id-IMG16"/>
          <p:cNvSpPr txBox="1"/>
          <p:nvPr/>
        </p:nvSpPr>
        <p:spPr>
          <a:xfrm>
            <a:off x="868680" y="4946904"/>
            <a:ext cx="491032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4C6D4"/>
                </a:solidFill>
                <a:latin typeface="맑은 고딕"/>
                <a:ea typeface="맑은 고딕"/>
              </a:rPr>
              <a:t>IMG16</a:t>
            </a:r>
          </a:p>
        </p:txBody>
      </p:sp>
      <p:sp>
        <p:nvSpPr>
          <p:cNvPr id="21" name="P05-asset-frame-IMG17"/>
          <p:cNvSpPr/>
          <p:nvPr/>
        </p:nvSpPr>
        <p:spPr>
          <a:xfrm>
            <a:off x="6227064" y="3511296"/>
            <a:ext cx="5276088" cy="170078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05-asset-instruction-IMG17"/>
          <p:cNvSpPr txBox="1"/>
          <p:nvPr/>
        </p:nvSpPr>
        <p:spPr>
          <a:xfrm>
            <a:off x="6409944" y="3621024"/>
            <a:ext cx="491032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3E8C5"/>
                </a:solidFill>
                <a:latin typeface="맑은 고딕"/>
                <a:ea typeface="맑은 고딕"/>
              </a:rPr>
              <a:t>실제 자료 삽입</a:t>
            </a:r>
          </a:p>
        </p:txBody>
      </p:sp>
      <p:sp>
        <p:nvSpPr>
          <p:cNvPr id="23" name="P05-asset-label-IMG17"/>
          <p:cNvSpPr txBox="1"/>
          <p:nvPr/>
        </p:nvSpPr>
        <p:spPr>
          <a:xfrm>
            <a:off x="6409944" y="4169663"/>
            <a:ext cx="491032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6F8F9"/>
                </a:solidFill>
                <a:latin typeface="맑은 고딕"/>
                <a:ea typeface="맑은 고딕"/>
              </a:rPr>
              <a:t>참여 사진 2</a:t>
            </a:r>
          </a:p>
        </p:txBody>
      </p:sp>
      <p:sp>
        <p:nvSpPr>
          <p:cNvPr id="24" name="P05-asset-id-IMG17"/>
          <p:cNvSpPr txBox="1"/>
          <p:nvPr/>
        </p:nvSpPr>
        <p:spPr>
          <a:xfrm>
            <a:off x="6409944" y="4946904"/>
            <a:ext cx="491032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4C6D4"/>
                </a:solidFill>
                <a:latin typeface="맑은 고딕"/>
                <a:ea typeface="맑은 고딕"/>
              </a:rPr>
              <a:t>IMG17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77256"/>
            <a:ext cx="1081735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6F8F9"/>
                </a:solidFill>
                <a:latin typeface="맑은 고딕"/>
                <a:ea typeface="맑은 고딕"/>
              </a:rPr>
              <a:t>이관우 참여 과제 · k8s GPU 자원 효율화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3616" y="44805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P06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Tech X의 다른 과제 · Infra Agent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함께 만든 변화가,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다시 배움으로.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53512"/>
            <a:ext cx="3355848" cy="1618488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291840"/>
            <a:ext cx="29900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>
                <a:solidFill>
                  <a:srgbClr val="83E8C5"/>
                </a:solidFill>
                <a:latin typeface="맑은 고딕"/>
                <a:ea typeface="맑은 고딕"/>
              </a:rPr>
              <a:t>로그 패턴 감지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59936"/>
            <a:ext cx="29900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특정 패턴을 찾다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05656" y="3739896"/>
            <a:ext cx="246888" cy="0"/>
          </a:xfrm>
          <a:prstGeom prst="line">
            <a:avLst/>
          </a:prstGeom>
          <a:ln w="25400">
            <a:solidFill>
              <a:srgbClr val="83E8C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16552" y="2953512"/>
            <a:ext cx="3355848" cy="1618488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3291840"/>
            <a:ext cx="29900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>
                <a:solidFill>
                  <a:srgbClr val="C1B3F4"/>
                </a:solidFill>
                <a:latin typeface="맑은 고딕"/>
                <a:ea typeface="맑은 고딕"/>
              </a:rPr>
              <a:t>지정 형식 정리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4059936"/>
            <a:ext cx="29900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정해진 포맷으로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36408" y="3739896"/>
            <a:ext cx="246888" cy="0"/>
          </a:xfrm>
          <a:prstGeom prst="line">
            <a:avLst/>
          </a:prstGeom>
          <a:ln w="25400">
            <a:solidFill>
              <a:srgbClr val="83E8C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47304" y="2953512"/>
            <a:ext cx="3355848" cy="1618488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3" y="3291840"/>
            <a:ext cx="299008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>
                <a:solidFill>
                  <a:srgbClr val="83E8C5"/>
                </a:solidFill>
                <a:latin typeface="맑은 고딕"/>
                <a:ea typeface="맑은 고딕"/>
              </a:rPr>
              <a:t>메신저 알림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4059936"/>
            <a:ext cx="29900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동보하는 수작업 대체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01184"/>
            <a:ext cx="108173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6F8F9"/>
                </a:solidFill>
                <a:latin typeface="맑은 고딕"/>
                <a:ea typeface="맑은 고딕"/>
              </a:rPr>
              <a:t>6월 팀 소개 → 7월 담당자 25명 대상 실습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513832"/>
            <a:ext cx="108173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B4C6D4"/>
                </a:solidFill>
                <a:latin typeface="맑은 고딕"/>
                <a:ea typeface="맑은 고딕"/>
              </a:rPr>
              <a:t>GPU 과제와 별개 · 팀 주요 미션으로 개발·운영 도입 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3616" y="44805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ROUND 3 · 어떻게 이해할까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동료의 일,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어떻게 알아볼까요?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3E8C5"/>
                </a:solidFill>
                <a:latin typeface="맑은 고딕"/>
                <a:ea typeface="맑은 고딕"/>
              </a:rPr>
              <a:t>A · 설명부터 듣기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역할과 맥락을 먼저 알다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업무를 이해하는 첫걸음은?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926080"/>
            <a:ext cx="5276088" cy="2340864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127248"/>
            <a:ext cx="4818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1B3F4"/>
                </a:solidFill>
                <a:latin typeface="맑은 고딕"/>
                <a:ea typeface="맑은 고딕"/>
              </a:rPr>
              <a:t>B · 현장부터 가보기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30752"/>
            <a:ext cx="4818888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6F8F9"/>
                </a:solidFill>
                <a:latin typeface="맑은 고딕"/>
                <a:ea typeface="맑은 고딕"/>
              </a:rPr>
              <a:t>일하는 환경을 먼저 보다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672584"/>
            <a:ext cx="48188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둘 중 하나를 선택해 주세요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1383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B4C6D4"/>
                </a:solidFill>
                <a:latin typeface="맑은 고딕"/>
                <a:ea typeface="맑은 고딕"/>
              </a:rPr>
              <a:t>지금 더 끌리는 쪽을 골라주세요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3616" y="44805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P08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명장 투어 · Job Fair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현장을 보고,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그 일을 하는 사람에게 묻다.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38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70632"/>
            <a:ext cx="5276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83E8C5"/>
                </a:solidFill>
                <a:latin typeface="맑은 고딕"/>
                <a:ea typeface="맑은 고딕"/>
              </a:rPr>
              <a:t>화성 HPC센터 탐방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18688"/>
            <a:ext cx="527608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6F8F9"/>
                </a:solidFill>
                <a:latin typeface="맑은 고딕"/>
                <a:ea typeface="맑은 고딕"/>
              </a:rPr>
              <a:t>7월 · 신규·복귀 구성원 등 8명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39312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4C6D4"/>
                </a:solidFill>
                <a:latin typeface="맑은 고딕"/>
                <a:ea typeface="맑은 고딕"/>
              </a:rPr>
              <a:t>명장과 실제 Data Center 현장 이해</a:t>
            </a:r>
          </a:p>
        </p:txBody>
      </p:sp>
      <p:sp>
        <p:nvSpPr>
          <p:cNvPr id="19" name="P08-asset-frame-IMG11"/>
          <p:cNvSpPr/>
          <p:nvPr/>
        </p:nvSpPr>
        <p:spPr>
          <a:xfrm>
            <a:off x="685800" y="4041648"/>
            <a:ext cx="5276088" cy="1371600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8-asset-instruction-IMG11"/>
          <p:cNvSpPr txBox="1"/>
          <p:nvPr/>
        </p:nvSpPr>
        <p:spPr>
          <a:xfrm>
            <a:off x="868680" y="4151376"/>
            <a:ext cx="491032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3E8C5"/>
                </a:solidFill>
                <a:latin typeface="맑은 고딕"/>
                <a:ea typeface="맑은 고딕"/>
              </a:rPr>
              <a:t>실제 자료 삽입</a:t>
            </a:r>
          </a:p>
        </p:txBody>
      </p:sp>
      <p:sp>
        <p:nvSpPr>
          <p:cNvPr id="21" name="P08-asset-label-IMG11"/>
          <p:cNvSpPr txBox="1"/>
          <p:nvPr/>
        </p:nvSpPr>
        <p:spPr>
          <a:xfrm>
            <a:off x="868680" y="4407408"/>
            <a:ext cx="491032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명장 투어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화성 HPC센터</a:t>
            </a:r>
          </a:p>
        </p:txBody>
      </p:sp>
      <p:sp>
        <p:nvSpPr>
          <p:cNvPr id="22" name="P08-asset-id-IMG11"/>
          <p:cNvSpPr txBox="1"/>
          <p:nvPr/>
        </p:nvSpPr>
        <p:spPr>
          <a:xfrm>
            <a:off x="868680" y="5148072"/>
            <a:ext cx="491032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4C6D4"/>
                </a:solidFill>
                <a:latin typeface="맑은 고딕"/>
                <a:ea typeface="맑은 고딕"/>
              </a:rPr>
              <a:t>IMG11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2770632"/>
            <a:ext cx="5276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C1B3F4"/>
                </a:solidFill>
                <a:latin typeface="맑은 고딕"/>
                <a:ea typeface="맑은 고딕"/>
              </a:rPr>
              <a:t>Job Fair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3218688"/>
            <a:ext cx="527608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6F8F9"/>
                </a:solidFill>
                <a:latin typeface="맑은 고딕"/>
                <a:ea typeface="맑은 고딕"/>
              </a:rPr>
              <a:t>8월 · 11개 부서 부스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7064" y="3639312"/>
            <a:ext cx="52760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4C6D4"/>
                </a:solidFill>
                <a:latin typeface="맑은 고딕"/>
                <a:ea typeface="맑은 고딕"/>
              </a:rPr>
              <a:t>A0 패널로 업무 소개 · 동료에게 질문</a:t>
            </a:r>
          </a:p>
        </p:txBody>
      </p:sp>
      <p:sp>
        <p:nvSpPr>
          <p:cNvPr id="26" name="P08-asset-frame-IMG04"/>
          <p:cNvSpPr/>
          <p:nvPr/>
        </p:nvSpPr>
        <p:spPr>
          <a:xfrm>
            <a:off x="6227064" y="4041648"/>
            <a:ext cx="5276088" cy="1371600"/>
          </a:xfrm>
          <a:prstGeom prst="roundRect">
            <a:avLst/>
          </a:prstGeom>
          <a:solidFill>
            <a:srgbClr val="1B2D3E"/>
          </a:solidFill>
          <a:ln w="12700">
            <a:solidFill>
              <a:srgbClr val="38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08-asset-instruction-IMG04"/>
          <p:cNvSpPr txBox="1"/>
          <p:nvPr/>
        </p:nvSpPr>
        <p:spPr>
          <a:xfrm>
            <a:off x="6409944" y="4151376"/>
            <a:ext cx="491032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3E8C5"/>
                </a:solidFill>
                <a:latin typeface="맑은 고딕"/>
                <a:ea typeface="맑은 고딕"/>
              </a:rPr>
              <a:t>실제 자료 삽입</a:t>
            </a:r>
          </a:p>
        </p:txBody>
      </p:sp>
      <p:sp>
        <p:nvSpPr>
          <p:cNvPr id="28" name="P08-asset-label-IMG04"/>
          <p:cNvSpPr txBox="1"/>
          <p:nvPr/>
        </p:nvSpPr>
        <p:spPr>
          <a:xfrm>
            <a:off x="6409944" y="4407408"/>
            <a:ext cx="4910327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Job Fair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부스와 동료</a:t>
            </a:r>
          </a:p>
        </p:txBody>
      </p:sp>
      <p:sp>
        <p:nvSpPr>
          <p:cNvPr id="29" name="P08-asset-id-IMG04"/>
          <p:cNvSpPr txBox="1"/>
          <p:nvPr/>
        </p:nvSpPr>
        <p:spPr>
          <a:xfrm>
            <a:off x="6409944" y="5148072"/>
            <a:ext cx="491032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4C6D4"/>
                </a:solidFill>
                <a:latin typeface="맑은 고딕"/>
                <a:ea typeface="맑은 고딕"/>
              </a:rPr>
              <a:t>IMG04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559552"/>
            <a:ext cx="1081735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83E8C5"/>
                </a:solidFill>
                <a:latin typeface="맑은 고딕"/>
                <a:ea typeface="맑은 고딕"/>
              </a:rPr>
              <a:t>서로의 일을 알아가는 두 자리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3616" y="44805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P09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FINAL · 누구와 나눌까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이제, 다른 팀의</a:t>
            </a:r>
          </a:p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경험을 듣고 싶습니다.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31520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누구에게 배울까</a:t>
            </a:r>
          </a:p>
        </p:txBody>
      </p:sp>
      <p:sp>
        <p:nvSpPr>
          <p:cNvPr id="10" name="Oval 9"/>
          <p:cNvSpPr/>
          <p:nvPr/>
        </p:nvSpPr>
        <p:spPr>
          <a:xfrm>
            <a:off x="3493008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어떤 일에 도전할까</a:t>
            </a:r>
          </a:p>
        </p:txBody>
      </p:sp>
      <p:sp>
        <p:nvSpPr>
          <p:cNvPr id="12" name="Oval 11"/>
          <p:cNvSpPr/>
          <p:nvPr/>
        </p:nvSpPr>
        <p:spPr>
          <a:xfrm>
            <a:off x="6254496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어떻게 이해할까</a:t>
            </a:r>
          </a:p>
        </p:txBody>
      </p:sp>
      <p:sp>
        <p:nvSpPr>
          <p:cNvPr id="14" name="Oval 13"/>
          <p:cNvSpPr/>
          <p:nvPr/>
        </p:nvSpPr>
        <p:spPr>
          <a:xfrm>
            <a:off x="9015984" y="6336792"/>
            <a:ext cx="100584" cy="100584"/>
          </a:xfrm>
          <a:prstGeom prst="ellipse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26364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6F8F9"/>
                </a:solidFill>
                <a:latin typeface="맑은 고딕"/>
                <a:ea typeface="맑은 고딕"/>
              </a:rPr>
              <a:t>누구와 나눌까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54096"/>
            <a:ext cx="5276088" cy="1618488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481888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83E8C5"/>
                </a:solidFill>
                <a:latin typeface="맑은 고딕"/>
                <a:ea typeface="맑은 고딕"/>
              </a:rPr>
              <a:t>우리는 이렇게 해봤습니다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3054096"/>
            <a:ext cx="5276088" cy="1618488"/>
          </a:xfrm>
          <a:prstGeom prst="roundRect">
            <a:avLst/>
          </a:prstGeom>
          <a:solidFill>
            <a:srgbClr val="1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3447288"/>
            <a:ext cx="481888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1B3F4"/>
                </a:solidFill>
                <a:latin typeface="맑은 고딕"/>
                <a:ea typeface="맑은 고딕"/>
              </a:rPr>
              <a:t>여러분은 어떻게 하시나요?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12080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6F8F9"/>
                </a:solidFill>
                <a:latin typeface="맑은 고딕"/>
                <a:ea typeface="맑은 고딕"/>
              </a:rPr>
              <a:t>같은 문제, 서로 다른 경험을 나누다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3616" y="44805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P10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Data Center팀 · 2026 Learning Fair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AI 4 AI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검토용 초안 · 회사 KV/폰트 수급 후 교체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1081735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>
                <a:solidFill>
                  <a:srgbClr val="83E8C5"/>
                </a:solidFill>
                <a:latin typeface="맑은 고딕"/>
                <a:ea typeface="맑은 고딕"/>
              </a:rPr>
              <a:t>교류하며 함께 성장하다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1081735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0">
                <a:solidFill>
                  <a:srgbClr val="F6F8F9"/>
                </a:solidFill>
                <a:latin typeface="맑은 고딕"/>
                <a:ea typeface="맑은 고딕"/>
              </a:rPr>
              <a:t>기술을 배우고 · 함께 해보고 · 서로의 일을 이해하다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67528"/>
            <a:ext cx="1081735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4C6D4"/>
                </a:solidFill>
                <a:latin typeface="맑은 고딕"/>
                <a:ea typeface="맑은 고딕"/>
              </a:rPr>
              <a:t>Advanced Infrastructure for Artificial Intelligence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3616" y="44805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A01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제작 참고 / 본편 사용 제외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실제 자료를 넣을 자리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검토용 초안 · 회사 KV/폰트 수급 후 교체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52344"/>
            <a:ext cx="108173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4C6D4"/>
                </a:solidFill>
                <a:latin typeface="맑은 고딕"/>
                <a:ea typeface="맑은 고딕"/>
              </a:rPr>
              <a:t>기본 PPTX를 복사해 사진을 넣습니다. 안내 글자·ID는 제출 화면에서 제거합니다.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3E8C5"/>
                </a:solidFill>
                <a:latin typeface="맑은 고딕"/>
                <a:ea typeface="맑은 고딕"/>
              </a:rPr>
              <a:t>P03 · 배움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584448"/>
            <a:ext cx="35844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IMG03 · IMG06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3584448"/>
            <a:ext cx="52303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C6D4"/>
                </a:solidFill>
                <a:latin typeface="맑은 고딕"/>
                <a:ea typeface="맑은 고딕"/>
              </a:rPr>
              <a:t>AI 4 AI 포스터 / DCIS 실제 발표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23944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3E8C5"/>
                </a:solidFill>
                <a:latin typeface="맑은 고딕"/>
                <a:ea typeface="맑은 고딕"/>
              </a:rPr>
              <a:t>P05 · 경험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123944"/>
            <a:ext cx="35844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IMG16 · IMG17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4123944"/>
            <a:ext cx="52303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C6D4"/>
                </a:solidFill>
                <a:latin typeface="맑은 고딕"/>
                <a:ea typeface="맑은 고딕"/>
              </a:rPr>
              <a:t>이관우 GPU 과제 사진 1·2. IAP와 구분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3E8C5"/>
                </a:solidFill>
                <a:latin typeface="맑은 고딕"/>
                <a:ea typeface="맑은 고딕"/>
              </a:rPr>
              <a:t>P06 · 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663440"/>
            <a:ext cx="35844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IMG08 · IMG09 · IMG10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4663440"/>
            <a:ext cx="52303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C6D4"/>
                </a:solidFill>
                <a:latin typeface="맑은 고딕"/>
                <a:ea typeface="맑은 고딕"/>
              </a:rPr>
              <a:t>로그 알림 화면 / 팀 소개 / 담당자 실습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02936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3E8C5"/>
                </a:solidFill>
                <a:latin typeface="맑은 고딕"/>
                <a:ea typeface="맑은 고딕"/>
              </a:rPr>
              <a:t>P08 · 이해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202936"/>
            <a:ext cx="35844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IMG11 · IMG04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5202936"/>
            <a:ext cx="52303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C6D4"/>
                </a:solidFill>
                <a:latin typeface="맑은 고딕"/>
                <a:ea typeface="맑은 고딕"/>
              </a:rPr>
              <a:t>HPC센터 명장 투어 / Job Fair 부스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3616" y="44805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A02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제작 참고 / 본편 사용 제외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선택과 사실을 구분합니다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검토용 초안 · 회사 KV/폰트 수급 후 교체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52344"/>
            <a:ext cx="108173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4C6D4"/>
                </a:solidFill>
                <a:latin typeface="맑은 고딕"/>
                <a:ea typeface="맑은 고딕"/>
              </a:rPr>
              <a:t>팀장님 답변은 촬영용 제안입니다. 다른 선택을 하시면 공개 화면과 연결 대사도 바꿉니다.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3E8C5"/>
                </a:solidFill>
                <a:latin typeface="맑은 고딕"/>
                <a:ea typeface="맑은 고딕"/>
              </a:rPr>
              <a:t>제안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584448"/>
            <a:ext cx="35844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외부 전문가 / 도전 / 현장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3584448"/>
            <a:ext cx="52303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C6D4"/>
                </a:solidFill>
                <a:latin typeface="맑은 고딕"/>
                <a:ea typeface="맑은 고딕"/>
              </a:rPr>
              <a:t>실제 취향·평가·투표 결과가 아님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23944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3E8C5"/>
                </a:solidFill>
                <a:latin typeface="맑은 고딕"/>
                <a:ea typeface="맑은 고딕"/>
              </a:rPr>
              <a:t>팀 역할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123944"/>
            <a:ext cx="35844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DS부문 IT 인프라 제공·운영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4123944"/>
            <a:ext cx="52303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C6D4"/>
                </a:solidFill>
                <a:latin typeface="맑은 고딕"/>
                <a:ea typeface="맑은 고딕"/>
              </a:rPr>
              <a:t>별도 AI 소개에서 역할 설명. 성과 지표로 쓰지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3E8C5"/>
                </a:solidFill>
                <a:latin typeface="맑은 고딕"/>
                <a:ea typeface="맑은 고딕"/>
              </a:rPr>
              <a:t>Tech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663440"/>
            <a:ext cx="35844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6개 과제 · 44명 진행 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4663440"/>
            <a:ext cx="52303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C6D4"/>
                </a:solidFill>
                <a:latin typeface="맑은 고딕"/>
                <a:ea typeface="맑은 고딕"/>
              </a:rPr>
              <a:t>GPU 경험과 IAP는 별개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02936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3E8C5"/>
                </a:solidFill>
                <a:latin typeface="맑은 고딕"/>
                <a:ea typeface="맑은 고딕"/>
              </a:rPr>
              <a:t>IAP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202936"/>
            <a:ext cx="35844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로그 감지 → 메신저 동보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5202936"/>
            <a:ext cx="52303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C6D4"/>
                </a:solidFill>
                <a:latin typeface="맑은 고딕"/>
                <a:ea typeface="맑은 고딕"/>
              </a:rPr>
              <a:t>수작업 대체 사례. 절감률·전면 적용은 미확인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101D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84632"/>
            <a:ext cx="73152" cy="274320"/>
          </a:xfrm>
          <a:prstGeom prst="rect">
            <a:avLst/>
          </a:prstGeom>
          <a:solidFill>
            <a:srgbClr val="83E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5720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2026 LEARNING FAIR  /  DATA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43616" y="44805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83E8C5"/>
                </a:solidFill>
                <a:latin typeface="맑은 고딕"/>
                <a:ea typeface="맑은 고딕"/>
              </a:rPr>
              <a:t>A03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83E8C5"/>
                </a:solidFill>
                <a:latin typeface="맑은 고딕"/>
                <a:ea typeface="맑은 고딕"/>
              </a:rPr>
              <a:t>제작 참고 / 본편 사용 제외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0835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6F8F9"/>
                </a:solidFill>
                <a:latin typeface="맑은 고딕"/>
                <a:ea typeface="맑은 고딕"/>
              </a:rPr>
              <a:t>제출·촬영 일정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6035040"/>
            <a:ext cx="10817352" cy="0"/>
          </a:xfrm>
          <a:prstGeom prst="line">
            <a:avLst/>
          </a:prstGeom>
          <a:ln w="12700">
            <a:solidFill>
              <a:srgbClr val="38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6272784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C6D4"/>
                </a:solidFill>
                <a:latin typeface="맑은 고딕"/>
                <a:ea typeface="맑은 고딕"/>
              </a:rPr>
              <a:t>검토용 초안 · 회사 KV/폰트 수급 후 교체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52344"/>
            <a:ext cx="108173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B4C6D4"/>
                </a:solidFill>
                <a:latin typeface="맑은 고딕"/>
                <a:ea typeface="맑은 고딕"/>
              </a:rPr>
              <a:t>2026-10-11 기준. 예정 행사의 결과는 확인한 뒤 반영합니다.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3E8C5"/>
                </a:solidFill>
                <a:latin typeface="맑은 고딕"/>
                <a:ea typeface="맑은 고딕"/>
              </a:rPr>
              <a:t>10월 12일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584448"/>
            <a:ext cx="35844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OutSystems 세미나 예정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2784" y="3584448"/>
            <a:ext cx="52303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C6D4"/>
                </a:solidFill>
                <a:latin typeface="맑은 고딕"/>
                <a:ea typeface="맑은 고딕"/>
              </a:rPr>
              <a:t>개최 확인 후 상태·자료 갱신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23944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3E8C5"/>
                </a:solidFill>
                <a:latin typeface="맑은 고딕"/>
                <a:ea typeface="맑은 고딕"/>
              </a:rPr>
              <a:t>10월 14일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123944"/>
            <a:ext cx="35844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자료 제출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4123944"/>
            <a:ext cx="52303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C6D4"/>
                </a:solidFill>
                <a:latin typeface="맑은 고딕"/>
                <a:ea typeface="맑은 고딕"/>
              </a:rPr>
              <a:t>16일 최종 발표 결과를 미리 넣지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3E8C5"/>
                </a:solidFill>
                <a:latin typeface="맑은 고딕"/>
                <a:ea typeface="맑은 고딕"/>
              </a:rPr>
              <a:t>10월 16일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663440"/>
            <a:ext cx="35844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Tech X 최종 발표 예정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4663440"/>
            <a:ext cx="52303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C6D4"/>
                </a:solidFill>
                <a:latin typeface="맑은 고딕"/>
                <a:ea typeface="맑은 고딕"/>
              </a:rPr>
              <a:t>프로젝트 완료·시상일로 확정된 날짜가 아님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02936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3E8C5"/>
                </a:solidFill>
                <a:latin typeface="맑은 고딕"/>
                <a:ea typeface="맑은 고딕"/>
              </a:rPr>
              <a:t>10월 19일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202936"/>
            <a:ext cx="358444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6F8F9"/>
                </a:solidFill>
                <a:latin typeface="맑은 고딕"/>
                <a:ea typeface="맑은 고딕"/>
              </a:rPr>
              <a:t>영상 촬영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5202936"/>
            <a:ext cx="52303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4C6D4"/>
                </a:solidFill>
                <a:latin typeface="맑은 고딕"/>
                <a:ea typeface="맑은 고딕"/>
              </a:rPr>
              <a:t>같은 버전의 대본·PPT·자료 큐 사용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4 AI — 세 번의 선택, 함께 성장하는 이유</dc:title>
  <dc:subject/>
  <dc:creator>Data Center팀 교육담당 이관우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