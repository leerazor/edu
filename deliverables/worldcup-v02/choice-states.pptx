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M01 / 선택 전 / winner=tech-x</a:t>
            </a:r>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S04 / 공개 발화: 첫 번째는 Tech X로 가겠습니다.</a:t>
            </a:r>
          </a:p>
          <a:p>
            <a:r>
              <a:t>본편 배정 시간 안에서 교체하는 화면. 추가 장면이나 시간이 아님.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M01 / 선택 후 / winner=tech-x</a:t>
            </a:r>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S04 / 공개 발화: 첫 번째는 Tech X로 가겠습니다.</a:t>
            </a:r>
          </a:p>
          <a:p>
            <a:r>
              <a:t>본편 배정 시간 안에서 교체하는 화면. 추가 장면이나 시간이 아님.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M02 / 선택 전 / winner=dcis</a:t>
            </a:r>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S07 / 공개 발화: 저는 DCIS를 고르겠습니다.</a:t>
            </a:r>
          </a:p>
          <a:p>
            <a:r>
              <a:t>본편 배정 시간 안에서 교체하는 화면. 추가 장면이나 시간이 아님.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M02 / 선택 후 / winner=dcis</a:t>
            </a:r>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S07 / 공개 발화: 저는 DCIS를 고르겠습니다.</a:t>
            </a:r>
          </a:p>
          <a:p>
            <a:r>
              <a:t>본편 배정 시간 안에서 교체하는 화면. 추가 장면이나 시간이 아님.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M03 / 선택 전 / winner=tech-x</a:t>
            </a:r>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S08 / 공개 발화: 저는 Tech X입니다.</a:t>
            </a:r>
          </a:p>
          <a:p>
            <a:r>
              <a:t>본편 배정 시간 안에서 교체하는 화면. 추가 장면이나 시간이 아님.</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M03 / 선택 후 / winner=tech-x</a:t>
            </a:r>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S08 / 공개 발화: 저는 Tech X입니다.</a:t>
            </a:r>
          </a:p>
          <a:p>
            <a:r>
              <a:t>본편 배정 시간 안에서 교체하는 화면. 추가 장면이나 시간이 아님.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241280" y="448056"/>
            <a:ext cx="1261872" cy="320040"/>
          </a:xfrm>
          <a:prstGeom prst="rect">
            <a:avLst/>
          </a:prstGeom>
          <a:noFill/>
        </p:spPr>
        <p:txBody>
          <a:bodyPr wrap="square" lIns="0" rIns="0" tIns="0" bIns="0">
            <a:spAutoFit/>
          </a:bodyPr>
          <a:lstStyle/>
          <a:p>
            <a:pPr algn="r">
              <a:spcAft>
                <a:spcPts val="400"/>
              </a:spcAft>
            </a:pPr>
            <a:r>
              <a:rPr sz="1200" b="1">
                <a:solidFill>
                  <a:srgbClr val="83E8C5"/>
                </a:solidFill>
                <a:latin typeface="맑은 고딕"/>
                <a:ea typeface="맑은 고딕"/>
              </a:rPr>
              <a:t>M01-PRE</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1 · 같은 기준으로 비교</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새로운 기술 vs 함께 해보는 경험</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7" name="Rounded Rectangle 16"/>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AI 4 AI 세미나</a:t>
            </a:r>
          </a:p>
        </p:txBody>
      </p:sp>
      <p:sp>
        <p:nvSpPr>
          <p:cNvPr id="19" name="TextBox 18"/>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외부 전문가의 최신 기술</a:t>
            </a:r>
          </a:p>
        </p:txBody>
      </p:sp>
      <p:sp>
        <p:nvSpPr>
          <p:cNvPr id="20" name="TextBox 19"/>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월 1회 · 녹화·센터원 공유</a:t>
            </a:r>
          </a:p>
        </p:txBody>
      </p:sp>
      <p:sp>
        <p:nvSpPr>
          <p:cNvPr id="21" name="Rounded Rectangle 20"/>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Tech X</a:t>
            </a:r>
          </a:p>
        </p:txBody>
      </p:sp>
      <p:sp>
        <p:nvSpPr>
          <p:cNvPr id="23" name="TextBox 22"/>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다른 부서 과제에 직접 참여</a:t>
            </a:r>
          </a:p>
        </p:txBody>
      </p:sp>
      <p:sp>
        <p:nvSpPr>
          <p:cNvPr id="24" name="TextBox 23"/>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파트별 제안·모집·지원·선발 | 6개·44명</a:t>
            </a:r>
          </a:p>
        </p:txBody>
      </p:sp>
      <p:sp>
        <p:nvSpPr>
          <p:cNvPr id="25" name="TextBox 24"/>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두 사람의 선택 이유를 듣고 추천합니다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241280" y="448056"/>
            <a:ext cx="1261872" cy="320040"/>
          </a:xfrm>
          <a:prstGeom prst="rect">
            <a:avLst/>
          </a:prstGeom>
          <a:noFill/>
        </p:spPr>
        <p:txBody>
          <a:bodyPr wrap="square" lIns="0" rIns="0" tIns="0" bIns="0">
            <a:spAutoFit/>
          </a:bodyPr>
          <a:lstStyle/>
          <a:p>
            <a:pPr algn="r">
              <a:spcAft>
                <a:spcPts val="400"/>
              </a:spcAft>
            </a:pPr>
            <a:r>
              <a:rPr sz="1200" b="1">
                <a:solidFill>
                  <a:srgbClr val="83E8C5"/>
                </a:solidFill>
                <a:latin typeface="맑은 고딕"/>
                <a:ea typeface="맑은 고딕"/>
              </a:rPr>
              <a:t>M01-POST</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1 · 같은 기준으로 비교</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새로운 기술 vs 함께 해보는 경험</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7" name="Rounded Rectangle 16"/>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AI 4 AI 세미나</a:t>
            </a:r>
          </a:p>
        </p:txBody>
      </p:sp>
      <p:sp>
        <p:nvSpPr>
          <p:cNvPr id="19" name="TextBox 18"/>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외부 전문가의 최신 기술</a:t>
            </a:r>
          </a:p>
        </p:txBody>
      </p:sp>
      <p:sp>
        <p:nvSpPr>
          <p:cNvPr id="20" name="TextBox 19"/>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월 1회 · 녹화·센터원 공유</a:t>
            </a:r>
          </a:p>
        </p:txBody>
      </p:sp>
      <p:sp>
        <p:nvSpPr>
          <p:cNvPr id="21" name="Rounded Rectangle 20"/>
          <p:cNvSpPr/>
          <p:nvPr/>
        </p:nvSpPr>
        <p:spPr>
          <a:xfrm>
            <a:off x="6227064" y="3319272"/>
            <a:ext cx="5276088" cy="2039112"/>
          </a:xfrm>
          <a:prstGeom prst="roundRect">
            <a:avLst/>
          </a:prstGeom>
          <a:solidFill>
            <a:srgbClr val="1B2D3E"/>
          </a:solidFill>
          <a:ln w="12700">
            <a:solidFill>
              <a:srgbClr val="83E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Tech X</a:t>
            </a:r>
          </a:p>
        </p:txBody>
      </p:sp>
      <p:sp>
        <p:nvSpPr>
          <p:cNvPr id="23" name="TextBox 22"/>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다른 부서 과제에 직접 참여</a:t>
            </a:r>
          </a:p>
        </p:txBody>
      </p:sp>
      <p:sp>
        <p:nvSpPr>
          <p:cNvPr id="24" name="TextBox 23"/>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파트별 제안·모집·지원·선발 | 6개·44명</a:t>
            </a:r>
          </a:p>
        </p:txBody>
      </p:sp>
      <p:sp>
        <p:nvSpPr>
          <p:cNvPr id="25" name="TextBox 24"/>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2000" b="1">
                <a:solidFill>
                  <a:srgbClr val="83E8C5"/>
                </a:solidFill>
                <a:latin typeface="맑은 고딕"/>
                <a:ea typeface="맑은 고딕"/>
              </a:rPr>
              <a:t>오늘의 추천 · Tech 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241280" y="448056"/>
            <a:ext cx="1261872" cy="320040"/>
          </a:xfrm>
          <a:prstGeom prst="rect">
            <a:avLst/>
          </a:prstGeom>
          <a:noFill/>
        </p:spPr>
        <p:txBody>
          <a:bodyPr wrap="square" lIns="0" rIns="0" tIns="0" bIns="0">
            <a:spAutoFit/>
          </a:bodyPr>
          <a:lstStyle/>
          <a:p>
            <a:pPr algn="r">
              <a:spcAft>
                <a:spcPts val="400"/>
              </a:spcAft>
            </a:pPr>
            <a:r>
              <a:rPr sz="1200" b="1">
                <a:solidFill>
                  <a:srgbClr val="83E8C5"/>
                </a:solidFill>
                <a:latin typeface="맑은 고딕"/>
                <a:ea typeface="맑은 고딕"/>
              </a:rPr>
              <a:t>M02-PRE</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2 · 서로의 업무 이해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직접 만나는 자리 vs 꾸준히 나누는 자리</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7" name="Rounded Rectangle 16"/>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Job Fair</a:t>
            </a:r>
          </a:p>
        </p:txBody>
      </p:sp>
      <p:sp>
        <p:nvSpPr>
          <p:cNvPr id="19" name="TextBox 18"/>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부스에서 동료의 업무 소개</a:t>
            </a:r>
          </a:p>
        </p:txBody>
      </p:sp>
      <p:sp>
        <p:nvSpPr>
          <p:cNvPr id="20" name="TextBox 19"/>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8월 · 11개 부서 · A0 패널</a:t>
            </a:r>
          </a:p>
        </p:txBody>
      </p:sp>
      <p:sp>
        <p:nvSpPr>
          <p:cNvPr id="21" name="Rounded Rectangle 20"/>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23" name="TextBox 22"/>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업무·서비스·연구 기술 공유</a:t>
            </a:r>
          </a:p>
        </p:txBody>
      </p:sp>
      <p:sp>
        <p:nvSpPr>
          <p:cNvPr id="24" name="TextBox 23"/>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월 1회 · 정기적인 내부 교류</a:t>
            </a:r>
          </a:p>
        </p:txBody>
      </p:sp>
      <p:sp>
        <p:nvSpPr>
          <p:cNvPr id="25" name="TextBox 24"/>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두 사람의 선택 이유를 듣고 추천합니다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241280" y="448056"/>
            <a:ext cx="1261872" cy="320040"/>
          </a:xfrm>
          <a:prstGeom prst="rect">
            <a:avLst/>
          </a:prstGeom>
          <a:noFill/>
        </p:spPr>
        <p:txBody>
          <a:bodyPr wrap="square" lIns="0" rIns="0" tIns="0" bIns="0">
            <a:spAutoFit/>
          </a:bodyPr>
          <a:lstStyle/>
          <a:p>
            <a:pPr algn="r">
              <a:spcAft>
                <a:spcPts val="400"/>
              </a:spcAft>
            </a:pPr>
            <a:r>
              <a:rPr sz="1200" b="1">
                <a:solidFill>
                  <a:srgbClr val="83E8C5"/>
                </a:solidFill>
                <a:latin typeface="맑은 고딕"/>
                <a:ea typeface="맑은 고딕"/>
              </a:rPr>
              <a:t>M02-POST</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2 · 서로의 업무 이해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직접 만나는 자리 vs 꾸준히 나누는 자리</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7" name="Rounded Rectangle 16"/>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Job Fair</a:t>
            </a:r>
          </a:p>
        </p:txBody>
      </p:sp>
      <p:sp>
        <p:nvSpPr>
          <p:cNvPr id="19" name="TextBox 18"/>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부스에서 동료의 업무 소개</a:t>
            </a:r>
          </a:p>
        </p:txBody>
      </p:sp>
      <p:sp>
        <p:nvSpPr>
          <p:cNvPr id="20" name="TextBox 19"/>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8월 · 11개 부서 · A0 패널</a:t>
            </a:r>
          </a:p>
        </p:txBody>
      </p:sp>
      <p:sp>
        <p:nvSpPr>
          <p:cNvPr id="21" name="Rounded Rectangle 20"/>
          <p:cNvSpPr/>
          <p:nvPr/>
        </p:nvSpPr>
        <p:spPr>
          <a:xfrm>
            <a:off x="6227064" y="3319272"/>
            <a:ext cx="5276088" cy="2039112"/>
          </a:xfrm>
          <a:prstGeom prst="roundRect">
            <a:avLst/>
          </a:prstGeom>
          <a:solidFill>
            <a:srgbClr val="1B2D3E"/>
          </a:solidFill>
          <a:ln w="12700">
            <a:solidFill>
              <a:srgbClr val="83E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23" name="TextBox 22"/>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업무·서비스·연구 기술 공유</a:t>
            </a:r>
          </a:p>
        </p:txBody>
      </p:sp>
      <p:sp>
        <p:nvSpPr>
          <p:cNvPr id="24" name="TextBox 23"/>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월 1회 · 정기적인 내부 교류</a:t>
            </a:r>
          </a:p>
        </p:txBody>
      </p:sp>
      <p:sp>
        <p:nvSpPr>
          <p:cNvPr id="25" name="TextBox 24"/>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2000" b="1">
                <a:solidFill>
                  <a:srgbClr val="83E8C5"/>
                </a:solidFill>
                <a:latin typeface="맑은 고딕"/>
                <a:ea typeface="맑은 고딕"/>
              </a:rPr>
              <a:t>오늘의 추천 · DCIS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241280" y="448056"/>
            <a:ext cx="1261872" cy="320040"/>
          </a:xfrm>
          <a:prstGeom prst="rect">
            <a:avLst/>
          </a:prstGeom>
          <a:noFill/>
        </p:spPr>
        <p:txBody>
          <a:bodyPr wrap="square" lIns="0" rIns="0" tIns="0" bIns="0">
            <a:spAutoFit/>
          </a:bodyPr>
          <a:lstStyle/>
          <a:p>
            <a:pPr algn="r">
              <a:spcAft>
                <a:spcPts val="400"/>
              </a:spcAft>
            </a:pPr>
            <a:r>
              <a:rPr sz="1200" b="1">
                <a:solidFill>
                  <a:srgbClr val="83E8C5"/>
                </a:solidFill>
                <a:latin typeface="맑은 고딕"/>
                <a:ea typeface="맑은 고딕"/>
              </a:rPr>
              <a:t>M03-PRE</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결승 · 다른 조직이 시작한다면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함께 해보기 vs 꾸준히 알아가기</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0" name="Rounded Rectangle 9"/>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Tech X</a:t>
            </a:r>
          </a:p>
        </p:txBody>
      </p:sp>
      <p:sp>
        <p:nvSpPr>
          <p:cNvPr id="12" name="TextBox 11"/>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관심 과제에 부서 밖 동료 참여</a:t>
            </a:r>
          </a:p>
        </p:txBody>
      </p:sp>
      <p:sp>
        <p:nvSpPr>
          <p:cNvPr id="13" name="TextBox 12"/>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작은 과제 하나부터 시작하는 제안</a:t>
            </a:r>
          </a:p>
        </p:txBody>
      </p:sp>
      <p:sp>
        <p:nvSpPr>
          <p:cNvPr id="14" name="Rounded Rectangle 13"/>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16" name="TextBox 15"/>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서로의 업무를 정기적으로 공유</a:t>
            </a:r>
          </a:p>
        </p:txBody>
      </p:sp>
      <p:sp>
        <p:nvSpPr>
          <p:cNvPr id="17" name="TextBox 16"/>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동료의 일을 이해하는 기회</a:t>
            </a:r>
          </a:p>
        </p:txBody>
      </p:sp>
      <p:sp>
        <p:nvSpPr>
          <p:cNvPr id="18" name="TextBox 17"/>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두 사람의 선택 이유를 듣고 추천합니다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241280" y="448056"/>
            <a:ext cx="1261872" cy="320040"/>
          </a:xfrm>
          <a:prstGeom prst="rect">
            <a:avLst/>
          </a:prstGeom>
          <a:noFill/>
        </p:spPr>
        <p:txBody>
          <a:bodyPr wrap="square" lIns="0" rIns="0" tIns="0" bIns="0">
            <a:spAutoFit/>
          </a:bodyPr>
          <a:lstStyle/>
          <a:p>
            <a:pPr algn="r">
              <a:spcAft>
                <a:spcPts val="400"/>
              </a:spcAft>
            </a:pPr>
            <a:r>
              <a:rPr sz="1200" b="1">
                <a:solidFill>
                  <a:srgbClr val="83E8C5"/>
                </a:solidFill>
                <a:latin typeface="맑은 고딕"/>
                <a:ea typeface="맑은 고딕"/>
              </a:rPr>
              <a:t>M03-POST</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결승 · 다른 조직이 시작한다면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함께 해보기 vs 꾸준히 알아가기</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0" name="Rounded Rectangle 9"/>
          <p:cNvSpPr/>
          <p:nvPr/>
        </p:nvSpPr>
        <p:spPr>
          <a:xfrm>
            <a:off x="685800" y="3319272"/>
            <a:ext cx="5276088" cy="2039112"/>
          </a:xfrm>
          <a:prstGeom prst="roundRect">
            <a:avLst/>
          </a:prstGeom>
          <a:solidFill>
            <a:srgbClr val="1B2D3E"/>
          </a:solidFill>
          <a:ln w="12700">
            <a:solidFill>
              <a:srgbClr val="83E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Tech X</a:t>
            </a:r>
          </a:p>
        </p:txBody>
      </p:sp>
      <p:sp>
        <p:nvSpPr>
          <p:cNvPr id="12" name="TextBox 11"/>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관심 과제에 부서 밖 동료 참여</a:t>
            </a:r>
          </a:p>
        </p:txBody>
      </p:sp>
      <p:sp>
        <p:nvSpPr>
          <p:cNvPr id="13" name="TextBox 12"/>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작은 과제 하나부터 시작하는 제안</a:t>
            </a:r>
          </a:p>
        </p:txBody>
      </p:sp>
      <p:sp>
        <p:nvSpPr>
          <p:cNvPr id="14" name="Rounded Rectangle 13"/>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16" name="TextBox 15"/>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서로의 업무를 정기적으로 공유</a:t>
            </a:r>
          </a:p>
        </p:txBody>
      </p:sp>
      <p:sp>
        <p:nvSpPr>
          <p:cNvPr id="17" name="TextBox 16"/>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동료의 일을 이해하는 기회</a:t>
            </a:r>
          </a:p>
        </p:txBody>
      </p:sp>
      <p:sp>
        <p:nvSpPr>
          <p:cNvPr id="18" name="TextBox 17"/>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2000" b="1">
                <a:solidFill>
                  <a:srgbClr val="83E8C5"/>
                </a:solidFill>
                <a:latin typeface="맑은 고딕"/>
                <a:ea typeface="맑은 고딕"/>
              </a:rPr>
              <a:t>오늘의 추천 · Tech 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성장 월드컵 · 경기별 선택 전후 화면</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