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00:20–00:50</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오늘은 배움 월드컵입니다</a:t>
            </a:r>
          </a:p>
          <a:p>
            <a:r>
              <a:t>P01 등장. 타이틀과 공통 기준 표시. 오른쪽 약 160명, 본문 AI 인프라·운영 역할 표시. 선택은 두 출연자의 촬영용 추천안임을 제작 문서에 명시.</a:t>
            </a:r>
          </a:p>
          <a:p>
            <a:r>
              <a:t>촬영: 2인 풀샷 인사 → 류경동 팀장 클로스업 → 이관우 교육담당과 2인 분할 → 공통 기준 장표</a:t>
            </a:r>
          </a:p>
          <a:p>
            <a:r>
              <a:t>원본: IMG01</a:t>
            </a:r>
          </a:p>
          <a:p>
            <a:r>
              <a:t>스크립트:</a:t>
            </a:r>
          </a:p>
          <a:p>
            <a:r>
              <a:t>류경동 팀장 · 이관우 교육담당: 안녕하세요. Data Center팀입니다.</a:t>
            </a:r>
          </a:p>
          <a:p>
            <a:r>
              <a:t>류경동 팀장: 우리는 AI를 위한 인프라를 제공하고 운영합니다.</a:t>
            </a:r>
          </a:p>
          <a:p>
            <a:r>
              <a:t>이관우 교육담당: [P01 등장] 오늘은 배움 월드컵입니다. 다른 조직에 권하고 싶은 교류 방식은? 서로 이유를 듣고, 함께 골라보겠습니다.</a:t>
            </a:r>
          </a:p>
          <a:p>
            <a:r>
              <a:t>류경동 팀장: 저는 배운 걸 동료와 함께 써보는 경험도 중요하게 봅니다.</a:t>
            </a:r>
          </a:p>
          <a:p>
            <a:r>
              <a:t>공통 기준을 2초 읽을 시간을 둔다. 서로 이유를 듣고 합의한 한 후보를 진출시키는 방식이다. 실제 조사·투표 결과로 포장하지 않는다. AI 제공·활용의 두 역할은 P01의 소개와 P06 대표 사례, P10 마무리에 연결한다.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00:50–01:07</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첫 경기는 AI 4 AI 세미나</a:t>
            </a:r>
          </a:p>
          <a:p>
            <a:r>
              <a:t>P02 등장. 네 후보와 두 준결승 대진을 표시. 결승 칸은 비워두고 우승자를 미리 보여주지 않음.</a:t>
            </a:r>
          </a:p>
          <a:p>
            <a:r>
              <a:t>촬영: 이관우 교육담당 정면 → 대진표 전체 화면 → 류경동 팀장 연결샷</a:t>
            </a:r>
          </a:p>
          <a:p>
            <a:r>
              <a:t>원본: 키워드·도식</a:t>
            </a:r>
          </a:p>
          <a:p>
            <a:r>
              <a:t>스크립트:</a:t>
            </a:r>
          </a:p>
          <a:p>
            <a:r>
              <a:t>이관우 교육담당: [P02 등장] 첫 경기는 AI 4 AI 세미나 대 Job Fair, 두 번째는 명장 투어 대 Tech X입니다.</a:t>
            </a:r>
          </a:p>
          <a:p>
            <a:r>
              <a:t>류경동 팀장: 결승에 올릴 두 후보, 하나씩 골라볼까요?</a:t>
            </a:r>
          </a:p>
          <a:p>
            <a:r>
              <a:t>대진표를 2초 안정적으로 유지. IAP와 DCIS는 독립 후보가 아니다. 후보와 승자 ID는 tournament 메타를 참조.</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01:07–01:50</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AI 4 AI는 AI를 위한 인프라라는</a:t>
            </a:r>
          </a:p>
          <a:p>
            <a:r>
              <a:t>P03 등장. AI 4 AI 세미나와 Job Fair 비교 카드. 세미나 쪽에 공식 영문 확장명 Advanced Infrastructure for Artificial Intelligence 표시. 두 방식의 대상과 역할을 구분.</a:t>
            </a:r>
          </a:p>
          <a:p>
            <a:r>
              <a:t>촬영: 교육담당 클로스업 → 외부 세미나 사진 IMG02·03 → 팀장님 질문 → Job Fair 실제 부스 사진 IMG04·05 → 2인샷</a:t>
            </a:r>
          </a:p>
          <a:p>
            <a:r>
              <a:t>원본: IMG02, IMG03, IMG04, IMG05</a:t>
            </a:r>
          </a:p>
          <a:p>
            <a:r>
              <a:t>스크립트:</a:t>
            </a:r>
          </a:p>
          <a:p>
            <a:r>
              <a:t>이관우 교육담당: [P03 등장] AI 4 AI는 AI를 위한 인프라라는 뜻입니다. 삼월부터 매달 외부 전문가와 배우고, 녹화본을 센터원에게 공유합니다. 저는 녹화로 다시 배울 수 있다는 점에 한 표요.</a:t>
            </a:r>
          </a:p>
          <a:p>
            <a:r>
              <a:t>류경동 팀장: 밖의 관점이 들어오는 기회군요. 협업하는 부서의 일은 어떻게 알아볼까요?</a:t>
            </a:r>
          </a:p>
          <a:p>
            <a:r>
              <a:t>이관우 교육담당: [P03 Job Fair 비교 카드 / IMG04·IMG05] Job Fair입니다. 팔월, 11개 부서가 부스를 열고 판넬로 각자의 업무를 소개했습니다.</a:t>
            </a:r>
          </a:p>
          <a:p>
            <a:r>
              <a:t>류경동 팀장: 동료에게 궁금했던 일을 직접 물어볼 수 있겠네요.</a:t>
            </a:r>
          </a:p>
          <a:p>
            <a:r>
              <a:t>추가 큐: Job Fair입니다 / P03 Job Fair 비교 카드 / IMG04·IMG05 / 다른 부서의 업무 소개 카드와 실제 부스·판넬 사진으로 전환. 후보명 외에 우열 표시는 없음.</a:t>
            </a:r>
          </a:p>
          <a:p>
            <a:r>
              <a:t>비교는 동일 기준 안에서 진행. 전체 160명 참석·센터원 2천 명 참석 등 미확인 숫자는 말하지 않는다. 10월 세미나 사진·목록은 예정 상태를 확인하고 완료 사례로 사용하지 않는다. 사진은 발화 중에 삽입하며 43초 안에 포함. 교육담당의 한 표는 현재 기준을 놓고 말하는 촬영용 추천 의견이며 실제 선호 조사나 과거 투표 사실이 아니다.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01:50–02:14</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이번에는 Job Fair를 고르겠습니다</a:t>
            </a:r>
          </a:p>
          <a:p>
            <a:r>
              <a:t>P04 등장. Job Fair 카드에 결승 진출 표시 후 대진표 첫 결승 칸으로 이동. 선택 이유: 동료의 업무를 함께 펼쳐보기. 별도 DCIS 카드로 월례 교류를 설명.</a:t>
            </a:r>
          </a:p>
          <a:p>
            <a:r>
              <a:t>촬영: 류경동 팀장 정면 선택 → 대진표 진출 표시 → 이관우 교육담당 클로스업 → DCIS 자료 IMG06</a:t>
            </a:r>
          </a:p>
          <a:p>
            <a:r>
              <a:t>원본: IMG04, IMG05, IMG06</a:t>
            </a:r>
          </a:p>
          <a:p>
            <a:r>
              <a:t>스크립트:</a:t>
            </a:r>
          </a:p>
          <a:p>
            <a:r>
              <a:t>류경동 팀장: [P04 등장] 이번에는 Job Fair를 고르겠습니다. 동료의 업무를 함께 펼쳐보는 교류를 다른 조직에도 권하고 싶습니다.</a:t>
            </a:r>
          </a:p>
          <a:p>
            <a:r>
              <a:t>이관우 교육담당: 좋습니다. Job Fair 진출입니다. [P04 DCIS 기존 월례 활동 / IMG06] 월례 DCIS에서도 주요 업무와 서비스, 연구 기술을 나눕니다.</a:t>
            </a:r>
          </a:p>
          <a:p>
            <a:r>
              <a:t>추가 큐: 월례 DCIS에서도 주요 업무와 / P04 DCIS 기존 월례 활동 / IMG06 / 주요 업무 / 서비스 / 연구 기술 카드와 월 1회 표기. 두 행사는 별개임을 화면에서도 유지.</a:t>
            </a:r>
          </a:p>
          <a:p>
            <a:r>
              <a:t>진출 표시 1초. AI 4 AI 세미나 카드는 축소해 남기며 파괴·탈락자 조롱 효과를 쓰지 않는다. DCIS가 Job Fair 이후 만들어졌다는 인과·연대기 금지.</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02:14–02:56</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명장 투어와 Tech X입니다</a:t>
            </a:r>
          </a:p>
          <a:p>
            <a:r>
              <a:t>P05 등장. 명장 투어 / Tech X 비교 카드. 명장 투어에 7월·8명·화성 HPC센터, Tech X에 6개 프로젝트·44명 참여 중 표기.</a:t>
            </a:r>
          </a:p>
          <a:p>
            <a:r>
              <a:t>촬영: 이관우 교육담당 정면 → 명장 투어 실제 사진 IMG11·12 → 류경동 팀장 질문 → Tech X 모집·과제·참여 자료 IMG07 → 2인샷</a:t>
            </a:r>
          </a:p>
          <a:p>
            <a:r>
              <a:t>원본: IMG11, IMG12, IMG07</a:t>
            </a:r>
          </a:p>
          <a:p>
            <a:r>
              <a:t>스크립트:</a:t>
            </a:r>
          </a:p>
          <a:p>
            <a:r>
              <a:t>이관우 교육담당: [P05 등장] 명장 투어와 Tech X입니다. 칠월, 동료 8명이 명장님과 화성 HPC센터에서 수냉식 서버와 공냉식 서버랙을 봤습니다.</a:t>
            </a:r>
          </a:p>
          <a:p>
            <a:r>
              <a:t>류경동 팀장: 직접 보고 배우는 경험이군요. 다른 부서의 일도 함께 해볼 수 있나요?</a:t>
            </a:r>
          </a:p>
          <a:p>
            <a:r>
              <a:t>이관우 교육담당: [P05 Tech X 공동 참여 / IMG07] Tech X는 다른 부서의 관심 프로젝트에 참여합니다. 지금 6개 프로젝트에 44명이 함께하고 있습니다.</a:t>
            </a:r>
          </a:p>
          <a:p>
            <a:r>
              <a:t>류경동 팀장: 교육이 함께 시도하는 자리까지 넓어지는군요.</a:t>
            </a:r>
          </a:p>
          <a:p>
            <a:r>
              <a:t>추가 큐: Tech X는 다른 부서의 / P05 Tech X 공동 참여 / IMG07 / 다른 부서 프로젝트에 참여하는 카드와 6개 / 44명 표시. 실제 부서 조합·참여자 명단은 원본 없이 창작하지 않음.</a:t>
            </a:r>
          </a:p>
          <a:p>
            <a:r>
              <a:t>투어는 시험 중 수냉식 서버와 공냉식 서버랙을 경험한 사용자 제공 활동. 시험 설비를 전면 상용 운영으로 표현하지 않는다. 사진 전환과 비교 카드 읽기 시간을 42초 안에 포함. 두 프로그램의 발생 인과를 만들지 않는다.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02:56–03:36</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IAP는 팀 주요 미션이</a:t>
            </a:r>
          </a:p>
          <a:p>
            <a:r>
              <a:t>P06 등장. 상단 Tech X 대표 사례 표기. IAP / Infra Agent Platform 명칭과 주요 미션 승격·운영 도입. 로그 패턴 감지 → 정형 메시지 → 메신저 동보의 편집 가능한 기능 도식. 확대는 목표로 표기.</a:t>
            </a:r>
          </a:p>
          <a:p>
            <a:r>
              <a:t>촬영: 류경동 팀장 사례 제안 → 이관우 교육담당 설명 → 기능 도식과 승인 IMG08 화면 → 팀장님 학습·활용 발화 → 6월 소개·7월 실습 사진 IMG09·10</a:t>
            </a:r>
          </a:p>
          <a:p>
            <a:r>
              <a:t>원본: IMG08, IMG09, IMG10</a:t>
            </a:r>
          </a:p>
          <a:p>
            <a:r>
              <a:t>스크립트:</a:t>
            </a:r>
          </a:p>
          <a:p>
            <a:r>
              <a:t>류경동 팀장: 현업에 쓴 사례도 볼까요?</a:t>
            </a:r>
          </a:p>
          <a:p>
            <a:r>
              <a:t>이관우 교육담당: [P06 등장] IAP는 팀 주요 미션이 돼 운영에 도입됐습니다. [P06 현재 운영 기능 / IMG08] 서버 로그의 특정 패턴을 감지해 정해진 형식으로 메신저에 동보합니다. 사람이 하던 일을 대신하죠.</a:t>
            </a:r>
          </a:p>
          <a:p>
            <a:r>
              <a:t>류경동 팀장: 쓸 동료들도 함께 배워야겠네요.</a:t>
            </a:r>
          </a:p>
          <a:p>
            <a:r>
              <a:t>이관우 교육담당: [P06 팀 소개·실무 실습 / IMG09·IMG10] 6월 팀 소개에 이어, 7월엔 부서별 에이전트를 등록할 실무 담당자 25명과 실습했습니다. [P06 확대 목표] 인프라 전반으로도 넓히려 합니다.</a:t>
            </a:r>
          </a:p>
          <a:p>
            <a:r>
              <a:t>추가 큐: 서버 로그의 특정 패턴을 감지해 / P06 현재 운영 기능 / IMG08 / 패턴 감지 / 정형 메시지 / 메신저 동보 순차 강조. 실제 알림 화면이 없으면 도식 유지.</a:t>
            </a:r>
          </a:p>
          <a:p>
            <a:r>
              <a:t>추가 큐: 6월 팀 소개에 이어 / P06 팀 소개·실무 실습 / IMG09·IMG10 / 6월 팀 소개 → 7월 실무 담당자 25명 실습. 전원 등록 완료·효과 측정 결과로 확대하지 않음.</a:t>
            </a:r>
          </a:p>
          <a:p>
            <a:r>
              <a:t>추가 큐: 인프라 전반으로도 넓히려 / P06 확대 목표 / 확대 목표: 팀 관장 인프라 전반을 별도 보조 문구로 표시.</a:t>
            </a:r>
          </a:p>
          <a:p>
            <a:r>
              <a:t>IAP는 후보·우승자가 아니다. 이 40초 안에서 현재 자동 감지·정형 메시지·동보 처리와 기존 수작업 대체, 소개·실습을 모두 설명한다. 근본 원인 분석·복구·절감시간 창작 금지. 실제 화면과 사진은 발화 중 전환하며 추가 시간으로 붙이지 않는다. 인프라 전반 적용은 확대 목표다.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03:36–03:56</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Tech X를 고르겠습니다</a:t>
            </a:r>
          </a:p>
          <a:p>
            <a:r>
              <a:t>P07 등장. Tech X 카드에 결승 진출 표시 후 대진표 두 번째 결승 칸으로 이동. 추천 근거는 관심 있는 공동 과제에 참여하는 교류의 방식.</a:t>
            </a:r>
          </a:p>
          <a:p>
            <a:r>
              <a:t>촬영: 이관우 교육담당 질문 → 류경동 팀장 정면 선택 → 진출 표시 → 2인샷</a:t>
            </a:r>
          </a:p>
          <a:p>
            <a:r>
              <a:t>원본: IMG07</a:t>
            </a:r>
          </a:p>
          <a:p>
            <a:r>
              <a:t>스크립트:</a:t>
            </a:r>
          </a:p>
          <a:p>
            <a:r>
              <a:t>이관우 교육담당: 현장 경험과 공동 참여, 어느 교류를 권하고 싶으세요?</a:t>
            </a:r>
          </a:p>
          <a:p>
            <a:r>
              <a:t>류경동 팀장: [P07 등장] Tech X를 고르겠습니다. 관심 있는 일을 동료와 함께 해보는 기회를, 다른 조직에도 열어보면 좋겠습니다.</a:t>
            </a:r>
          </a:p>
          <a:p>
            <a:r>
              <a:t>명장 투어의 현장 학습 가치를 지우지 않는다. 선정 근거는 IAP 한 사례의 기술력만이 아니라 구성원의 관심·공동 참여 기회다. 타 조직 적용은 권유이며 실적이 아니다.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03:56–04:20</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결승입니다</a:t>
            </a:r>
          </a:p>
          <a:p>
            <a:r>
              <a:t>P08 선택 전 컷으로 등장. deliverables/worldcup/choice-states.pptx 1쪽 또는 choice-preview/slide-01.png 사용. Job Fair와 Tech X를 같은 크기로 표시하고 우승 배지·선택 이유는 숨김. 본편 P08 완성 장표를 이 시점에 바로 띄우지 않음.</a:t>
            </a:r>
          </a:p>
          <a:p>
            <a:r>
              <a:t>촬영: 2인 풀샷 → 이관우 교육담당 정면 → P08 선택 전 컷(choice-preview/slide-01.png) → 류경동 팀장 선택 → P08 선택 후 본편 장표 또는 choice-preview/slide-02.png → 2인샷</a:t>
            </a:r>
          </a:p>
          <a:p>
            <a:r>
              <a:t>원본: IMG04, IMG07</a:t>
            </a:r>
          </a:p>
          <a:p>
            <a:r>
              <a:t>스크립트:</a:t>
            </a:r>
          </a:p>
          <a:p>
            <a:r>
              <a:t>이관우 교육담당: [P08 등장] 결승입니다. Job Fair 대 Tech X, 다른 조직에 권할 교류는요?</a:t>
            </a:r>
          </a:p>
          <a:p>
            <a:r>
              <a:t>류경동 팀장: [P08 선택 후 / 최종 추천] 저는 Tech X입니다. 동료와 함께 새로운 일을 시도하는 교류를 권하고 싶습니다. Job Fair도 좋은 출발점이고요.</a:t>
            </a:r>
          </a:p>
          <a:p>
            <a:r>
              <a:t>이관우 교육담당: 저도 함께 해볼 기회에 한 표입니다.</a:t>
            </a:r>
          </a:p>
          <a:p>
            <a:r>
              <a:t>추가 큐: 저는 Tech X입니다 / P08 선택 후 / 최종 추천 / 저는 Tech X입니다 발화에서 본편 P08 완성 장표 또는 deliverables/worldcup/choice-states.pptx 2쪽 / choice-preview/slide-02.png로 교체. Tech X 우승 배지와 새로운 일에 공동 참여 선택 이유 표시. 선택 전·후 컷은 같은 24초 안의 교체이며 추가 러닝타임이 아님.</a:t>
            </a:r>
          </a:p>
          <a:p>
            <a:r>
              <a:t>선택 전 컷을 유지하다가 저는 Tech X입니다 발화에서 선택 후 컷으로 교체한다. 짧은 선택 호흡 1초, 우승 배지 홀드 1초는 같은 24초 안에 포함. 촬영용 선택이며 조사 결과·임직원 선호 1위·학습 효과 1위로 표현하지 않는다. Job Fair를 지우거나 조롱하지 않는다. IAP를 우승 후보로 대체하지 않는다. 교육담당의 동의와 한 표 역시 촬영용 선택 대사다.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04:20–04:40</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다른 조직이라면, 무엇부터</a:t>
            </a:r>
          </a:p>
          <a:p>
            <a:r>
              <a:t>P09 등장. 타 조직 시작 제안 세 카드: 작은 과제 열기 → 관심 있는 동료와 함께하기 → 경험과 배운 점 공유. 실제 확산 실적·조사 결과 표시는 없음.</a:t>
            </a:r>
          </a:p>
          <a:p>
            <a:r>
              <a:t>촬영: 류경동 팀장 질문 → 이관우 교육담당 정면 → 시작 제안 세 카드 전체 화면 → 2인 연결샷</a:t>
            </a:r>
          </a:p>
          <a:p>
            <a:r>
              <a:t>원본: 키워드·도식</a:t>
            </a:r>
          </a:p>
          <a:p>
            <a:r>
              <a:t>스크립트:</a:t>
            </a:r>
          </a:p>
          <a:p>
            <a:r>
              <a:t>류경동 팀장: [P09 등장] 다른 조직이라면, 무엇부터 시작할까요?</a:t>
            </a:r>
          </a:p>
          <a:p>
            <a:r>
              <a:t>이관우 교육담당: [P09 시작 제안 단계] 도움이 필요한 작은 과제를 열고, 관심 있는 다른 부서 동료와 함께해 보세요. 경험과 배운 점을 다시 나누는 것까지 제안합니다.</a:t>
            </a:r>
          </a:p>
          <a:p>
            <a:r>
              <a:t>추가 큐: 도움이 필요한 작은 과제를 열고 / P09 시작 제안 단계 / 작은 과제 열기 / 동료와 함께하기 / 다시 공유 카드 순차 표시. IAP 도입을 전제 조건으로 만들지 않음.</a:t>
            </a:r>
          </a:p>
          <a:p>
            <a:r>
              <a:t>다른 조직의 시작 방식은 제안이며 실제 도입·확산 성과가 아니다. 사례 설명·녹화 공유는 앞 장면과 반복하지 않고 실행 제안에 집중한다.</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04:40–04:55</a:t>
            </a:r>
          </a:p>
          <a:p>
            <a:r>
              <a:t>제작자가 구성한 촬영용 선택안이다. 실제 조사·투표·확정된 개인 취향이나 팀 공식 평가가 아니다. 과거 참석·지시 사실을 나타내지 않는다. 두 출연자는 같은 기준을 놓고 현재 시점에 비교·선택하는 대사를 연기한다. 진출은 해당 기준에서의 추천이며 다른 프로그램의 열등함이나 교육 효과 순위를 뜻하지 않는다. 실제 출연자의 표현과 선택 이유는 리허설에서 검토한다. IAP는 후보가 아니라 Tech X의 대표 사례다.</a:t>
            </a:r>
          </a:p>
          <a:p>
            <a:r>
              <a:t>자료 등장: AI의 기반을 만들고</a:t>
            </a:r>
          </a:p>
          <a:p>
            <a:r>
              <a:t>P10 등장. AI 4 AI 타이틀과 서로 배우고 / 함께 경험하고 / 다시 나누다. 우승자보다 교육문화 전체를 마지막 화면에 남김.</a:t>
            </a:r>
          </a:p>
          <a:p>
            <a:r>
              <a:t>촬영: 류경동 팀장 클로스업 → 이관우 교육담당 클로스업 → 마지막 공동 인사 2인 풀샷 → 타이틀 홀드</a:t>
            </a:r>
          </a:p>
          <a:p>
            <a:r>
              <a:t>원본: 키워드·도식</a:t>
            </a:r>
          </a:p>
          <a:p>
            <a:r>
              <a:t>스크립트:</a:t>
            </a:r>
          </a:p>
          <a:p>
            <a:r>
              <a:t>류경동 팀장: [P10 등장] AI의 기반을 만들고, AI로 일하는 방식을 바꾸는 팀.</a:t>
            </a:r>
          </a:p>
          <a:p>
            <a:r>
              <a:t>이관우 교육담당: 함께 배우며 성장합니다.</a:t>
            </a:r>
          </a:p>
          <a:p>
            <a:r>
              <a:t>류경동 팀장 · 이관우 교육담당: AI 4 AI. 감사합니다.</a:t>
            </a:r>
          </a:p>
          <a:p>
            <a:r>
              <a:t>마지막 공동 발화 블록만 동시 발화. 04:55 회사 제공 아웃트로로 전환. IAP·Tech X만이 교육문화 전부라는 인상을 만들지 않음.</a:t>
            </a:r>
          </a:p>
          <a:p>
            <a:r>
              <a:t>현재 PPTX 애니메이션 없음. 모션은 영상팀 편집 지시.</a:t>
            </a:r>
          </a:p>
          <a:p>
            <a:r>
              <a:t>출처: 사용자 브리프·추가 확인. 사실 기준 docs/03-facts-and-assets.md. 원본 미수급 시 현재 키워드 화면 사용.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사용자 브리프·추가 확인. 10월 미개최 상태는 개최 확인 후에만 갱신. IMG03 포스터와 대조. 본편 제외.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원본 수집 목록 docs/03-facts-and-assets.md. 실제 내부 사진은 아직 없음. 공개 가능한 자료를 받고 민감정보를 가린 뒤 편집. 원본이 없으면 본편 키워드 도식 사용. 원본 코드의 장표 번호는 이 월드컵 버전의 매핑을 우선한다.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촬영용 선택안. 실제 선호를 확인하지 않았으므로 리허설에서 두 출연자가 판단을 검토한다. 모션 0.4초 및 홀드 1초는 각 장면 시간에 포함. 탈락 후보는 원래 가치를 유지하며 비하·폭발·가짜 점수 없이 처리. 기존docs/13-selection-show-format.md는 형식 비교 배경.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P01</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오늘의 질문</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AI 4 AI · 우리 팀 배움 월드컵</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조직에 권하고 싶은 교류 방식은?</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TextBox 10"/>
          <p:cNvSpPr txBox="1"/>
          <p:nvPr/>
        </p:nvSpPr>
        <p:spPr>
          <a:xfrm>
            <a:off x="685800" y="3310128"/>
            <a:ext cx="6583680" cy="1280160"/>
          </a:xfrm>
          <a:prstGeom prst="rect">
            <a:avLst/>
          </a:prstGeom>
          <a:noFill/>
        </p:spPr>
        <p:txBody>
          <a:bodyPr wrap="square" lIns="0" rIns="0" tIns="0" bIns="0">
            <a:spAutoFit/>
          </a:bodyPr>
          <a:lstStyle/>
          <a:p>
            <a:pPr algn="l">
              <a:spcAft>
                <a:spcPts val="400"/>
              </a:spcAft>
            </a:pPr>
            <a:r>
              <a:rPr sz="2800" b="1">
                <a:solidFill>
                  <a:srgbClr val="F6F8F9"/>
                </a:solidFill>
                <a:latin typeface="맑은 고딕"/>
                <a:ea typeface="맑은 고딕"/>
              </a:rPr>
              <a:t>AI를 위한 인프라를 만들고,</a:t>
            </a:r>
          </a:p>
          <a:p>
            <a:pPr algn="l">
              <a:spcAft>
                <a:spcPts val="400"/>
              </a:spcAft>
            </a:pPr>
            <a:r>
              <a:rPr sz="2800" b="1">
                <a:solidFill>
                  <a:srgbClr val="F6F8F9"/>
                </a:solidFill>
                <a:latin typeface="맑은 고딕"/>
                <a:ea typeface="맑은 고딕"/>
              </a:rPr>
              <a:t>AI로 운영을 발전시키는 팀.</a:t>
            </a:r>
          </a:p>
        </p:txBody>
      </p:sp>
      <p:sp>
        <p:nvSpPr>
          <p:cNvPr id="12" name="Rounded Rectangle 11"/>
          <p:cNvSpPr/>
          <p:nvPr/>
        </p:nvSpPr>
        <p:spPr>
          <a:xfrm>
            <a:off x="8229600" y="3273552"/>
            <a:ext cx="3255264" cy="167335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67344" y="3511296"/>
            <a:ext cx="2779776" cy="594360"/>
          </a:xfrm>
          <a:prstGeom prst="rect">
            <a:avLst/>
          </a:prstGeom>
          <a:noFill/>
        </p:spPr>
        <p:txBody>
          <a:bodyPr wrap="square" lIns="0" rIns="0" tIns="0" bIns="0">
            <a:spAutoFit/>
          </a:bodyPr>
          <a:lstStyle/>
          <a:p>
            <a:pPr algn="l">
              <a:spcAft>
                <a:spcPts val="400"/>
              </a:spcAft>
            </a:pPr>
            <a:r>
              <a:rPr sz="3400" b="1">
                <a:solidFill>
                  <a:srgbClr val="83E8C5"/>
                </a:solidFill>
                <a:latin typeface="맑은 고딕"/>
                <a:ea typeface="맑은 고딕"/>
              </a:rPr>
              <a:t>약 160명</a:t>
            </a:r>
          </a:p>
        </p:txBody>
      </p:sp>
      <p:sp>
        <p:nvSpPr>
          <p:cNvPr id="14" name="TextBox 13"/>
          <p:cNvSpPr txBox="1"/>
          <p:nvPr/>
        </p:nvSpPr>
        <p:spPr>
          <a:xfrm>
            <a:off x="8467344" y="4306824"/>
            <a:ext cx="2779776" cy="475488"/>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서버 · 클라우드 구축과 운영</a:t>
            </a:r>
          </a:p>
        </p:txBody>
      </p:sp>
      <p:sp>
        <p:nvSpPr>
          <p:cNvPr id="15" name="TextBox 14"/>
          <p:cNvSpPr txBox="1"/>
          <p:nvPr/>
        </p:nvSpPr>
        <p:spPr>
          <a:xfrm>
            <a:off x="685800" y="5349240"/>
            <a:ext cx="10698480" cy="45720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우리의 성장 방식은, 서로 배우는 것에서 시작합니다.</a:t>
            </a:r>
          </a:p>
        </p:txBody>
      </p:sp>
      <p:sp>
        <p:nvSpPr>
          <p:cNvPr id="16" name="TextBox 15"/>
          <p:cNvSpPr txBox="1"/>
          <p:nvPr/>
        </p:nvSpPr>
        <p:spPr>
          <a:xfrm>
            <a:off x="685800" y="5852160"/>
            <a:ext cx="10698480" cy="237744"/>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Advanced Infrastructure for Artificial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P02</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대진표 / 4가지 교류 경험</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세 번의 선택, 하나의 추천</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조직에 권하고 싶은 교류 방식은?</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127248"/>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227832"/>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AI 4 AI 세미나</a:t>
            </a:r>
          </a:p>
        </p:txBody>
      </p:sp>
      <p:sp>
        <p:nvSpPr>
          <p:cNvPr id="13" name="Rounded Rectangle 12"/>
          <p:cNvSpPr/>
          <p:nvPr/>
        </p:nvSpPr>
        <p:spPr>
          <a:xfrm>
            <a:off x="685800" y="3767328"/>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3867912"/>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Job Fair</a:t>
            </a:r>
          </a:p>
        </p:txBody>
      </p:sp>
      <p:sp>
        <p:nvSpPr>
          <p:cNvPr id="15" name="Rounded Rectangle 14"/>
          <p:cNvSpPr/>
          <p:nvPr/>
        </p:nvSpPr>
        <p:spPr>
          <a:xfrm>
            <a:off x="685800" y="4709160"/>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809744"/>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명장 투어</a:t>
            </a:r>
          </a:p>
        </p:txBody>
      </p:sp>
      <p:sp>
        <p:nvSpPr>
          <p:cNvPr id="17" name="Rounded Rectangle 16"/>
          <p:cNvSpPr/>
          <p:nvPr/>
        </p:nvSpPr>
        <p:spPr>
          <a:xfrm>
            <a:off x="685800" y="5349240"/>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5449824"/>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Tech X</a:t>
            </a:r>
          </a:p>
        </p:txBody>
      </p:sp>
      <p:cxnSp>
        <p:nvCxnSpPr>
          <p:cNvPr id="19" name="Connector 18"/>
          <p:cNvCxnSpPr/>
          <p:nvPr/>
        </p:nvCxnSpPr>
        <p:spPr>
          <a:xfrm>
            <a:off x="3767328" y="3378708"/>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67328" y="4018788"/>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60520" y="3378708"/>
            <a:ext cx="0" cy="64008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160520" y="3698748"/>
            <a:ext cx="4754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81728" y="3442715"/>
            <a:ext cx="2834640" cy="5120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racket-final-left"/>
          <p:cNvSpPr txBox="1"/>
          <p:nvPr/>
        </p:nvSpPr>
        <p:spPr>
          <a:xfrm>
            <a:off x="4818888" y="3561588"/>
            <a:ext cx="2560320" cy="320040"/>
          </a:xfrm>
          <a:prstGeom prst="rect">
            <a:avLst/>
          </a:prstGeom>
          <a:noFill/>
        </p:spPr>
        <p:txBody>
          <a:bodyPr wrap="square" lIns="0" rIns="0" tIns="0" bIns="0">
            <a:spAutoFit/>
          </a:bodyPr>
          <a:lstStyle/>
          <a:p>
            <a:pPr algn="l">
              <a:spcAft>
                <a:spcPts val="400"/>
              </a:spcAft>
            </a:pPr>
            <a:r>
              <a:rPr sz="1600" b="1">
                <a:solidFill>
                  <a:srgbClr val="B4C6D4"/>
                </a:solidFill>
                <a:latin typeface="맑은 고딕"/>
                <a:ea typeface="맑은 고딕"/>
              </a:rPr>
              <a:t>준결승 1의 선택</a:t>
            </a:r>
          </a:p>
        </p:txBody>
      </p:sp>
      <p:cxnSp>
        <p:nvCxnSpPr>
          <p:cNvPr id="25" name="Connector 24"/>
          <p:cNvCxnSpPr/>
          <p:nvPr/>
        </p:nvCxnSpPr>
        <p:spPr>
          <a:xfrm>
            <a:off x="7516368" y="3698748"/>
            <a:ext cx="457200"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67328" y="4960620"/>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5600700"/>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160520" y="4960620"/>
            <a:ext cx="0" cy="64008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160520" y="5280660"/>
            <a:ext cx="4754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681728" y="5024628"/>
            <a:ext cx="2834640" cy="5120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racket-final-right"/>
          <p:cNvSpPr txBox="1"/>
          <p:nvPr/>
        </p:nvSpPr>
        <p:spPr>
          <a:xfrm>
            <a:off x="4818888" y="5143500"/>
            <a:ext cx="2560320" cy="320040"/>
          </a:xfrm>
          <a:prstGeom prst="rect">
            <a:avLst/>
          </a:prstGeom>
          <a:noFill/>
        </p:spPr>
        <p:txBody>
          <a:bodyPr wrap="square" lIns="0" rIns="0" tIns="0" bIns="0">
            <a:spAutoFit/>
          </a:bodyPr>
          <a:lstStyle/>
          <a:p>
            <a:pPr algn="l">
              <a:spcAft>
                <a:spcPts val="400"/>
              </a:spcAft>
            </a:pPr>
            <a:r>
              <a:rPr sz="1600" b="1">
                <a:solidFill>
                  <a:srgbClr val="B4C6D4"/>
                </a:solidFill>
                <a:latin typeface="맑은 고딕"/>
                <a:ea typeface="맑은 고딕"/>
              </a:rPr>
              <a:t>준결승 2의 선택</a:t>
            </a:r>
          </a:p>
        </p:txBody>
      </p:sp>
      <p:cxnSp>
        <p:nvCxnSpPr>
          <p:cNvPr id="32" name="Connector 31"/>
          <p:cNvCxnSpPr/>
          <p:nvPr/>
        </p:nvCxnSpPr>
        <p:spPr>
          <a:xfrm>
            <a:off x="7516368" y="5280660"/>
            <a:ext cx="457200"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73568" y="3698748"/>
            <a:ext cx="0" cy="1581912"/>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973568" y="4489704"/>
            <a:ext cx="34747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375904" y="4023360"/>
            <a:ext cx="3108960" cy="93268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racket-winner"/>
          <p:cNvSpPr txBox="1"/>
          <p:nvPr/>
        </p:nvSpPr>
        <p:spPr>
          <a:xfrm>
            <a:off x="8531352" y="4279392"/>
            <a:ext cx="2798064" cy="411480"/>
          </a:xfrm>
          <a:prstGeom prst="rect">
            <a:avLst/>
          </a:prstGeom>
          <a:noFill/>
        </p:spPr>
        <p:txBody>
          <a:bodyPr wrap="square" lIns="0" rIns="0" tIns="0" bIns="0">
            <a:spAutoFit/>
          </a:bodyPr>
          <a:lstStyle/>
          <a:p>
            <a:pPr algn="ctr">
              <a:spcAft>
                <a:spcPts val="400"/>
              </a:spcAft>
            </a:pPr>
            <a:r>
              <a:rPr sz="2300" b="1">
                <a:solidFill>
                  <a:srgbClr val="83E8C5"/>
                </a:solidFill>
                <a:latin typeface="맑은 고딕"/>
                <a:ea typeface="맑은 고딕"/>
              </a:rPr>
              <a:t>오늘의 추천</a:t>
            </a:r>
          </a:p>
        </p:txBody>
      </p:sp>
      <p:sp>
        <p:nvSpPr>
          <p:cNvPr id="37" name="TextBox 36"/>
          <p:cNvSpPr txBox="1"/>
          <p:nvPr/>
        </p:nvSpPr>
        <p:spPr>
          <a:xfrm>
            <a:off x="685800" y="2761488"/>
            <a:ext cx="2834640" cy="27432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4강</a:t>
            </a:r>
          </a:p>
        </p:txBody>
      </p:sp>
      <p:sp>
        <p:nvSpPr>
          <p:cNvPr id="38" name="TextBox 37"/>
          <p:cNvSpPr txBox="1"/>
          <p:nvPr/>
        </p:nvSpPr>
        <p:spPr>
          <a:xfrm>
            <a:off x="4681728" y="2761488"/>
            <a:ext cx="2834640" cy="27432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결승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P03</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준결승 1 / 외부 전문가와 동료</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새로운 관점 vs 서로의 업무 이해</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조직에 권하고 싶은 교류 방식은?</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73552"/>
            <a:ext cx="5230368" cy="24688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273552"/>
            <a:ext cx="50292" cy="246888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3864"/>
            <a:ext cx="4736592"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AI 4 AI 세미나</a:t>
            </a:r>
          </a:p>
        </p:txBody>
      </p:sp>
      <p:sp>
        <p:nvSpPr>
          <p:cNvPr id="14" name="TextBox 13"/>
          <p:cNvSpPr txBox="1"/>
          <p:nvPr/>
        </p:nvSpPr>
        <p:spPr>
          <a:xfrm>
            <a:off x="932688" y="4169664"/>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외부 전문가와 월 1회</a:t>
            </a:r>
          </a:p>
          <a:p>
            <a:pPr algn="l">
              <a:spcAft>
                <a:spcPts val="400"/>
              </a:spcAft>
            </a:pPr>
            <a:r>
              <a:rPr sz="2200" b="1">
                <a:solidFill>
                  <a:srgbClr val="F6F8F9"/>
                </a:solidFill>
                <a:latin typeface="맑은 고딕"/>
                <a:ea typeface="맑은 고딕"/>
              </a:rPr>
              <a:t>AI·인프라를 함께 학습</a:t>
            </a:r>
          </a:p>
        </p:txBody>
      </p:sp>
      <p:sp>
        <p:nvSpPr>
          <p:cNvPr id="15" name="TextBox 14"/>
          <p:cNvSpPr txBox="1"/>
          <p:nvPr/>
        </p:nvSpPr>
        <p:spPr>
          <a:xfrm>
            <a:off x="932688" y="5102352"/>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센터원 대상 · 녹화 후 교육 플랫폼 공유</a:t>
            </a:r>
          </a:p>
        </p:txBody>
      </p:sp>
      <p:sp>
        <p:nvSpPr>
          <p:cNvPr id="16" name="Rounded Rectangle 15"/>
          <p:cNvSpPr/>
          <p:nvPr/>
        </p:nvSpPr>
        <p:spPr>
          <a:xfrm>
            <a:off x="6254496" y="3273552"/>
            <a:ext cx="5230368" cy="24688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3273552"/>
            <a:ext cx="50292" cy="2468880"/>
          </a:xfrm>
          <a:prstGeom prst="rect">
            <a:avLst/>
          </a:prstGeom>
          <a:solidFill>
            <a:srgbClr val="C1B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3" y="3483864"/>
            <a:ext cx="4736592" cy="47548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Job Fair</a:t>
            </a:r>
          </a:p>
        </p:txBody>
      </p:sp>
      <p:sp>
        <p:nvSpPr>
          <p:cNvPr id="19" name="TextBox 18"/>
          <p:cNvSpPr txBox="1"/>
          <p:nvPr/>
        </p:nvSpPr>
        <p:spPr>
          <a:xfrm>
            <a:off x="6501383" y="4169664"/>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11개 부서의 일을</a:t>
            </a:r>
          </a:p>
          <a:p>
            <a:pPr algn="l">
              <a:spcAft>
                <a:spcPts val="400"/>
              </a:spcAft>
            </a:pPr>
            <a:r>
              <a:rPr sz="2200" b="1">
                <a:solidFill>
                  <a:srgbClr val="F6F8F9"/>
                </a:solidFill>
                <a:latin typeface="맑은 고딕"/>
                <a:ea typeface="맑은 고딕"/>
              </a:rPr>
              <a:t>직접 묻고 알아가는 시간</a:t>
            </a:r>
          </a:p>
        </p:txBody>
      </p:sp>
      <p:sp>
        <p:nvSpPr>
          <p:cNvPr id="20" name="TextBox 19"/>
          <p:cNvSpPr txBox="1"/>
          <p:nvPr/>
        </p:nvSpPr>
        <p:spPr>
          <a:xfrm>
            <a:off x="6501383" y="5102352"/>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8월 · 부스에서 A0 판넬로 업무 소개</a:t>
            </a:r>
          </a:p>
        </p:txBody>
      </p:sp>
      <p:sp>
        <p:nvSpPr>
          <p:cNvPr id="21" name="TextBox 20"/>
          <p:cNvSpPr txBox="1"/>
          <p:nvPr/>
        </p:nvSpPr>
        <p:spPr>
          <a:xfrm>
            <a:off x="685800" y="5852160"/>
            <a:ext cx="10799064" cy="237744"/>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Advanced Infrastructure for Artificial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P04</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준결승 1 / 선택 이유</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결승 진출 · Job Fair</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조직도 동료의 일을 소개하는 자리부터</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55264"/>
            <a:ext cx="5230368" cy="240487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255264"/>
            <a:ext cx="50292" cy="2404872"/>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65576"/>
            <a:ext cx="4736592"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Job Fair</a:t>
            </a:r>
          </a:p>
        </p:txBody>
      </p:sp>
      <p:sp>
        <p:nvSpPr>
          <p:cNvPr id="14" name="TextBox 13"/>
          <p:cNvSpPr txBox="1"/>
          <p:nvPr/>
        </p:nvSpPr>
        <p:spPr>
          <a:xfrm>
            <a:off x="932688" y="4151376"/>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부서의 일을 직접 듣고</a:t>
            </a:r>
          </a:p>
          <a:p>
            <a:pPr algn="l">
              <a:spcAft>
                <a:spcPts val="400"/>
              </a:spcAft>
            </a:pPr>
            <a:r>
              <a:rPr sz="2200" b="1">
                <a:solidFill>
                  <a:srgbClr val="F6F8F9"/>
                </a:solidFill>
                <a:latin typeface="맑은 고딕"/>
                <a:ea typeface="맑은 고딕"/>
              </a:rPr>
              <a:t>궁금한 점을 질문</a:t>
            </a:r>
          </a:p>
        </p:txBody>
      </p:sp>
      <p:sp>
        <p:nvSpPr>
          <p:cNvPr id="15" name="TextBox 14"/>
          <p:cNvSpPr txBox="1"/>
          <p:nvPr/>
        </p:nvSpPr>
        <p:spPr>
          <a:xfrm>
            <a:off x="932688" y="5020055"/>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실제 자료: 11개 부서 부스 · 업무 판넬</a:t>
            </a:r>
          </a:p>
        </p:txBody>
      </p:sp>
      <p:sp>
        <p:nvSpPr>
          <p:cNvPr id="16" name="Rounded Rectangle 15"/>
          <p:cNvSpPr/>
          <p:nvPr/>
        </p:nvSpPr>
        <p:spPr>
          <a:xfrm>
            <a:off x="6254496" y="3255264"/>
            <a:ext cx="5230368" cy="240487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3255264"/>
            <a:ext cx="50292" cy="2404872"/>
          </a:xfrm>
          <a:prstGeom prst="rect">
            <a:avLst/>
          </a:prstGeom>
          <a:solidFill>
            <a:srgbClr val="C1B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3" y="3465576"/>
            <a:ext cx="4736592" cy="47548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19" name="TextBox 18"/>
          <p:cNvSpPr txBox="1"/>
          <p:nvPr/>
        </p:nvSpPr>
        <p:spPr>
          <a:xfrm>
            <a:off x="6501383" y="4151376"/>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주요 업무·서비스·연구를</a:t>
            </a:r>
          </a:p>
          <a:p>
            <a:pPr algn="l">
              <a:spcAft>
                <a:spcPts val="400"/>
              </a:spcAft>
            </a:pPr>
            <a:r>
              <a:rPr sz="2200" b="1">
                <a:solidFill>
                  <a:srgbClr val="F6F8F9"/>
                </a:solidFill>
                <a:latin typeface="맑은 고딕"/>
                <a:ea typeface="맑은 고딕"/>
              </a:rPr>
              <a:t>월 1회 나눔</a:t>
            </a:r>
          </a:p>
        </p:txBody>
      </p:sp>
      <p:sp>
        <p:nvSpPr>
          <p:cNvPr id="20" name="TextBox 19"/>
          <p:cNvSpPr txBox="1"/>
          <p:nvPr/>
        </p:nvSpPr>
        <p:spPr>
          <a:xfrm>
            <a:off x="6501383" y="5020055"/>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정기적인 내부 교류도 함께 운영</a:t>
            </a:r>
          </a:p>
        </p:txBody>
      </p:sp>
      <p:sp>
        <p:nvSpPr>
          <p:cNvPr id="21" name="TextBox 20"/>
          <p:cNvSpPr txBox="1"/>
          <p:nvPr/>
        </p:nvSpPr>
        <p:spPr>
          <a:xfrm>
            <a:off x="685800" y="5788152"/>
            <a:ext cx="10698480" cy="27432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같은 교류의 목적을 가진 두 활동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P05</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준결승 2 / 현장에서 배우고, 함께 해보고</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명장의 경험 vs 새로운 프로젝트</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조직에 권하고 싶은 교류 방식은?</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73552"/>
            <a:ext cx="5230368" cy="254203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273552"/>
            <a:ext cx="50292" cy="2542032"/>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3864"/>
            <a:ext cx="4736592"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명장 투어</a:t>
            </a:r>
          </a:p>
        </p:txBody>
      </p:sp>
      <p:sp>
        <p:nvSpPr>
          <p:cNvPr id="14" name="TextBox 13"/>
          <p:cNvSpPr txBox="1"/>
          <p:nvPr/>
        </p:nvSpPr>
        <p:spPr>
          <a:xfrm>
            <a:off x="932688" y="4169664"/>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7월 · 8명 대상</a:t>
            </a:r>
          </a:p>
          <a:p>
            <a:pPr algn="l">
              <a:spcAft>
                <a:spcPts val="400"/>
              </a:spcAft>
            </a:pPr>
            <a:r>
              <a:rPr sz="2200" b="1">
                <a:solidFill>
                  <a:srgbClr val="F6F8F9"/>
                </a:solidFill>
                <a:latin typeface="맑은 고딕"/>
                <a:ea typeface="맑은 고딕"/>
              </a:rPr>
              <a:t>화성 HPC센터 현장 학습</a:t>
            </a:r>
          </a:p>
        </p:txBody>
      </p:sp>
      <p:sp>
        <p:nvSpPr>
          <p:cNvPr id="15" name="TextBox 14"/>
          <p:cNvSpPr txBox="1"/>
          <p:nvPr/>
        </p:nvSpPr>
        <p:spPr>
          <a:xfrm>
            <a:off x="932688" y="5175503"/>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시험 중 수냉식 서버 · 공냉식 서버랙</a:t>
            </a:r>
          </a:p>
        </p:txBody>
      </p:sp>
      <p:sp>
        <p:nvSpPr>
          <p:cNvPr id="16" name="Rounded Rectangle 15"/>
          <p:cNvSpPr/>
          <p:nvPr/>
        </p:nvSpPr>
        <p:spPr>
          <a:xfrm>
            <a:off x="6254496" y="3273552"/>
            <a:ext cx="5230368" cy="254203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3273552"/>
            <a:ext cx="50292" cy="2542032"/>
          </a:xfrm>
          <a:prstGeom prst="rect">
            <a:avLst/>
          </a:prstGeom>
          <a:solidFill>
            <a:srgbClr val="C1B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3" y="3483864"/>
            <a:ext cx="4736592" cy="47548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Tech X</a:t>
            </a:r>
          </a:p>
        </p:txBody>
      </p:sp>
      <p:sp>
        <p:nvSpPr>
          <p:cNvPr id="19" name="TextBox 18"/>
          <p:cNvSpPr txBox="1"/>
          <p:nvPr/>
        </p:nvSpPr>
        <p:spPr>
          <a:xfrm>
            <a:off x="6501383" y="4169664"/>
            <a:ext cx="4736592"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6개 프로젝트 · 44명</a:t>
            </a:r>
          </a:p>
          <a:p>
            <a:pPr algn="l">
              <a:spcAft>
                <a:spcPts val="400"/>
              </a:spcAft>
            </a:pPr>
            <a:r>
              <a:rPr sz="2200" b="1">
                <a:solidFill>
                  <a:srgbClr val="F6F8F9"/>
                </a:solidFill>
                <a:latin typeface="맑은 고딕"/>
                <a:ea typeface="맑은 고딕"/>
              </a:rPr>
              <a:t>다른 부서의 과제에 참여</a:t>
            </a:r>
          </a:p>
        </p:txBody>
      </p:sp>
      <p:sp>
        <p:nvSpPr>
          <p:cNvPr id="20" name="TextBox 19"/>
          <p:cNvSpPr txBox="1"/>
          <p:nvPr/>
        </p:nvSpPr>
        <p:spPr>
          <a:xfrm>
            <a:off x="6501383" y="5175503"/>
            <a:ext cx="4736592" cy="484632"/>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원래 부서에서 하기 어려운 새로운 경험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P06</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Tech X / 대표 성과 사례 한 가지</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함께 만든 것을, 함께 쓰는 경험으로</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IAP · Infra Agent Platform / 팀 주요 미션으로 발전 · 운영 도입</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91840"/>
            <a:ext cx="3337560" cy="126187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547872"/>
            <a:ext cx="2916936" cy="393192"/>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로그 패턴 감지</a:t>
            </a:r>
          </a:p>
        </p:txBody>
      </p:sp>
      <p:sp>
        <p:nvSpPr>
          <p:cNvPr id="13" name="TextBox 12"/>
          <p:cNvSpPr txBox="1"/>
          <p:nvPr/>
        </p:nvSpPr>
        <p:spPr>
          <a:xfrm>
            <a:off x="896112" y="4096512"/>
            <a:ext cx="2916936" cy="31089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서버 로그의 특정 패턴</a:t>
            </a:r>
          </a:p>
        </p:txBody>
      </p:sp>
      <p:cxnSp>
        <p:nvCxnSpPr>
          <p:cNvPr id="14" name="Connector 13"/>
          <p:cNvCxnSpPr/>
          <p:nvPr/>
        </p:nvCxnSpPr>
        <p:spPr>
          <a:xfrm>
            <a:off x="4105656" y="3922776"/>
            <a:ext cx="237744"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16552" y="3291840"/>
            <a:ext cx="3337560" cy="126187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3547872"/>
            <a:ext cx="2916936" cy="393192"/>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정형 메시지</a:t>
            </a:r>
          </a:p>
        </p:txBody>
      </p:sp>
      <p:sp>
        <p:nvSpPr>
          <p:cNvPr id="17" name="TextBox 16"/>
          <p:cNvSpPr txBox="1"/>
          <p:nvPr/>
        </p:nvSpPr>
        <p:spPr>
          <a:xfrm>
            <a:off x="4626864" y="4096512"/>
            <a:ext cx="2916936" cy="31089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정해진 포맷으로 구성</a:t>
            </a:r>
          </a:p>
        </p:txBody>
      </p:sp>
      <p:cxnSp>
        <p:nvCxnSpPr>
          <p:cNvPr id="18" name="Connector 17"/>
          <p:cNvCxnSpPr/>
          <p:nvPr/>
        </p:nvCxnSpPr>
        <p:spPr>
          <a:xfrm>
            <a:off x="7836408" y="3922776"/>
            <a:ext cx="237744"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47304" y="3291840"/>
            <a:ext cx="3337560" cy="126187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3547872"/>
            <a:ext cx="2916936" cy="393192"/>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메신저 동보</a:t>
            </a:r>
          </a:p>
        </p:txBody>
      </p:sp>
      <p:sp>
        <p:nvSpPr>
          <p:cNvPr id="21" name="TextBox 20"/>
          <p:cNvSpPr txBox="1"/>
          <p:nvPr/>
        </p:nvSpPr>
        <p:spPr>
          <a:xfrm>
            <a:off x="8357616" y="4096512"/>
            <a:ext cx="2916936" cy="31089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사람이 하던 알림 업무 대체</a:t>
            </a:r>
          </a:p>
        </p:txBody>
      </p:sp>
      <p:sp>
        <p:nvSpPr>
          <p:cNvPr id="22" name="Rounded Rectangle 21"/>
          <p:cNvSpPr/>
          <p:nvPr/>
        </p:nvSpPr>
        <p:spPr>
          <a:xfrm>
            <a:off x="685800" y="4791456"/>
            <a:ext cx="10799064" cy="65836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65192"/>
            <a:ext cx="10332720" cy="347472"/>
          </a:xfrm>
          <a:prstGeom prst="rect">
            <a:avLst/>
          </a:prstGeom>
          <a:noFill/>
        </p:spPr>
        <p:txBody>
          <a:bodyPr wrap="square" lIns="0" rIns="0" tIns="0" bIns="0">
            <a:spAutoFit/>
          </a:bodyPr>
          <a:lstStyle/>
          <a:p>
            <a:pPr algn="l">
              <a:spcAft>
                <a:spcPts val="400"/>
              </a:spcAft>
            </a:pPr>
            <a:r>
              <a:rPr sz="2100" b="1">
                <a:solidFill>
                  <a:srgbClr val="C1B3F4"/>
                </a:solidFill>
                <a:latin typeface="맑은 고딕"/>
                <a:ea typeface="맑은 고딕"/>
              </a:rPr>
              <a:t>6월 · 팀 소개 세미나     /     7월 · 실무 담당자 25명 실습</a:t>
            </a:r>
          </a:p>
        </p:txBody>
      </p:sp>
      <p:sp>
        <p:nvSpPr>
          <p:cNvPr id="24" name="TextBox 23"/>
          <p:cNvSpPr txBox="1"/>
          <p:nvPr/>
        </p:nvSpPr>
        <p:spPr>
          <a:xfrm>
            <a:off x="685800" y="5705856"/>
            <a:ext cx="10799064"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현재: 로그 알림 수작업 대체   |   확대 목표: 팀 인프라 전반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P07</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준결승 2 / 선택 이유</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결승 진출 · Tech X</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평소 맡지 못한 과제를, 다른 부서 동료와 직접 해볼 기회</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73552"/>
            <a:ext cx="3337560" cy="21122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273552"/>
            <a:ext cx="50292" cy="2112264"/>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3864"/>
            <a:ext cx="2843784"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관심</a:t>
            </a:r>
          </a:p>
        </p:txBody>
      </p:sp>
      <p:sp>
        <p:nvSpPr>
          <p:cNvPr id="14" name="TextBox 13"/>
          <p:cNvSpPr txBox="1"/>
          <p:nvPr/>
        </p:nvSpPr>
        <p:spPr>
          <a:xfrm>
            <a:off x="932688"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해보고 싶은 과제</a:t>
            </a:r>
          </a:p>
        </p:txBody>
      </p:sp>
      <p:sp>
        <p:nvSpPr>
          <p:cNvPr id="15" name="Rounded Rectangle 14"/>
          <p:cNvSpPr/>
          <p:nvPr/>
        </p:nvSpPr>
        <p:spPr>
          <a:xfrm>
            <a:off x="4416552" y="3273552"/>
            <a:ext cx="3337560" cy="21122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6552" y="3273552"/>
            <a:ext cx="50292" cy="2112264"/>
          </a:xfrm>
          <a:prstGeom prst="rect">
            <a:avLst/>
          </a:prstGeom>
          <a:solidFill>
            <a:srgbClr val="C1B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483864"/>
            <a:ext cx="2843784" cy="47548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참여</a:t>
            </a:r>
          </a:p>
        </p:txBody>
      </p:sp>
      <p:sp>
        <p:nvSpPr>
          <p:cNvPr id="18" name="TextBox 17"/>
          <p:cNvSpPr txBox="1"/>
          <p:nvPr/>
        </p:nvSpPr>
        <p:spPr>
          <a:xfrm>
            <a:off x="4663440"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부서 밖의 동료</a:t>
            </a:r>
          </a:p>
        </p:txBody>
      </p:sp>
      <p:sp>
        <p:nvSpPr>
          <p:cNvPr id="19" name="Rounded Rectangle 18"/>
          <p:cNvSpPr/>
          <p:nvPr/>
        </p:nvSpPr>
        <p:spPr>
          <a:xfrm>
            <a:off x="8147304" y="3273552"/>
            <a:ext cx="3337560" cy="21122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47304" y="3273552"/>
            <a:ext cx="50292" cy="2112264"/>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3483864"/>
            <a:ext cx="2843784"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경험</a:t>
            </a:r>
          </a:p>
        </p:txBody>
      </p:sp>
      <p:sp>
        <p:nvSpPr>
          <p:cNvPr id="22" name="TextBox 21"/>
          <p:cNvSpPr txBox="1"/>
          <p:nvPr/>
        </p:nvSpPr>
        <p:spPr>
          <a:xfrm>
            <a:off x="8394192"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함께 실행하는 배움</a:t>
            </a:r>
          </a:p>
        </p:txBody>
      </p:sp>
      <p:sp>
        <p:nvSpPr>
          <p:cNvPr id="23" name="TextBox 22"/>
          <p:cNvSpPr txBox="1"/>
          <p:nvPr/>
        </p:nvSpPr>
        <p:spPr>
          <a:xfrm>
            <a:off x="685800" y="5715000"/>
            <a:ext cx="10799064" cy="36576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프로젝트의 성과와, 구성원이 배울 기회를 함께 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P08</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결승 / 서로 알아보기 vs 함께 해보기</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Job Fair vs Tech X</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다른 조직에 권하고 싶은 교류 방식은?</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127248"/>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227832"/>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AI 4 AI 세미나</a:t>
            </a:r>
          </a:p>
        </p:txBody>
      </p:sp>
      <p:sp>
        <p:nvSpPr>
          <p:cNvPr id="13" name="Rounded Rectangle 12"/>
          <p:cNvSpPr/>
          <p:nvPr/>
        </p:nvSpPr>
        <p:spPr>
          <a:xfrm>
            <a:off x="685800" y="3767328"/>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3867912"/>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Job Fair</a:t>
            </a:r>
          </a:p>
        </p:txBody>
      </p:sp>
      <p:sp>
        <p:nvSpPr>
          <p:cNvPr id="15" name="Rounded Rectangle 14"/>
          <p:cNvSpPr/>
          <p:nvPr/>
        </p:nvSpPr>
        <p:spPr>
          <a:xfrm>
            <a:off x="685800" y="4709160"/>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809744"/>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명장 투어</a:t>
            </a:r>
          </a:p>
        </p:txBody>
      </p:sp>
      <p:sp>
        <p:nvSpPr>
          <p:cNvPr id="17" name="Rounded Rectangle 16"/>
          <p:cNvSpPr/>
          <p:nvPr/>
        </p:nvSpPr>
        <p:spPr>
          <a:xfrm>
            <a:off x="685800" y="5349240"/>
            <a:ext cx="3081528" cy="50292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5449824"/>
            <a:ext cx="2743200" cy="32004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Tech X</a:t>
            </a:r>
          </a:p>
        </p:txBody>
      </p:sp>
      <p:cxnSp>
        <p:nvCxnSpPr>
          <p:cNvPr id="19" name="Connector 18"/>
          <p:cNvCxnSpPr/>
          <p:nvPr/>
        </p:nvCxnSpPr>
        <p:spPr>
          <a:xfrm>
            <a:off x="3767328" y="3378708"/>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67328" y="4018788"/>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60520" y="3378708"/>
            <a:ext cx="0" cy="64008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160520" y="3698748"/>
            <a:ext cx="4754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81728" y="3442715"/>
            <a:ext cx="2834640" cy="5120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racket-final-left"/>
          <p:cNvSpPr txBox="1"/>
          <p:nvPr/>
        </p:nvSpPr>
        <p:spPr>
          <a:xfrm>
            <a:off x="4818888" y="3561588"/>
            <a:ext cx="2560320" cy="32004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Job Fair</a:t>
            </a:r>
          </a:p>
        </p:txBody>
      </p:sp>
      <p:cxnSp>
        <p:nvCxnSpPr>
          <p:cNvPr id="25" name="Connector 24"/>
          <p:cNvCxnSpPr/>
          <p:nvPr/>
        </p:nvCxnSpPr>
        <p:spPr>
          <a:xfrm>
            <a:off x="7516368" y="3698748"/>
            <a:ext cx="457200"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67328" y="4960620"/>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5600700"/>
            <a:ext cx="393192"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160520" y="4960620"/>
            <a:ext cx="0" cy="64008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160520" y="5280660"/>
            <a:ext cx="4754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681728" y="5024628"/>
            <a:ext cx="2834640" cy="51206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racket-final-right"/>
          <p:cNvSpPr txBox="1"/>
          <p:nvPr/>
        </p:nvSpPr>
        <p:spPr>
          <a:xfrm>
            <a:off x="4818888" y="5143500"/>
            <a:ext cx="2560320" cy="32004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a:t>
            </a:r>
          </a:p>
        </p:txBody>
      </p:sp>
      <p:cxnSp>
        <p:nvCxnSpPr>
          <p:cNvPr id="32" name="Connector 31"/>
          <p:cNvCxnSpPr/>
          <p:nvPr/>
        </p:nvCxnSpPr>
        <p:spPr>
          <a:xfrm>
            <a:off x="7516368" y="5280660"/>
            <a:ext cx="457200" cy="0"/>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73568" y="3698748"/>
            <a:ext cx="0" cy="1581912"/>
          </a:xfrm>
          <a:prstGeom prst="line">
            <a:avLst/>
          </a:prstGeom>
          <a:ln w="25400">
            <a:solidFill>
              <a:srgbClr val="38556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973568" y="4489704"/>
            <a:ext cx="34747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375904" y="4023360"/>
            <a:ext cx="3108960" cy="93268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racket-winner"/>
          <p:cNvSpPr txBox="1"/>
          <p:nvPr/>
        </p:nvSpPr>
        <p:spPr>
          <a:xfrm>
            <a:off x="8531352" y="4279392"/>
            <a:ext cx="2798064" cy="411480"/>
          </a:xfrm>
          <a:prstGeom prst="rect">
            <a:avLst/>
          </a:prstGeom>
          <a:noFill/>
        </p:spPr>
        <p:txBody>
          <a:bodyPr wrap="square" lIns="0" rIns="0" tIns="0" bIns="0">
            <a:spAutoFit/>
          </a:bodyPr>
          <a:lstStyle/>
          <a:p>
            <a:pPr algn="ctr">
              <a:spcAft>
                <a:spcPts val="400"/>
              </a:spcAft>
            </a:pPr>
            <a:r>
              <a:rPr sz="2300" b="1">
                <a:solidFill>
                  <a:srgbClr val="83E8C5"/>
                </a:solidFill>
                <a:latin typeface="맑은 고딕"/>
                <a:ea typeface="맑은 고딕"/>
              </a:rPr>
              <a:t>Tech X</a:t>
            </a:r>
          </a:p>
        </p:txBody>
      </p:sp>
      <p:sp>
        <p:nvSpPr>
          <p:cNvPr id="37" name="bracket-winner-reason"/>
          <p:cNvSpPr txBox="1"/>
          <p:nvPr/>
        </p:nvSpPr>
        <p:spPr>
          <a:xfrm>
            <a:off x="8375904" y="5166360"/>
            <a:ext cx="3108960" cy="384048"/>
          </a:xfrm>
          <a:prstGeom prst="rect">
            <a:avLst/>
          </a:prstGeom>
          <a:noFill/>
        </p:spPr>
        <p:txBody>
          <a:bodyPr wrap="square" lIns="0" rIns="0" tIns="0" bIns="0">
            <a:spAutoFit/>
          </a:bodyPr>
          <a:lstStyle/>
          <a:p>
            <a:pPr algn="ctr">
              <a:spcAft>
                <a:spcPts val="400"/>
              </a:spcAft>
            </a:pPr>
            <a:r>
              <a:rPr sz="1600" b="0">
                <a:solidFill>
                  <a:srgbClr val="B4C6D4"/>
                </a:solidFill>
                <a:latin typeface="맑은 고딕"/>
                <a:ea typeface="맑은 고딕"/>
              </a:rPr>
              <a:t>새로운 일에 함께 참여</a:t>
            </a:r>
          </a:p>
        </p:txBody>
      </p:sp>
      <p:sp>
        <p:nvSpPr>
          <p:cNvPr id="38" name="TextBox 37"/>
          <p:cNvSpPr txBox="1"/>
          <p:nvPr/>
        </p:nvSpPr>
        <p:spPr>
          <a:xfrm>
            <a:off x="685800" y="2761488"/>
            <a:ext cx="2834640" cy="27432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4강</a:t>
            </a:r>
          </a:p>
        </p:txBody>
      </p:sp>
      <p:sp>
        <p:nvSpPr>
          <p:cNvPr id="39" name="TextBox 38"/>
          <p:cNvSpPr txBox="1"/>
          <p:nvPr/>
        </p:nvSpPr>
        <p:spPr>
          <a:xfrm>
            <a:off x="4681728" y="2761488"/>
            <a:ext cx="2834640" cy="27432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결승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P09</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다른 조직에 전하는 시작 제안</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작은 공동 과제부터 시작해 보세요</a:t>
            </a:r>
          </a:p>
        </p:txBody>
      </p:sp>
      <p:sp>
        <p:nvSpPr>
          <p:cNvPr id="7" name="TextBox 6"/>
          <p:cNvSpPr txBox="1"/>
          <p:nvPr/>
        </p:nvSpPr>
        <p:spPr>
          <a:xfrm>
            <a:off x="640080" y="2487168"/>
            <a:ext cx="10881360" cy="50292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Tech X의 참여 방식을 다른 조직에 맞게 적용하는 제안</a:t>
            </a:r>
          </a:p>
        </p:txBody>
      </p:sp>
      <p:cxnSp>
        <p:nvCxnSpPr>
          <p:cNvPr id="8" name="Connector 7"/>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10" name="TextBox 9"/>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1" name="Rounded Rectangle 10"/>
          <p:cNvSpPr/>
          <p:nvPr/>
        </p:nvSpPr>
        <p:spPr>
          <a:xfrm>
            <a:off x="685800" y="3273552"/>
            <a:ext cx="3337560" cy="24688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273552"/>
            <a:ext cx="50292" cy="246888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3864"/>
            <a:ext cx="2843784"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01  과제 열기</a:t>
            </a:r>
          </a:p>
        </p:txBody>
      </p:sp>
      <p:sp>
        <p:nvSpPr>
          <p:cNvPr id="14" name="TextBox 13"/>
          <p:cNvSpPr txBox="1"/>
          <p:nvPr/>
        </p:nvSpPr>
        <p:spPr>
          <a:xfrm>
            <a:off x="932688"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도움이 필요한</a:t>
            </a:r>
          </a:p>
          <a:p>
            <a:pPr algn="l">
              <a:spcAft>
                <a:spcPts val="400"/>
              </a:spcAft>
            </a:pPr>
            <a:r>
              <a:rPr sz="2200" b="1">
                <a:solidFill>
                  <a:srgbClr val="F6F8F9"/>
                </a:solidFill>
                <a:latin typeface="맑은 고딕"/>
                <a:ea typeface="맑은 고딕"/>
              </a:rPr>
              <a:t>작은 과제</a:t>
            </a:r>
          </a:p>
        </p:txBody>
      </p:sp>
      <p:sp>
        <p:nvSpPr>
          <p:cNvPr id="15" name="Rounded Rectangle 14"/>
          <p:cNvSpPr/>
          <p:nvPr/>
        </p:nvSpPr>
        <p:spPr>
          <a:xfrm>
            <a:off x="4416552" y="3273552"/>
            <a:ext cx="3337560" cy="24688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6552" y="3273552"/>
            <a:ext cx="50292" cy="2468880"/>
          </a:xfrm>
          <a:prstGeom prst="rect">
            <a:avLst/>
          </a:prstGeom>
          <a:solidFill>
            <a:srgbClr val="C1B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483864"/>
            <a:ext cx="2843784" cy="47548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02  함께 하기</a:t>
            </a:r>
          </a:p>
        </p:txBody>
      </p:sp>
      <p:sp>
        <p:nvSpPr>
          <p:cNvPr id="18" name="TextBox 17"/>
          <p:cNvSpPr txBox="1"/>
          <p:nvPr/>
        </p:nvSpPr>
        <p:spPr>
          <a:xfrm>
            <a:off x="4663440"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관심 있는</a:t>
            </a:r>
          </a:p>
          <a:p>
            <a:pPr algn="l">
              <a:spcAft>
                <a:spcPts val="400"/>
              </a:spcAft>
            </a:pPr>
            <a:r>
              <a:rPr sz="2200" b="1">
                <a:solidFill>
                  <a:srgbClr val="F6F8F9"/>
                </a:solidFill>
                <a:latin typeface="맑은 고딕"/>
                <a:ea typeface="맑은 고딕"/>
              </a:rPr>
              <a:t>다른 부서 동료</a:t>
            </a:r>
          </a:p>
        </p:txBody>
      </p:sp>
      <p:sp>
        <p:nvSpPr>
          <p:cNvPr id="19" name="Rounded Rectangle 18"/>
          <p:cNvSpPr/>
          <p:nvPr/>
        </p:nvSpPr>
        <p:spPr>
          <a:xfrm>
            <a:off x="8147304" y="3273552"/>
            <a:ext cx="3337560" cy="24688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47304" y="3273552"/>
            <a:ext cx="50292" cy="246888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3483864"/>
            <a:ext cx="2843784" cy="47548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03  다시 나누기</a:t>
            </a:r>
          </a:p>
        </p:txBody>
      </p:sp>
      <p:sp>
        <p:nvSpPr>
          <p:cNvPr id="22" name="TextBox 21"/>
          <p:cNvSpPr txBox="1"/>
          <p:nvPr/>
        </p:nvSpPr>
        <p:spPr>
          <a:xfrm>
            <a:off x="8394192" y="4169664"/>
            <a:ext cx="2843784" cy="109728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해본 경험과</a:t>
            </a:r>
          </a:p>
          <a:p>
            <a:pPr algn="l">
              <a:spcAft>
                <a:spcPts val="400"/>
              </a:spcAft>
            </a:pPr>
            <a:r>
              <a:rPr sz="2200" b="1">
                <a:solidFill>
                  <a:srgbClr val="F6F8F9"/>
                </a:solidFill>
                <a:latin typeface="맑은 고딕"/>
                <a:ea typeface="맑은 고딕"/>
              </a:rPr>
              <a:t>배운 점 공유</a:t>
            </a:r>
          </a:p>
        </p:txBody>
      </p:sp>
      <p:sp>
        <p:nvSpPr>
          <p:cNvPr id="23" name="TextBox 22"/>
          <p:cNvSpPr txBox="1"/>
          <p:nvPr/>
        </p:nvSpPr>
        <p:spPr>
          <a:xfrm>
            <a:off x="685800" y="5870448"/>
            <a:ext cx="10799064" cy="22860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다른 조직의 도입 실적이 아닌, 시작 방법의 제안입니다.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P10</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AI를 위한 인프라, 함께 배우는 사람</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AI 4 AI — 배움이 부서를 넘을 때</a:t>
            </a:r>
          </a:p>
        </p:txBody>
      </p:sp>
      <p:cxnSp>
        <p:nvCxnSpPr>
          <p:cNvPr id="7" name="Connector 6"/>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9" name="TextBox 8"/>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0" name="TextBox 9"/>
          <p:cNvSpPr txBox="1"/>
          <p:nvPr/>
        </p:nvSpPr>
        <p:spPr>
          <a:xfrm>
            <a:off x="685800" y="3072384"/>
            <a:ext cx="10789920" cy="1371600"/>
          </a:xfrm>
          <a:prstGeom prst="rect">
            <a:avLst/>
          </a:prstGeom>
          <a:noFill/>
        </p:spPr>
        <p:txBody>
          <a:bodyPr wrap="square" lIns="0" rIns="0" tIns="0" bIns="0">
            <a:spAutoFit/>
          </a:bodyPr>
          <a:lstStyle/>
          <a:p>
            <a:pPr algn="l">
              <a:spcAft>
                <a:spcPts val="400"/>
              </a:spcAft>
            </a:pPr>
            <a:r>
              <a:rPr sz="3400" b="1">
                <a:solidFill>
                  <a:srgbClr val="83E8C5"/>
                </a:solidFill>
                <a:latin typeface="맑은 고딕"/>
                <a:ea typeface="맑은 고딕"/>
              </a:rPr>
              <a:t>서로의 지식과 경험이</a:t>
            </a:r>
          </a:p>
          <a:p>
            <a:pPr algn="l">
              <a:spcAft>
                <a:spcPts val="400"/>
              </a:spcAft>
            </a:pPr>
            <a:r>
              <a:rPr sz="3400" b="1">
                <a:solidFill>
                  <a:srgbClr val="83E8C5"/>
                </a:solidFill>
                <a:latin typeface="맑은 고딕"/>
                <a:ea typeface="맑은 고딕"/>
              </a:rPr>
              <a:t>우리의 다음 성장을 만듭니다.</a:t>
            </a:r>
          </a:p>
        </p:txBody>
      </p:sp>
      <p:sp>
        <p:nvSpPr>
          <p:cNvPr id="11" name="Rounded Rectangle 10"/>
          <p:cNvSpPr/>
          <p:nvPr/>
        </p:nvSpPr>
        <p:spPr>
          <a:xfrm>
            <a:off x="685800" y="4919472"/>
            <a:ext cx="2514600" cy="69494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11496"/>
            <a:ext cx="2331720" cy="365760"/>
          </a:xfrm>
          <a:prstGeom prst="rect">
            <a:avLst/>
          </a:prstGeom>
          <a:noFill/>
        </p:spPr>
        <p:txBody>
          <a:bodyPr wrap="square" lIns="0" rIns="0" tIns="0" bIns="0">
            <a:spAutoFit/>
          </a:bodyPr>
          <a:lstStyle/>
          <a:p>
            <a:pPr algn="ctr">
              <a:spcAft>
                <a:spcPts val="400"/>
              </a:spcAft>
            </a:pPr>
            <a:r>
              <a:rPr sz="1800" b="0">
                <a:solidFill>
                  <a:srgbClr val="F6F8F9"/>
                </a:solidFill>
                <a:latin typeface="맑은 고딕"/>
                <a:ea typeface="맑은 고딕"/>
              </a:rPr>
              <a:t>외부 전문가</a:t>
            </a:r>
          </a:p>
        </p:txBody>
      </p:sp>
      <p:sp>
        <p:nvSpPr>
          <p:cNvPr id="13" name="Rounded Rectangle 12"/>
          <p:cNvSpPr/>
          <p:nvPr/>
        </p:nvSpPr>
        <p:spPr>
          <a:xfrm>
            <a:off x="3447288" y="4919472"/>
            <a:ext cx="2514600" cy="69494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8728" y="5111496"/>
            <a:ext cx="2331720" cy="365760"/>
          </a:xfrm>
          <a:prstGeom prst="rect">
            <a:avLst/>
          </a:prstGeom>
          <a:noFill/>
        </p:spPr>
        <p:txBody>
          <a:bodyPr wrap="square" lIns="0" rIns="0" tIns="0" bIns="0">
            <a:spAutoFit/>
          </a:bodyPr>
          <a:lstStyle/>
          <a:p>
            <a:pPr algn="ctr">
              <a:spcAft>
                <a:spcPts val="400"/>
              </a:spcAft>
            </a:pPr>
            <a:r>
              <a:rPr sz="1800" b="0">
                <a:solidFill>
                  <a:srgbClr val="F6F8F9"/>
                </a:solidFill>
                <a:latin typeface="맑은 고딕"/>
                <a:ea typeface="맑은 고딕"/>
              </a:rPr>
              <a:t>다른 부서 동료</a:t>
            </a:r>
          </a:p>
        </p:txBody>
      </p:sp>
      <p:sp>
        <p:nvSpPr>
          <p:cNvPr id="15" name="Rounded Rectangle 14"/>
          <p:cNvSpPr/>
          <p:nvPr/>
        </p:nvSpPr>
        <p:spPr>
          <a:xfrm>
            <a:off x="6208776" y="4919472"/>
            <a:ext cx="2514600" cy="69494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5111496"/>
            <a:ext cx="2331720" cy="365760"/>
          </a:xfrm>
          <a:prstGeom prst="rect">
            <a:avLst/>
          </a:prstGeom>
          <a:noFill/>
        </p:spPr>
        <p:txBody>
          <a:bodyPr wrap="square" lIns="0" rIns="0" tIns="0" bIns="0">
            <a:spAutoFit/>
          </a:bodyPr>
          <a:lstStyle/>
          <a:p>
            <a:pPr algn="ctr">
              <a:spcAft>
                <a:spcPts val="400"/>
              </a:spcAft>
            </a:pPr>
            <a:r>
              <a:rPr sz="1800" b="0">
                <a:solidFill>
                  <a:srgbClr val="F6F8F9"/>
                </a:solidFill>
                <a:latin typeface="맑은 고딕"/>
                <a:ea typeface="맑은 고딕"/>
              </a:rPr>
              <a:t>함께하는 과제</a:t>
            </a:r>
          </a:p>
        </p:txBody>
      </p:sp>
      <p:sp>
        <p:nvSpPr>
          <p:cNvPr id="17" name="Rounded Rectangle 16"/>
          <p:cNvSpPr/>
          <p:nvPr/>
        </p:nvSpPr>
        <p:spPr>
          <a:xfrm>
            <a:off x="8970264" y="4919472"/>
            <a:ext cx="2514600" cy="69494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61704" y="5111496"/>
            <a:ext cx="2331720" cy="365760"/>
          </a:xfrm>
          <a:prstGeom prst="rect">
            <a:avLst/>
          </a:prstGeom>
          <a:noFill/>
        </p:spPr>
        <p:txBody>
          <a:bodyPr wrap="square" lIns="0" rIns="0" tIns="0" bIns="0">
            <a:spAutoFit/>
          </a:bodyPr>
          <a:lstStyle/>
          <a:p>
            <a:pPr algn="ctr">
              <a:spcAft>
                <a:spcPts val="400"/>
              </a:spcAft>
            </a:pPr>
            <a:r>
              <a:rPr sz="1800" b="0">
                <a:solidFill>
                  <a:srgbClr val="F6F8F9"/>
                </a:solidFill>
                <a:latin typeface="맑은 고딕"/>
                <a:ea typeface="맑은 고딕"/>
              </a:rPr>
              <a:t>현장의 경험</a:t>
            </a:r>
          </a:p>
        </p:txBody>
      </p:sp>
      <p:sp>
        <p:nvSpPr>
          <p:cNvPr id="19" name="TextBox 18"/>
          <p:cNvSpPr txBox="1"/>
          <p:nvPr/>
        </p:nvSpPr>
        <p:spPr>
          <a:xfrm>
            <a:off x="685800" y="5852160"/>
            <a:ext cx="10789920" cy="237744"/>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Advanced Infrastructure for Artificial Intelligence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A01</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숨김 부록 / 본편 사용 제외</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AI 4 AI 세미나 참고 목록</a:t>
            </a:r>
          </a:p>
        </p:txBody>
      </p:sp>
      <p:cxnSp>
        <p:nvCxnSpPr>
          <p:cNvPr id="7" name="Connector 6"/>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9" name="TextBox 8"/>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0" name="Rectangle 9"/>
          <p:cNvSpPr/>
          <p:nvPr/>
        </p:nvSpPr>
        <p:spPr>
          <a:xfrm>
            <a:off x="685800" y="2834640"/>
            <a:ext cx="10799064"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862072"/>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3월</a:t>
            </a:r>
          </a:p>
        </p:txBody>
      </p:sp>
      <p:sp>
        <p:nvSpPr>
          <p:cNvPr id="12" name="TextBox 11"/>
          <p:cNvSpPr txBox="1"/>
          <p:nvPr/>
        </p:nvSpPr>
        <p:spPr>
          <a:xfrm>
            <a:off x="2304288" y="2862072"/>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Cisco</a:t>
            </a:r>
          </a:p>
        </p:txBody>
      </p:sp>
      <p:sp>
        <p:nvSpPr>
          <p:cNvPr id="13" name="TextBox 12"/>
          <p:cNvSpPr txBox="1"/>
          <p:nvPr/>
        </p:nvSpPr>
        <p:spPr>
          <a:xfrm>
            <a:off x="5166360" y="2862072"/>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AIOps</a:t>
            </a:r>
          </a:p>
        </p:txBody>
      </p:sp>
      <p:sp>
        <p:nvSpPr>
          <p:cNvPr id="14" name="TextBox 13"/>
          <p:cNvSpPr txBox="1"/>
          <p:nvPr/>
        </p:nvSpPr>
        <p:spPr>
          <a:xfrm>
            <a:off x="850392" y="3218688"/>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4월</a:t>
            </a:r>
          </a:p>
        </p:txBody>
      </p:sp>
      <p:sp>
        <p:nvSpPr>
          <p:cNvPr id="15" name="TextBox 14"/>
          <p:cNvSpPr txBox="1"/>
          <p:nvPr/>
        </p:nvSpPr>
        <p:spPr>
          <a:xfrm>
            <a:off x="2304288" y="3218688"/>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NVIDIA</a:t>
            </a:r>
          </a:p>
        </p:txBody>
      </p:sp>
      <p:sp>
        <p:nvSpPr>
          <p:cNvPr id="16" name="TextBox 15"/>
          <p:cNvSpPr txBox="1"/>
          <p:nvPr/>
        </p:nvSpPr>
        <p:spPr>
          <a:xfrm>
            <a:off x="5166360" y="3218688"/>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GTC 2026 · 신규 제품 · 전략</a:t>
            </a:r>
          </a:p>
        </p:txBody>
      </p:sp>
      <p:sp>
        <p:nvSpPr>
          <p:cNvPr id="17" name="Rectangle 16"/>
          <p:cNvSpPr/>
          <p:nvPr/>
        </p:nvSpPr>
        <p:spPr>
          <a:xfrm>
            <a:off x="685800" y="3547872"/>
            <a:ext cx="10799064"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575303"/>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5월</a:t>
            </a:r>
          </a:p>
        </p:txBody>
      </p:sp>
      <p:sp>
        <p:nvSpPr>
          <p:cNvPr id="19" name="TextBox 18"/>
          <p:cNvSpPr txBox="1"/>
          <p:nvPr/>
        </p:nvSpPr>
        <p:spPr>
          <a:xfrm>
            <a:off x="2304288" y="3575303"/>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KISTI</a:t>
            </a:r>
          </a:p>
        </p:txBody>
      </p:sp>
      <p:sp>
        <p:nvSpPr>
          <p:cNvPr id="20" name="TextBox 19"/>
          <p:cNvSpPr txBox="1"/>
          <p:nvPr/>
        </p:nvSpPr>
        <p:spPr>
          <a:xfrm>
            <a:off x="5166360" y="3575303"/>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국가슈퍼컴퓨터 6호기 · 슈퍼컴 트렌드</a:t>
            </a:r>
          </a:p>
        </p:txBody>
      </p:sp>
      <p:sp>
        <p:nvSpPr>
          <p:cNvPr id="21" name="TextBox 20"/>
          <p:cNvSpPr txBox="1"/>
          <p:nvPr/>
        </p:nvSpPr>
        <p:spPr>
          <a:xfrm>
            <a:off x="850392" y="3931920"/>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6월</a:t>
            </a:r>
          </a:p>
        </p:txBody>
      </p:sp>
      <p:sp>
        <p:nvSpPr>
          <p:cNvPr id="22" name="TextBox 21"/>
          <p:cNvSpPr txBox="1"/>
          <p:nvPr/>
        </p:nvSpPr>
        <p:spPr>
          <a:xfrm>
            <a:off x="2304288" y="3931920"/>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Pure Storage</a:t>
            </a:r>
          </a:p>
        </p:txBody>
      </p:sp>
      <p:sp>
        <p:nvSpPr>
          <p:cNvPr id="23" name="TextBox 22"/>
          <p:cNvSpPr txBox="1"/>
          <p:nvPr/>
        </p:nvSpPr>
        <p:spPr>
          <a:xfrm>
            <a:off x="5166360" y="3931920"/>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Ready Data 스토리지 플랫폼</a:t>
            </a:r>
          </a:p>
        </p:txBody>
      </p:sp>
      <p:sp>
        <p:nvSpPr>
          <p:cNvPr id="24" name="Rectangle 23"/>
          <p:cNvSpPr/>
          <p:nvPr/>
        </p:nvSpPr>
        <p:spPr>
          <a:xfrm>
            <a:off x="685800" y="4261104"/>
            <a:ext cx="10799064"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4288536"/>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7월</a:t>
            </a:r>
          </a:p>
        </p:txBody>
      </p:sp>
      <p:sp>
        <p:nvSpPr>
          <p:cNvPr id="26" name="TextBox 25"/>
          <p:cNvSpPr txBox="1"/>
          <p:nvPr/>
        </p:nvSpPr>
        <p:spPr>
          <a:xfrm>
            <a:off x="2304288" y="4288536"/>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윤덕환 박사</a:t>
            </a:r>
          </a:p>
        </p:txBody>
      </p:sp>
      <p:sp>
        <p:nvSpPr>
          <p:cNvPr id="27" name="TextBox 26"/>
          <p:cNvSpPr txBox="1"/>
          <p:nvPr/>
        </p:nvSpPr>
        <p:spPr>
          <a:xfrm>
            <a:off x="5166360" y="4288536"/>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시대 외로운 개인 · 동반자 AI</a:t>
            </a:r>
          </a:p>
        </p:txBody>
      </p:sp>
      <p:sp>
        <p:nvSpPr>
          <p:cNvPr id="28" name="TextBox 27"/>
          <p:cNvSpPr txBox="1"/>
          <p:nvPr/>
        </p:nvSpPr>
        <p:spPr>
          <a:xfrm>
            <a:off x="850392" y="4645152"/>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8월</a:t>
            </a:r>
          </a:p>
        </p:txBody>
      </p:sp>
      <p:sp>
        <p:nvSpPr>
          <p:cNvPr id="29" name="TextBox 28"/>
          <p:cNvSpPr txBox="1"/>
          <p:nvPr/>
        </p:nvSpPr>
        <p:spPr>
          <a:xfrm>
            <a:off x="2304288" y="4645152"/>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류훈 금오공대 교수</a:t>
            </a:r>
          </a:p>
        </p:txBody>
      </p:sp>
      <p:sp>
        <p:nvSpPr>
          <p:cNvPr id="30" name="TextBox 29"/>
          <p:cNvSpPr txBox="1"/>
          <p:nvPr/>
        </p:nvSpPr>
        <p:spPr>
          <a:xfrm>
            <a:off x="5166360" y="4645152"/>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양자컴퓨터</a:t>
            </a:r>
          </a:p>
        </p:txBody>
      </p:sp>
      <p:sp>
        <p:nvSpPr>
          <p:cNvPr id="31" name="Rectangle 30"/>
          <p:cNvSpPr/>
          <p:nvPr/>
        </p:nvSpPr>
        <p:spPr>
          <a:xfrm>
            <a:off x="685800" y="4974336"/>
            <a:ext cx="10799064"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 y="5001768"/>
            <a:ext cx="1325880"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9월</a:t>
            </a:r>
          </a:p>
        </p:txBody>
      </p:sp>
      <p:sp>
        <p:nvSpPr>
          <p:cNvPr id="33" name="TextBox 32"/>
          <p:cNvSpPr txBox="1"/>
          <p:nvPr/>
        </p:nvSpPr>
        <p:spPr>
          <a:xfrm>
            <a:off x="2304288" y="5001768"/>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xFusion</a:t>
            </a:r>
          </a:p>
        </p:txBody>
      </p:sp>
      <p:sp>
        <p:nvSpPr>
          <p:cNvPr id="34" name="TextBox 33"/>
          <p:cNvSpPr txBox="1"/>
          <p:nvPr/>
        </p:nvSpPr>
        <p:spPr>
          <a:xfrm>
            <a:off x="5166360" y="5001768"/>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중국 AI 산업</a:t>
            </a:r>
          </a:p>
        </p:txBody>
      </p:sp>
      <p:sp>
        <p:nvSpPr>
          <p:cNvPr id="35" name="TextBox 34"/>
          <p:cNvSpPr txBox="1"/>
          <p:nvPr/>
        </p:nvSpPr>
        <p:spPr>
          <a:xfrm>
            <a:off x="850392" y="5358384"/>
            <a:ext cx="1325880" cy="283464"/>
          </a:xfrm>
          <a:prstGeom prst="rect">
            <a:avLst/>
          </a:prstGeom>
          <a:noFill/>
        </p:spPr>
        <p:txBody>
          <a:bodyPr wrap="square" lIns="0" rIns="0" tIns="0" bIns="0">
            <a:spAutoFit/>
          </a:bodyPr>
          <a:lstStyle/>
          <a:p>
            <a:pPr algn="l">
              <a:spcAft>
                <a:spcPts val="400"/>
              </a:spcAft>
            </a:pPr>
            <a:r>
              <a:rPr sz="1400" b="1">
                <a:solidFill>
                  <a:srgbClr val="F0CB7B"/>
                </a:solidFill>
                <a:latin typeface="맑은 고딕"/>
                <a:ea typeface="맑은 고딕"/>
              </a:rPr>
              <a:t>10월 · 예정</a:t>
            </a:r>
          </a:p>
        </p:txBody>
      </p:sp>
      <p:sp>
        <p:nvSpPr>
          <p:cNvPr id="36" name="TextBox 35"/>
          <p:cNvSpPr txBox="1"/>
          <p:nvPr/>
        </p:nvSpPr>
        <p:spPr>
          <a:xfrm>
            <a:off x="2304288" y="5358384"/>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OutSystems</a:t>
            </a:r>
          </a:p>
        </p:txBody>
      </p:sp>
      <p:sp>
        <p:nvSpPr>
          <p:cNvPr id="37" name="TextBox 36"/>
          <p:cNvSpPr txBox="1"/>
          <p:nvPr/>
        </p:nvSpPr>
        <p:spPr>
          <a:xfrm>
            <a:off x="5166360" y="5358384"/>
            <a:ext cx="5998464"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시대의 Vibe Code Platform 전략</a:t>
            </a:r>
          </a:p>
        </p:txBody>
      </p:sp>
      <p:sp>
        <p:nvSpPr>
          <p:cNvPr id="38" name="TextBox 37"/>
          <p:cNvSpPr txBox="1"/>
          <p:nvPr/>
        </p:nvSpPr>
        <p:spPr>
          <a:xfrm>
            <a:off x="685800" y="5852160"/>
            <a:ext cx="10799064" cy="256032"/>
          </a:xfrm>
          <a:prstGeom prst="rect">
            <a:avLst/>
          </a:prstGeom>
          <a:noFill/>
        </p:spPr>
        <p:txBody>
          <a:bodyPr wrap="square" lIns="0" rIns="0" tIns="0" bIns="0">
            <a:spAutoFit/>
          </a:bodyPr>
          <a:lstStyle/>
          <a:p>
            <a:pPr algn="l">
              <a:spcAft>
                <a:spcPts val="400"/>
              </a:spcAft>
            </a:pPr>
            <a:r>
              <a:rPr sz="1200" b="0">
                <a:solidFill>
                  <a:srgbClr val="F0CB7B"/>
                </a:solidFill>
                <a:latin typeface="맑은 고딕"/>
                <a:ea typeface="맑은 고딕"/>
              </a:rPr>
              <a:t>10월: 2026-10-09 마지막 확인 시 미개최 · 촬영 전 개최 예정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A02</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숨김 부록 / 영상팀 준비</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실제 사진은 이 장면에 넣어 주세요</a:t>
            </a:r>
          </a:p>
        </p:txBody>
      </p:sp>
      <p:cxnSp>
        <p:nvCxnSpPr>
          <p:cNvPr id="7" name="Connector 6"/>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9" name="TextBox 8"/>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0" name="TextBox 9"/>
          <p:cNvSpPr txBox="1"/>
          <p:nvPr/>
        </p:nvSpPr>
        <p:spPr>
          <a:xfrm>
            <a:off x="685800" y="2907792"/>
            <a:ext cx="1527048" cy="365760"/>
          </a:xfrm>
          <a:prstGeom prst="rect">
            <a:avLst/>
          </a:prstGeom>
          <a:noFill/>
        </p:spPr>
        <p:txBody>
          <a:bodyPr wrap="square" lIns="0" rIns="0" tIns="0" bIns="0">
            <a:spAutoFit/>
          </a:bodyPr>
          <a:lstStyle/>
          <a:p>
            <a:pPr algn="l">
              <a:spcAft>
                <a:spcPts val="400"/>
              </a:spcAft>
            </a:pPr>
            <a:r>
              <a:rPr sz="1900" b="1">
                <a:solidFill>
                  <a:srgbClr val="83E8C5"/>
                </a:solidFill>
                <a:latin typeface="맑은 고딕"/>
                <a:ea typeface="맑은 고딕"/>
              </a:rPr>
              <a:t>P03~04</a:t>
            </a:r>
          </a:p>
        </p:txBody>
      </p:sp>
      <p:sp>
        <p:nvSpPr>
          <p:cNvPr id="11" name="TextBox 10"/>
          <p:cNvSpPr txBox="1"/>
          <p:nvPr/>
        </p:nvSpPr>
        <p:spPr>
          <a:xfrm>
            <a:off x="2267712" y="2907792"/>
            <a:ext cx="3346704" cy="36576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IMG02~06 · IMG13</a:t>
            </a:r>
          </a:p>
        </p:txBody>
      </p:sp>
      <p:sp>
        <p:nvSpPr>
          <p:cNvPr id="12" name="TextBox 11"/>
          <p:cNvSpPr txBox="1"/>
          <p:nvPr/>
        </p:nvSpPr>
        <p:spPr>
          <a:xfrm>
            <a:off x="5669280" y="2907792"/>
            <a:ext cx="5806440" cy="457200"/>
          </a:xfrm>
          <a:prstGeom prst="rect">
            <a:avLst/>
          </a:prstGeom>
          <a:noFill/>
        </p:spPr>
        <p:txBody>
          <a:bodyPr wrap="square" lIns="0" rIns="0" tIns="0" bIns="0">
            <a:spAutoFit/>
          </a:bodyPr>
          <a:lstStyle/>
          <a:p>
            <a:pPr algn="l">
              <a:spcAft>
                <a:spcPts val="400"/>
              </a:spcAft>
            </a:pPr>
            <a:r>
              <a:rPr sz="1600" b="0">
                <a:solidFill>
                  <a:srgbClr val="F6F8F9"/>
                </a:solidFill>
                <a:latin typeface="맑은 고딕"/>
                <a:ea typeface="맑은 고딕"/>
              </a:rPr>
              <a:t>세미나 · Job Fair · DCIS · 교육 플랫폼</a:t>
            </a:r>
          </a:p>
        </p:txBody>
      </p:sp>
      <p:sp>
        <p:nvSpPr>
          <p:cNvPr id="13" name="TextBox 12"/>
          <p:cNvSpPr txBox="1"/>
          <p:nvPr/>
        </p:nvSpPr>
        <p:spPr>
          <a:xfrm>
            <a:off x="685800" y="3575304"/>
            <a:ext cx="1527048" cy="365760"/>
          </a:xfrm>
          <a:prstGeom prst="rect">
            <a:avLst/>
          </a:prstGeom>
          <a:noFill/>
        </p:spPr>
        <p:txBody>
          <a:bodyPr wrap="square" lIns="0" rIns="0" tIns="0" bIns="0">
            <a:spAutoFit/>
          </a:bodyPr>
          <a:lstStyle/>
          <a:p>
            <a:pPr algn="l">
              <a:spcAft>
                <a:spcPts val="400"/>
              </a:spcAft>
            </a:pPr>
            <a:r>
              <a:rPr sz="1900" b="1">
                <a:solidFill>
                  <a:srgbClr val="83E8C5"/>
                </a:solidFill>
                <a:latin typeface="맑은 고딕"/>
                <a:ea typeface="맑은 고딕"/>
              </a:rPr>
              <a:t>P05</a:t>
            </a:r>
          </a:p>
        </p:txBody>
      </p:sp>
      <p:sp>
        <p:nvSpPr>
          <p:cNvPr id="14" name="TextBox 13"/>
          <p:cNvSpPr txBox="1"/>
          <p:nvPr/>
        </p:nvSpPr>
        <p:spPr>
          <a:xfrm>
            <a:off x="2267712" y="3575304"/>
            <a:ext cx="3346704" cy="36576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IMG07 · IMG11~12</a:t>
            </a:r>
          </a:p>
        </p:txBody>
      </p:sp>
      <p:sp>
        <p:nvSpPr>
          <p:cNvPr id="15" name="TextBox 14"/>
          <p:cNvSpPr txBox="1"/>
          <p:nvPr/>
        </p:nvSpPr>
        <p:spPr>
          <a:xfrm>
            <a:off x="5669280" y="3575304"/>
            <a:ext cx="5806440" cy="457200"/>
          </a:xfrm>
          <a:prstGeom prst="rect">
            <a:avLst/>
          </a:prstGeom>
          <a:noFill/>
        </p:spPr>
        <p:txBody>
          <a:bodyPr wrap="square" lIns="0" rIns="0" tIns="0" bIns="0">
            <a:spAutoFit/>
          </a:bodyPr>
          <a:lstStyle/>
          <a:p>
            <a:pPr algn="l">
              <a:spcAft>
                <a:spcPts val="400"/>
              </a:spcAft>
            </a:pPr>
            <a:r>
              <a:rPr sz="1600" b="0">
                <a:solidFill>
                  <a:srgbClr val="F6F8F9"/>
                </a:solidFill>
                <a:latin typeface="맑은 고딕"/>
                <a:ea typeface="맑은 고딕"/>
              </a:rPr>
              <a:t>Tech X 참여 근거 · 명장 투어 / 서버 체험</a:t>
            </a:r>
          </a:p>
        </p:txBody>
      </p:sp>
      <p:sp>
        <p:nvSpPr>
          <p:cNvPr id="16" name="TextBox 15"/>
          <p:cNvSpPr txBox="1"/>
          <p:nvPr/>
        </p:nvSpPr>
        <p:spPr>
          <a:xfrm>
            <a:off x="685800" y="4242816"/>
            <a:ext cx="1527048" cy="365760"/>
          </a:xfrm>
          <a:prstGeom prst="rect">
            <a:avLst/>
          </a:prstGeom>
          <a:noFill/>
        </p:spPr>
        <p:txBody>
          <a:bodyPr wrap="square" lIns="0" rIns="0" tIns="0" bIns="0">
            <a:spAutoFit/>
          </a:bodyPr>
          <a:lstStyle/>
          <a:p>
            <a:pPr algn="l">
              <a:spcAft>
                <a:spcPts val="400"/>
              </a:spcAft>
            </a:pPr>
            <a:r>
              <a:rPr sz="1900" b="1">
                <a:solidFill>
                  <a:srgbClr val="83E8C5"/>
                </a:solidFill>
                <a:latin typeface="맑은 고딕"/>
                <a:ea typeface="맑은 고딕"/>
              </a:rPr>
              <a:t>P06</a:t>
            </a:r>
          </a:p>
        </p:txBody>
      </p:sp>
      <p:sp>
        <p:nvSpPr>
          <p:cNvPr id="17" name="TextBox 16"/>
          <p:cNvSpPr txBox="1"/>
          <p:nvPr/>
        </p:nvSpPr>
        <p:spPr>
          <a:xfrm>
            <a:off x="2267712" y="4242816"/>
            <a:ext cx="3346704" cy="36576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IMG08~10</a:t>
            </a:r>
          </a:p>
        </p:txBody>
      </p:sp>
      <p:sp>
        <p:nvSpPr>
          <p:cNvPr id="18" name="TextBox 17"/>
          <p:cNvSpPr txBox="1"/>
          <p:nvPr/>
        </p:nvSpPr>
        <p:spPr>
          <a:xfrm>
            <a:off x="5669280" y="4242816"/>
            <a:ext cx="5806440" cy="457200"/>
          </a:xfrm>
          <a:prstGeom prst="rect">
            <a:avLst/>
          </a:prstGeom>
          <a:noFill/>
        </p:spPr>
        <p:txBody>
          <a:bodyPr wrap="square" lIns="0" rIns="0" tIns="0" bIns="0">
            <a:spAutoFit/>
          </a:bodyPr>
          <a:lstStyle/>
          <a:p>
            <a:pPr algn="l">
              <a:spcAft>
                <a:spcPts val="400"/>
              </a:spcAft>
            </a:pPr>
            <a:r>
              <a:rPr sz="1600" b="0">
                <a:solidFill>
                  <a:srgbClr val="F6F8F9"/>
                </a:solidFill>
                <a:latin typeface="맑은 고딕"/>
                <a:ea typeface="맑은 고딕"/>
              </a:rPr>
              <a:t>실제 로그 알림 · 6월 소개 · 7월 실습</a:t>
            </a:r>
          </a:p>
        </p:txBody>
      </p:sp>
      <p:sp>
        <p:nvSpPr>
          <p:cNvPr id="19" name="TextBox 18"/>
          <p:cNvSpPr txBox="1"/>
          <p:nvPr/>
        </p:nvSpPr>
        <p:spPr>
          <a:xfrm>
            <a:off x="685800" y="4910328"/>
            <a:ext cx="1527048" cy="365760"/>
          </a:xfrm>
          <a:prstGeom prst="rect">
            <a:avLst/>
          </a:prstGeom>
          <a:noFill/>
        </p:spPr>
        <p:txBody>
          <a:bodyPr wrap="square" lIns="0" rIns="0" tIns="0" bIns="0">
            <a:spAutoFit/>
          </a:bodyPr>
          <a:lstStyle/>
          <a:p>
            <a:pPr algn="l">
              <a:spcAft>
                <a:spcPts val="400"/>
              </a:spcAft>
            </a:pPr>
            <a:r>
              <a:rPr sz="1900" b="1">
                <a:solidFill>
                  <a:srgbClr val="83E8C5"/>
                </a:solidFill>
                <a:latin typeface="맑은 고딕"/>
                <a:ea typeface="맑은 고딕"/>
              </a:rPr>
              <a:t>전체</a:t>
            </a:r>
          </a:p>
        </p:txBody>
      </p:sp>
      <p:sp>
        <p:nvSpPr>
          <p:cNvPr id="20" name="TextBox 19"/>
          <p:cNvSpPr txBox="1"/>
          <p:nvPr/>
        </p:nvSpPr>
        <p:spPr>
          <a:xfrm>
            <a:off x="2267712" y="4910328"/>
            <a:ext cx="3346704" cy="365760"/>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IMG01 · IMG14</a:t>
            </a:r>
          </a:p>
        </p:txBody>
      </p:sp>
      <p:sp>
        <p:nvSpPr>
          <p:cNvPr id="21" name="TextBox 20"/>
          <p:cNvSpPr txBox="1"/>
          <p:nvPr/>
        </p:nvSpPr>
        <p:spPr>
          <a:xfrm>
            <a:off x="5669280" y="4910328"/>
            <a:ext cx="5806440" cy="457200"/>
          </a:xfrm>
          <a:prstGeom prst="rect">
            <a:avLst/>
          </a:prstGeom>
          <a:noFill/>
        </p:spPr>
        <p:txBody>
          <a:bodyPr wrap="square" lIns="0" rIns="0" tIns="0" bIns="0">
            <a:spAutoFit/>
          </a:bodyPr>
          <a:lstStyle/>
          <a:p>
            <a:pPr algn="l">
              <a:spcAft>
                <a:spcPts val="400"/>
              </a:spcAft>
            </a:pPr>
            <a:r>
              <a:rPr sz="1600" b="0">
                <a:solidFill>
                  <a:srgbClr val="F6F8F9"/>
                </a:solidFill>
                <a:latin typeface="맑은 고딕"/>
                <a:ea typeface="맑은 고딕"/>
              </a:rPr>
              <a:t>팀 소개 · 회사 인트로/아웃트로 · KV/폰트</a:t>
            </a:r>
          </a:p>
        </p:txBody>
      </p:sp>
      <p:sp>
        <p:nvSpPr>
          <p:cNvPr id="22" name="TextBox 21"/>
          <p:cNvSpPr txBox="1"/>
          <p:nvPr/>
        </p:nvSpPr>
        <p:spPr>
          <a:xfrm>
            <a:off x="685800" y="5806440"/>
            <a:ext cx="10799064" cy="301752"/>
          </a:xfrm>
          <a:prstGeom prst="rect">
            <a:avLst/>
          </a:prstGeom>
          <a:noFill/>
        </p:spPr>
        <p:txBody>
          <a:bodyPr wrap="square" lIns="0" rIns="0" tIns="0" bIns="0">
            <a:spAutoFit/>
          </a:bodyPr>
          <a:lstStyle/>
          <a:p>
            <a:pPr algn="l">
              <a:spcAft>
                <a:spcPts val="400"/>
              </a:spcAft>
            </a:pPr>
            <a:r>
              <a:rPr sz="1300" b="0">
                <a:solidFill>
                  <a:srgbClr val="F0CB7B"/>
                </a:solidFill>
                <a:latin typeface="맑은 고딕"/>
                <a:ea typeface="맑은 고딕"/>
              </a:rPr>
              <a:t>내부 원본 미수급 · 현재 키워드로 진행 가능 · 외부 사진으로 실제 활동을 대체하지 않음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94360" y="457200"/>
            <a:ext cx="91440" cy="265176"/>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29768"/>
            <a:ext cx="9966960" cy="36576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AI 4 AI  /  우리 팀 배움 월드컵</a:t>
            </a:r>
          </a:p>
        </p:txBody>
      </p:sp>
      <p:sp>
        <p:nvSpPr>
          <p:cNvPr id="4" name="TextBox 3"/>
          <p:cNvSpPr txBox="1"/>
          <p:nvPr/>
        </p:nvSpPr>
        <p:spPr>
          <a:xfrm>
            <a:off x="10789920" y="429768"/>
            <a:ext cx="777240" cy="365760"/>
          </a:xfrm>
          <a:prstGeom prst="rect">
            <a:avLst/>
          </a:prstGeom>
          <a:noFill/>
        </p:spPr>
        <p:txBody>
          <a:bodyPr wrap="square" lIns="0" rIns="0" tIns="0" bIns="0">
            <a:spAutoFit/>
          </a:bodyPr>
          <a:lstStyle/>
          <a:p>
            <a:pPr algn="r">
              <a:spcAft>
                <a:spcPts val="400"/>
              </a:spcAft>
            </a:pPr>
            <a:r>
              <a:rPr sz="1400" b="1">
                <a:solidFill>
                  <a:srgbClr val="83E8C5"/>
                </a:solidFill>
                <a:latin typeface="맑은 고딕"/>
                <a:ea typeface="맑은 고딕"/>
              </a:rPr>
              <a:t>A03</a:t>
            </a:r>
          </a:p>
        </p:txBody>
      </p:sp>
      <p:sp>
        <p:nvSpPr>
          <p:cNvPr id="5" name="TextBox 4"/>
          <p:cNvSpPr txBox="1"/>
          <p:nvPr/>
        </p:nvSpPr>
        <p:spPr>
          <a:xfrm>
            <a:off x="640080" y="1060704"/>
            <a:ext cx="10881360" cy="365760"/>
          </a:xfrm>
          <a:prstGeom prst="rect">
            <a:avLst/>
          </a:prstGeom>
          <a:noFill/>
        </p:spPr>
        <p:txBody>
          <a:bodyPr wrap="square" lIns="0" rIns="0" tIns="0" bIns="0">
            <a:spAutoFit/>
          </a:bodyPr>
          <a:lstStyle/>
          <a:p>
            <a:pPr algn="l">
              <a:spcAft>
                <a:spcPts val="400"/>
              </a:spcAft>
            </a:pPr>
            <a:r>
              <a:rPr sz="1700" b="1">
                <a:solidFill>
                  <a:srgbClr val="83E8C5"/>
                </a:solidFill>
                <a:latin typeface="맑은 고딕"/>
                <a:ea typeface="맑은 고딕"/>
              </a:rPr>
              <a:t>숨김 부록 / 선택과 모션</a:t>
            </a:r>
          </a:p>
        </p:txBody>
      </p:sp>
      <p:sp>
        <p:nvSpPr>
          <p:cNvPr id="6" name="TextBox 5"/>
          <p:cNvSpPr txBox="1"/>
          <p:nvPr/>
        </p:nvSpPr>
        <p:spPr>
          <a:xfrm>
            <a:off x="640080" y="1627632"/>
            <a:ext cx="10881360" cy="804672"/>
          </a:xfrm>
          <a:prstGeom prst="rect">
            <a:avLst/>
          </a:prstGeom>
          <a:noFill/>
        </p:spPr>
        <p:txBody>
          <a:bodyPr wrap="square" lIns="0" rIns="0" tIns="0" bIns="0">
            <a:spAutoFit/>
          </a:bodyPr>
          <a:lstStyle/>
          <a:p>
            <a:pPr algn="l">
              <a:spcAft>
                <a:spcPts val="400"/>
              </a:spcAft>
            </a:pPr>
            <a:r>
              <a:rPr sz="3300" b="1">
                <a:solidFill>
                  <a:srgbClr val="F6F8F9"/>
                </a:solidFill>
                <a:latin typeface="맑은 고딕"/>
                <a:ea typeface="맑은 고딕"/>
              </a:rPr>
              <a:t>촬영 전에, 두 사람이 선택 이유를 맞춥니다</a:t>
            </a:r>
          </a:p>
        </p:txBody>
      </p:sp>
      <p:cxnSp>
        <p:nvCxnSpPr>
          <p:cNvPr id="7" name="Connector 6"/>
          <p:cNvCxnSpPr/>
          <p:nvPr/>
        </p:nvCxnSpPr>
        <p:spPr>
          <a:xfrm>
            <a:off x="640080" y="6199632"/>
            <a:ext cx="1090879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28232"/>
            <a:ext cx="6858000" cy="228600"/>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2026 LEARNING FAIR  /  DATA CENTER</a:t>
            </a:r>
          </a:p>
        </p:txBody>
      </p:sp>
      <p:sp>
        <p:nvSpPr>
          <p:cNvPr id="9" name="TextBox 8"/>
          <p:cNvSpPr txBox="1"/>
          <p:nvPr/>
        </p:nvSpPr>
        <p:spPr>
          <a:xfrm>
            <a:off x="6400800" y="6400800"/>
            <a:ext cx="5120640" cy="292608"/>
          </a:xfrm>
          <a:prstGeom prst="rect">
            <a:avLst/>
          </a:prstGeom>
          <a:noFill/>
        </p:spPr>
        <p:txBody>
          <a:bodyPr wrap="square" lIns="0" rIns="0" tIns="0" bIns="0">
            <a:spAutoFit/>
          </a:bodyPr>
          <a:lstStyle/>
          <a:p>
            <a:pPr algn="r">
              <a:spcAft>
                <a:spcPts val="400"/>
              </a:spcAft>
            </a:pPr>
            <a:r>
              <a:rPr sz="1100" b="0">
                <a:solidFill>
                  <a:srgbClr val="B4C6D4"/>
                </a:solidFill>
                <a:latin typeface="맑은 고딕"/>
                <a:ea typeface="맑은 고딕"/>
              </a:rPr>
              <a:t>검토용 구성안 · 선택 결과는 촬영용 제안</a:t>
            </a:r>
          </a:p>
        </p:txBody>
      </p:sp>
      <p:sp>
        <p:nvSpPr>
          <p:cNvPr id="10" name="TextBox 9"/>
          <p:cNvSpPr txBox="1"/>
          <p:nvPr/>
        </p:nvSpPr>
        <p:spPr>
          <a:xfrm>
            <a:off x="685800" y="2971800"/>
            <a:ext cx="2121408" cy="40233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현재 선택안</a:t>
            </a:r>
          </a:p>
        </p:txBody>
      </p:sp>
      <p:sp>
        <p:nvSpPr>
          <p:cNvPr id="11" name="TextBox 10"/>
          <p:cNvSpPr txBox="1"/>
          <p:nvPr/>
        </p:nvSpPr>
        <p:spPr>
          <a:xfrm>
            <a:off x="2898648" y="2971800"/>
            <a:ext cx="8586216" cy="475488"/>
          </a:xfrm>
          <a:prstGeom prst="rect">
            <a:avLst/>
          </a:prstGeom>
          <a:noFill/>
        </p:spPr>
        <p:txBody>
          <a:bodyPr wrap="square" lIns="0" rIns="0" tIns="0" bIns="0">
            <a:spAutoFit/>
          </a:bodyPr>
          <a:lstStyle/>
          <a:p>
            <a:pPr algn="l">
              <a:spcAft>
                <a:spcPts val="400"/>
              </a:spcAft>
            </a:pPr>
            <a:r>
              <a:rPr sz="1800" b="0">
                <a:solidFill>
                  <a:srgbClr val="F6F8F9"/>
                </a:solidFill>
                <a:latin typeface="맑은 고딕"/>
                <a:ea typeface="맑은 고딕"/>
              </a:rPr>
              <a:t>Job Fair · Tech X 진출 → Tech X 추천 / 실제 투표 결과 아님</a:t>
            </a:r>
          </a:p>
        </p:txBody>
      </p:sp>
      <p:sp>
        <p:nvSpPr>
          <p:cNvPr id="12" name="TextBox 11"/>
          <p:cNvSpPr txBox="1"/>
          <p:nvPr/>
        </p:nvSpPr>
        <p:spPr>
          <a:xfrm>
            <a:off x="685800" y="3630168"/>
            <a:ext cx="2121408" cy="40233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다른 선택이라면</a:t>
            </a:r>
          </a:p>
        </p:txBody>
      </p:sp>
      <p:sp>
        <p:nvSpPr>
          <p:cNvPr id="13" name="TextBox 12"/>
          <p:cNvSpPr txBox="1"/>
          <p:nvPr/>
        </p:nvSpPr>
        <p:spPr>
          <a:xfrm>
            <a:off x="2898648" y="3630168"/>
            <a:ext cx="8586216" cy="475488"/>
          </a:xfrm>
          <a:prstGeom prst="rect">
            <a:avLst/>
          </a:prstGeom>
          <a:noFill/>
        </p:spPr>
        <p:txBody>
          <a:bodyPr wrap="square" lIns="0" rIns="0" tIns="0" bIns="0">
            <a:spAutoFit/>
          </a:bodyPr>
          <a:lstStyle/>
          <a:p>
            <a:pPr algn="l">
              <a:spcAft>
                <a:spcPts val="400"/>
              </a:spcAft>
            </a:pPr>
            <a:r>
              <a:rPr sz="1800" b="0">
                <a:solidFill>
                  <a:srgbClr val="F6F8F9"/>
                </a:solidFill>
                <a:latin typeface="맑은 고딕"/>
                <a:ea typeface="맑은 고딕"/>
              </a:rPr>
              <a:t>대사·진출자·결승 대진·마지막 추천을 함께 수정 후 재생성</a:t>
            </a:r>
          </a:p>
        </p:txBody>
      </p:sp>
      <p:sp>
        <p:nvSpPr>
          <p:cNvPr id="14" name="TextBox 13"/>
          <p:cNvSpPr txBox="1"/>
          <p:nvPr/>
        </p:nvSpPr>
        <p:spPr>
          <a:xfrm>
            <a:off x="685800" y="4288536"/>
            <a:ext cx="2121408" cy="40233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모션 지시</a:t>
            </a:r>
          </a:p>
        </p:txBody>
      </p:sp>
      <p:sp>
        <p:nvSpPr>
          <p:cNvPr id="15" name="TextBox 14"/>
          <p:cNvSpPr txBox="1"/>
          <p:nvPr/>
        </p:nvSpPr>
        <p:spPr>
          <a:xfrm>
            <a:off x="2898648" y="4288536"/>
            <a:ext cx="8586216" cy="475488"/>
          </a:xfrm>
          <a:prstGeom prst="rect">
            <a:avLst/>
          </a:prstGeom>
          <a:noFill/>
        </p:spPr>
        <p:txBody>
          <a:bodyPr wrap="square" lIns="0" rIns="0" tIns="0" bIns="0">
            <a:spAutoFit/>
          </a:bodyPr>
          <a:lstStyle/>
          <a:p>
            <a:pPr algn="l">
              <a:spcAft>
                <a:spcPts val="400"/>
              </a:spcAft>
            </a:pPr>
            <a:r>
              <a:rPr sz="1800" b="0">
                <a:solidFill>
                  <a:srgbClr val="F6F8F9"/>
                </a:solidFill>
                <a:latin typeface="맑은 고딕"/>
                <a:ea typeface="맑은 고딕"/>
              </a:rPr>
              <a:t>진출선 0.4초 강조 · 선택 공개 1초 홀드 · 설명 중 정지</a:t>
            </a:r>
          </a:p>
        </p:txBody>
      </p:sp>
      <p:sp>
        <p:nvSpPr>
          <p:cNvPr id="16" name="TextBox 15"/>
          <p:cNvSpPr txBox="1"/>
          <p:nvPr/>
        </p:nvSpPr>
        <p:spPr>
          <a:xfrm>
            <a:off x="685800" y="4946904"/>
            <a:ext cx="2121408" cy="402336"/>
          </a:xfrm>
          <a:prstGeom prst="rect">
            <a:avLst/>
          </a:prstGeom>
          <a:noFill/>
        </p:spPr>
        <p:txBody>
          <a:bodyPr wrap="square" lIns="0" rIns="0" tIns="0" bIns="0">
            <a:spAutoFit/>
          </a:bodyPr>
          <a:lstStyle/>
          <a:p>
            <a:pPr algn="l">
              <a:spcAft>
                <a:spcPts val="400"/>
              </a:spcAft>
            </a:pPr>
            <a:r>
              <a:rPr sz="2000" b="1">
                <a:solidFill>
                  <a:srgbClr val="83E8C5"/>
                </a:solidFill>
                <a:latin typeface="맑은 고딕"/>
                <a:ea typeface="맑은 고딕"/>
              </a:rPr>
              <a:t>시간 기준</a:t>
            </a:r>
          </a:p>
        </p:txBody>
      </p:sp>
      <p:sp>
        <p:nvSpPr>
          <p:cNvPr id="17" name="TextBox 16"/>
          <p:cNvSpPr txBox="1"/>
          <p:nvPr/>
        </p:nvSpPr>
        <p:spPr>
          <a:xfrm>
            <a:off x="2898648" y="4946904"/>
            <a:ext cx="8586216" cy="475488"/>
          </a:xfrm>
          <a:prstGeom prst="rect">
            <a:avLst/>
          </a:prstGeom>
          <a:noFill/>
        </p:spPr>
        <p:txBody>
          <a:bodyPr wrap="square" lIns="0" rIns="0" tIns="0" bIns="0">
            <a:spAutoFit/>
          </a:bodyPr>
          <a:lstStyle/>
          <a:p>
            <a:pPr algn="l">
              <a:spcAft>
                <a:spcPts val="400"/>
              </a:spcAft>
            </a:pPr>
            <a:r>
              <a:rPr sz="1800" b="0">
                <a:solidFill>
                  <a:srgbClr val="F6F8F9"/>
                </a:solidFill>
                <a:latin typeface="맑은 고딕"/>
                <a:ea typeface="맑은 고딕"/>
              </a:rPr>
              <a:t>본편 275초 · IAP는 S06의 40초 · 리허설로 실제 시간 확인</a:t>
            </a:r>
          </a:p>
        </p:txBody>
      </p:sp>
      <p:sp>
        <p:nvSpPr>
          <p:cNvPr id="18" name="TextBox 17"/>
          <p:cNvSpPr txBox="1"/>
          <p:nvPr/>
        </p:nvSpPr>
        <p:spPr>
          <a:xfrm>
            <a:off x="685800" y="5806440"/>
            <a:ext cx="10799064" cy="31089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PPTX는 정적 자료입니다. 선택 효과와 사진 전환은 영상팀 편집으로 구현합니다.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우리 팀 배움 월드컵</dc:title>
  <dc:subject>월드컵 추가 버전 · 촬영용 선택안 · 300초</dc:subject>
  <dc:creator>Data Center팀 교육담당 이관우</dc:creator>
  <cp:keywords/>
  <dc:description>본편 10장, 숨김 부록 3장. 실제 투표 결과 아님. 내부 원본·회사 KV 미수급.</dc:description>
  <cp:lastModifiedBy>Steve Canny</cp:lastModifiedBy>
  <cp:revision>1</cp:revision>
  <dcterms:created xsi:type="dcterms:W3CDTF">2013-01-27T09:14:16Z</dcterms:created>
  <dcterms:modified xsi:type="dcterms:W3CDTF">2013-01-27T09:15:58Z</dcterms:modified>
  <cp:category/>
</cp:coreProperties>
</file>